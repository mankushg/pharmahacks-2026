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4558"/>
  </p:normalViewPr>
  <p:slideViewPr>
    <p:cSldViewPr snapToGrid="0" snapToObjects="1">
      <p:cViewPr varScale="1">
        <p:scale>
          <a:sx n="107" d="100"/>
          <a:sy n="107" d="100"/>
        </p:scale>
        <p:origin x="230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71743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1 (Title) ~30 seconds
"Good morning everyone. We're here to present our solution to Challenge 3 — detecting Alzheimer's disease from EEG recordings.
The headline result is a subject-level F1 of 0.821, achieved through a carefully designed, leakage-free pipeline. Over the next eight minutes I'll walk you through how we got there and, more importantly, why the methodology decisions we made matter for real clinical use."
POTENTIAL QUESTIONS:
Q: Why F1 and not accuracy?
A: The dataset is imbalanced — 25 AD subjects vs 13 CN. Accuracy is misleading here. A model that always predicts AD would score 65% accuracy. F1 balances precision and recall, and balanced accuracy additionally accounts for the class skew. Both are reported.
Q: What does "subject-level" mean?
A: Because we slice each recording into many 30-second windows, a naive model gets one prediction per window. Subject-level evaluation aggregates all window predictions for a person into one final diagnosis — the only clinically meaningful metric.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2 (The Problem) ~60 seconds
"By 2030, over a million Canadians will live with dementia. Current diagnosis relies on expensive PET scans and invasive CSF analysis — tools that are inaccessible for most of the world.
EEG offers a fundamentally different approach. For under a thousand dollars, you can capture the electrical signature of the brain with millisecond precision. And Alzheimer's leaves a very specific fingerprint in that signal.
What we see in AD patients — and what you can see in this chart — is something called spectral slowing. Delta and theta power, the slow brain waves, increase. Alpha and beta power, which reflect active cognition, decrease. And beyond individual channels, we also see a breakdown in functional connectivity — brain regions that should be communicating in synchrony start to decouple.
These are the biomarkers our pipeline is designed to detect."
POTENTIAL QUESTIONS:
Q: Is EEG actually used clinically for Alzheimer's today?
A: Not routinely — it's used mainly in research settings and for ruling out other causes like epilepsy. The goal of work like this is to develop validated, automated tools that could make it a viable screening option.
Q: What's the difference between AD and FTD in EEG?
A: Both show slowing, but AD tends to affect posterior (temporal/occipital) regions more strongly, while FTD shows more frontal involvement. We focused on the AD vs CN binary task for this project.
REFERENCES (for this slide):
- Miltiadous et al. (2023) — Dataset paper. Data 8(6), 95.
- Tzimourta et al. (2023) — DICE-Net. IEEE Access 11.
- PharmaHacks 2026 Challenge PDF</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3 (Dataset) ~45 seconds
"The dataset comes from the AHEPA University Hospital in Greece and was published by Miltiadous et al. in 2023. We're working with 38 subjects for the AD vs CN binary task — 25 with Alzheimer's and 13 healthy controls.
Three things to note about this dataset:
First, the class imbalance — almost 2:1 AD to CN. This is actually clinically realistic, but it means a naive classifier can look good by just predicting everyone as AD. We corrected for this explicitly.
Second, variable recording lengths — from 2.7 to 21 minutes per subject. This is why we need windowing, and why we can't just concatenate everyone into one array.
Third, the MMSE scores. The healthy controls score perfectly — 30 out of 30 — while AD patients average 17.8. This validates that the electrophysiological differences we're capturing are real and clinically grounded."
POTENTIAL QUESTIONS:
Q: Why not include FTD?
A: We made a deliberate scope decision to focus on the AD vs CN task and do it properly. FTD vs CN would be a separate model with different feature importance profiles. Trying to do both well in a hackathon timeline risks doing neither well.
Q: Is 38 subjects enough to train a reliable model?
A: It's genuinely challenging — this is the "small N" problem common in clinical EEG research. It's exactly why we chose handcrafted features over a deep model with millions of parameters, and why subject-wise cross-validation is non-negotiable.
REFERENCES:
- Miltiadous et al. (2023). "A Dataset of Scalp EEG Recordings..." Data 8(6), 95. DOI: 10.3390/data8060095</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4 (Pipeline) ~60 seconds
"The pipeline has four clean stages.
Stage one: signal conditioning. We apply a zero-phase Butterworth bandpass filter between 0.5 and 45 Hz — this removes DC drift, low-frequency artifacts, and high-frequency muscle noise, while preserving all five clinically relevant EEG bands. We then downsample from 500 to 128 Hz using a polyphase filter, which is aliasing-safe and cuts computation by a factor of four.
Stage two: windowing. We slice each recording into 30-second windows with 15-second overlap. This is the challenge-specified approach, and it turns 38 subjects into 475 training windows. Critically, every window carries its subject ID — we never lose that link.
Stage three: feature extraction. For each window we compute 247 features across three domains. Relative Band Power captures the spectral slowing signature. Spectral Coherence Connectivity captures the functional disconnection between electrodes. Hjorth parameters and Shannon entropy add time-domain complexity measures.
Stage four: model training and aggregation. We train two models — XGBoost on the feature vectors, EEGNet on raw windows. Then we aggregate window-level predictions back to one per subject."
POTENTIAL QUESTIONS:
Q: Why 128 Hz specifically?
A: 128 Hz gives you a Nyquist frequency of 64 Hz, well above our highest band of interest at 45 Hz (gamma). It's also the standard in the reference literature and matches the challenge's helper functions.
Q: Why 30-second windows?
A: You need enough temporal data to get a stable Welch PSD estimate for delta band (0.5 Hz). A 30-second window with a 512-sample nperseg gives 0.25 Hz frequency resolution — sufficient to cleanly separate delta from baseline. Shorter windows would give noisy spectral estimates.
REFERENCES:
- Miltiadous et al. (2023) — windowing and feature extraction methodology
- Challenge PDF specification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5 (Leakage) ~75 seconds
"This slide is arguably the most important in our presentation, and it's why we wanted to spend time on it.
When you have overlapping windows from the same subject, there's a tempting shortcut: just randomly shuffle all windows and split them 80/20. The model trains on some of Subject A's windows, validates on other windows from Subject A, and reports 95% accuracy. The problem is that this isn't disease prediction — it's identity recognition. The model is learning the unique electrical fingerprint of each person's brain, not the disease pattern.
We used StratifiedGroupKFold with subject IDs as groups. This ensures that every window from Subject A stays in the same fold. When we validate on fold 1, the model has never seen a single second of recording from those subjects. That's the only kind of validation that tells you whether the model will work on a new patient.
The consequence: our F1 drops from a potentially inflated 95% down to 0.821. But that 0.821 is honest. It's what you'd actually see in a clinic."
POTENTIAL QUESTIONS:
Q: Did you consider Leave-One-Subject-Out (LOSO) instead?
A: Yes, and for 38 subjects LOSO is actually ideal — it gives you 38 folds and maximizes training data. We used 5-fold StratifiedGroupKFold as a practical compromise that's faster to run and still maintains subject separation. The key property — no subject in both train and val — is identical.
Q: What about the scaler — is that also leakage-safe?
A: Yes. StandardScaler.fit() is called exclusively on the training indices of each fold. The validation fold is transformed using training statistics only. This is one of the most common sources of subtle leakage in ML pipelines.
REFERENCES:
- Mehrabi et al. (2024) — "Data leakage in deep learning studies of translational EEG." ResearchGate.
- Tzimourta et al. (2023) — DICE-Net leakage discussion. IEEE Access 11.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6 (Features) ~60 seconds
"Each 30-second window is converted into 247 numbers — three clinically motivated feature families.
Relative Band Power answers: 'What proportion of this brain's energy is in each frequency band?' In Alzheimer's, you consistently see slow-wave power going up and fast-wave power going down.
Spectral Coherence Connectivity answers: 'How synchronised are pairs of electrodes?' AD is sometimes called a disconnection syndrome — not just local signal changes, but a breakdown in long-range communication between brain regions.
Hjorth parameters and Shannon entropy add time-domain complexity measures. Reduced entropy means the signal is becoming more predictable — a hallmark of neurodegeneration.
These features were chosen because they're interpretable. We can point to a specific number — say, reduced alpha coherence between T5 and Pz — and explain exactly what it means neurologically. That's something a pure deep learning model can't easily give you."
POTENTIAL QUESTIONS:
Q: Why not use more features — Higuchi fractal dimension, sample entropy?
A: We considered them (they're in the research plan). Sample entropy is O(N²) per channel — roughly 8–15 minutes of compute for our 475 windows at the hackathon timeline. With 247 features already, XGBoost achieved 0.800 F1 before ensembling. Adding more features had diminishing returns under time pressure.
Q: Is the SCC formula from the challenge PDF the same as standard coherence?
A: It's a simplified per-electrode average. We extended it to be band-specific — averaging coherence separately within each of the 5 frequency bands — which gave us 5× more information than a single broadband SCC value.
REFERENCES:
- Challenge PDF — RBP and SCC formulas (Section 3.1)
- Miltiadous et al. (2023) — feature extraction methodology
- Tzimourta, K. et al. (2023) — "Diagnosis of AD and FTD from EEG." IEEE Xplore.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7 (Results) ~75 seconds
"Let me walk through the results table.
Our XGBoost baseline with 247 features achieved a subject-level F1 of 0.755. That's already a solid result — it matches the published benchmark on this dataset for classical ML approaches.
The first upgrade was threshold tuning. By shifting the decision threshold from 0.50 to 0.43 using out-of-fold probabilities, we recovered two more AD subjects and jumped to 0.800. The 0.43 threshold reflects the class imbalance — with fewer CN subjects, the model should be slightly more conservative before calling someone healthy.
EEGNet, our deep learning model, told an interesting story. It achieved a lower overall F1 of 0.619, but it actually had better CN recall — 9 out of 13 vs XGBoost's 5 out of 13. The two models were making complementary errors.
That insight led directly to the ensemble. By weighting XGBoost at 0.45 and EEGNet at 0.55, we got the best of both: strong AD recall from XGBoost, and better CN specificity from EEGNet. Final F1: 0.821.
The confusion matrix you see here shows the ensemble result. We correctly identify 23 of 25 AD subjects and 5 of 13 CN subjects."
POTENTIAL QUESTIONS:
Q: Why did EEGNet underperform despite having a GPU?
A: 38 subjects is simply not enough data for end-to-end deep learning. EEGNet has roughly 2,500 parameters — tiny for a CNN — but the training signal is still sparse. Folds 3, 4, and 5 triggered early stopping within 6–7 epochs, meaning the model barely had time to learn. The feature-based approach compresses each window to 247 numbers that are already neurophysiologically meaningful, which is much more data-efficient.
Q: Is 0.821 subject F1 statistically significant given only 38 subjects?
A: Honest answer — with 38 subjects and 5 folds, the confidence intervals are wide. A single subject flip changes F1 by ~0.02–0.04. This is a known limitation of small-N clinical datasets. What we can say is that the result is consistent across folds and that the methodology is sound.
Q: What's the literature benchmark?
A: Tzimourta et al. (2023) reported 76.5% accuracy for XGBoost and 83.3% for DICE-Net on this same dataset. Our ensemble sits between those, which is reasonable given that we don't have the full preprocessing pipeline with ICA artifact removal.
REFERENCES:
- Tzimourta et al. (2023) — DICE-Net. IEEE Access 11. DOI: 10.1109/ACCESS.2023.3294618
- MDPI Diagnostics (2025) — CNN-based AD classification on Miltiadous dataset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8 (Findings) ~60 seconds
"Beyond the headline F1 score, these two charts tell a clinically meaningful story.
The bar chart on the left shows mean Relative Band Power by frequency band for AD versus CN subjects. Delta and theta power are visibly higher in AD. Alpha and beta are lower. This is the spectral slowing signature — and it's exactly what the neuroscience literature predicts. Our model isn't just guessing; it's picking up on real neurophysiological signal.
The feature importance chart confirms this. The most informative features are SCC coherence in the alpha band — specifically for temporal electrodes T5, T4, and T3. These are the electrodes that sit closest to the temporal lobe, the brain region where Alzheimer's damage begins. The model is literally looking at the right place.
The ensemble finding is also interesting: XGBoost was better at finding AD, EEGNet was better at not over-calling AD in healthy subjects. That complementarity is exactly why combining them worked."
POTENTIAL QUESTIONS:
Q: Could the spectral slowing be an artifact of age rather than disease?
A: Partially, yes — this is a known confound in EEG aging research. The MMSE scores in this dataset (30.0 for CN vs 17.8 for AD at similar ages) suggest the signal we're capturing reflects cognitive impairment specifically, not just normal aging. A more robust study would match age distributions between groups.
Q: Do the temporal electrodes actually correspond to hippocampal activity?
A: EEG doesn't have the spatial resolution of fMRI — scalp electrodes capture activity from large cortical patches, not specific structures. T3/T5 sit over the superior temporal gyrus and adjacent temporal regions. The hippocampus is deeper and medial, so what we see is indirect. But the correlation with clinical AD presentation is well-documented in the literature.
REFERENCES:
- Resting-state EEG biomarkers of AD — PMC 8185302
- Tzimourta et al. (2023) — temporal electrode findings
- MDPI Diagnostics 2025 — spectral feature analysis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9 (Limitations) ~45 seconds
"We want to be transparent about what this pipeline doesn't do and where it could fail.
The biggest limitation is sample size. 38 subjects is genuinely small for a machine learning study. Our F1 of 0.821 is promising, but it could easily shift ±0.05 with different random seeds or fold assignments. That's not a flaw in our methodology — it's an inherent constraint of the dataset.
Our CN recall is also our weakest point. Five of thirteen healthy subjects are still being called AD. In a screening context, false positives cause unnecessary anxiety and follow-up costs. Improving specificity is the highest-priority clinical goal.
If we had more time, the single highest-value addition would be DICE-Net — the Convolution-Transformer architecture published by the same authors who created this dataset. It's specifically designed for this problem and reports 83.3% accuracy. We'd apply it with the identical subject-wise CV framework we've built."
POTENTIAL QUESTIONS:
Q: What's the confidence-based triage idea?
A: Instead of forcing a binary AD/CN prediction for every subject, you could return 'Inconclusive' when the mean probability falls between 0.35 and 0.55. This is 'margin-based reliability' — the model acknowledges its own uncertainty rather than making a potentially harmful wrong call. In a clinical tool, this would trigger a referral for further assessment rather than a diagnosis.
Q: How hard would DICE-Net be to implement?
A: The architecture is published in detail in the IEEE Access paper and implemented in PyTorch. The main complexity is the combined depthwise-separable convolutions and multi-head attention blocks. With our existing data loading and CV framework, the training loop would be a drop-in replacement — maybe 3–4 hours of implementation and debugging.
REFERENCES:
- Tzimourta et al. (2023) — DICE-Net. IEEE Access 11. DOI: 10.1109/ACCESS.2023.3294618
- Miltiadous et al. (2023) — ICA artifact removal methodology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SLIDE 10 (Closing) ~30 seconds
"To summarise: we built a complete, leakage-safe EEG classification pipeline for Alzheimer's disease detection. The foundation is 247 neurophysiologically motivated features, validated strictly at the subject level with no data leakage.
Our final result — a subject-level F1 of 0.821 — is achieved through an ensemble of XGBoost on handcrafted features and a compact EEGNet. The core lesson is that on small clinical datasets, methodology discipline matters more than model complexity.
The code is fully documented and reproducible. We're happy to take questions."
POTENTIAL QUESTIONS — GENERAL:
Q: How long did this take to build?
A: The full pipeline — loading, preprocessing, feature extraction, two models, cross-validation, and ensemble — was built in approximately one evening plus Saturday morning. The key was having a clear architecture in mind from the start and not over-engineering.
Q: How does your pipeline compare to the DICE-Net baseline in the challenge paper?
A: DICE-Net reports 83.3% accuracy on this dataset. Our ensemble achieves 0.821 F1, which is a different metric but in the same ballpark. Accuracy and F1 diverge on imbalanced datasets — DICE-Net's 83.3% accuracy could correspond to a lower F1 if it has low CN recall, which is common.
Q: Would this work on new, unseen EEG recordings from a different hospital?
A: That's the key clinical generalization question. The spectral features themselves are generalizable — they're measuring fundamental neurophysiology, not dataset-specific patterns. But the decision threshold (0.40) and feature scaling are calibrated to this dataset. A new deployment would require recalibration on local data.
Q: What's the reproducibility status?
A: Fully reproducible — random seeds are set throughout, all folds are deterministic with the same seed, and the notebook produces identical results on every run. Available on GitHub.</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A7EA4"/>
          </a:solidFill>
          <a:ln/>
        </p:spPr>
        <p:txBody>
          <a:bodyPr/>
          <a:lstStyle/>
          <a:p>
            <a:endParaRPr lang="en-US"/>
          </a:p>
        </p:txBody>
      </p:sp>
      <p:sp>
        <p:nvSpPr>
          <p:cNvPr id="3" name="Shape 1"/>
          <p:cNvSpPr/>
          <p:nvPr/>
        </p:nvSpPr>
        <p:spPr>
          <a:xfrm>
            <a:off x="7132320" y="137160"/>
            <a:ext cx="1645920" cy="73152"/>
          </a:xfrm>
          <a:prstGeom prst="rect">
            <a:avLst/>
          </a:prstGeom>
          <a:solidFill>
            <a:srgbClr val="0A7EA4">
              <a:alpha val="35000"/>
            </a:srgbClr>
          </a:solidFill>
          <a:ln w="12700">
            <a:solidFill>
              <a:srgbClr val="0A7EA4">
                <a:alpha val="35000"/>
              </a:srgbClr>
            </a:solidFill>
            <a:prstDash val="solid"/>
          </a:ln>
        </p:spPr>
        <p:txBody>
          <a:bodyPr/>
          <a:lstStyle/>
          <a:p>
            <a:endParaRPr lang="en-US"/>
          </a:p>
        </p:txBody>
      </p:sp>
      <p:sp>
        <p:nvSpPr>
          <p:cNvPr id="4" name="Shape 2"/>
          <p:cNvSpPr/>
          <p:nvPr/>
        </p:nvSpPr>
        <p:spPr>
          <a:xfrm>
            <a:off x="7863840" y="320040"/>
            <a:ext cx="914400" cy="73152"/>
          </a:xfrm>
          <a:prstGeom prst="rect">
            <a:avLst/>
          </a:prstGeom>
          <a:solidFill>
            <a:srgbClr val="0A7EA4">
              <a:alpha val="35000"/>
            </a:srgbClr>
          </a:solidFill>
          <a:ln w="12700">
            <a:solidFill>
              <a:srgbClr val="0A7EA4">
                <a:alpha val="35000"/>
              </a:srgbClr>
            </a:solidFill>
            <a:prstDash val="solid"/>
          </a:ln>
        </p:spPr>
        <p:txBody>
          <a:bodyPr/>
          <a:lstStyle/>
          <a:p>
            <a:endParaRPr lang="en-US"/>
          </a:p>
        </p:txBody>
      </p:sp>
      <p:sp>
        <p:nvSpPr>
          <p:cNvPr id="5" name="Shape 3"/>
          <p:cNvSpPr/>
          <p:nvPr/>
        </p:nvSpPr>
        <p:spPr>
          <a:xfrm>
            <a:off x="6858000" y="502920"/>
            <a:ext cx="1920240" cy="73152"/>
          </a:xfrm>
          <a:prstGeom prst="rect">
            <a:avLst/>
          </a:prstGeom>
          <a:solidFill>
            <a:srgbClr val="0A7EA4">
              <a:alpha val="35000"/>
            </a:srgbClr>
          </a:solidFill>
          <a:ln w="12700">
            <a:solidFill>
              <a:srgbClr val="0A7EA4">
                <a:alpha val="35000"/>
              </a:srgbClr>
            </a:solidFill>
            <a:prstDash val="solid"/>
          </a:ln>
        </p:spPr>
        <p:txBody>
          <a:bodyPr/>
          <a:lstStyle/>
          <a:p>
            <a:endParaRPr lang="en-US"/>
          </a:p>
        </p:txBody>
      </p:sp>
      <p:sp>
        <p:nvSpPr>
          <p:cNvPr id="6" name="Shape 4"/>
          <p:cNvSpPr/>
          <p:nvPr/>
        </p:nvSpPr>
        <p:spPr>
          <a:xfrm>
            <a:off x="7498080" y="685800"/>
            <a:ext cx="1280160" cy="73152"/>
          </a:xfrm>
          <a:prstGeom prst="rect">
            <a:avLst/>
          </a:prstGeom>
          <a:solidFill>
            <a:srgbClr val="0A7EA4">
              <a:alpha val="35000"/>
            </a:srgbClr>
          </a:solidFill>
          <a:ln w="12700">
            <a:solidFill>
              <a:srgbClr val="0A7EA4">
                <a:alpha val="35000"/>
              </a:srgbClr>
            </a:solidFill>
            <a:prstDash val="solid"/>
          </a:ln>
        </p:spPr>
        <p:txBody>
          <a:bodyPr/>
          <a:lstStyle/>
          <a:p>
            <a:endParaRPr lang="en-US"/>
          </a:p>
        </p:txBody>
      </p:sp>
      <p:sp>
        <p:nvSpPr>
          <p:cNvPr id="7" name="Shape 5"/>
          <p:cNvSpPr/>
          <p:nvPr/>
        </p:nvSpPr>
        <p:spPr>
          <a:xfrm>
            <a:off x="6766560" y="914400"/>
            <a:ext cx="36576" cy="73152"/>
          </a:xfrm>
          <a:prstGeom prst="rect">
            <a:avLst/>
          </a:prstGeom>
          <a:solidFill>
            <a:srgbClr val="14B8D4">
              <a:alpha val="50000"/>
            </a:srgbClr>
          </a:solidFill>
          <a:ln/>
        </p:spPr>
        <p:txBody>
          <a:bodyPr/>
          <a:lstStyle/>
          <a:p>
            <a:endParaRPr lang="en-US"/>
          </a:p>
        </p:txBody>
      </p:sp>
      <p:sp>
        <p:nvSpPr>
          <p:cNvPr id="8" name="Shape 6"/>
          <p:cNvSpPr/>
          <p:nvPr/>
        </p:nvSpPr>
        <p:spPr>
          <a:xfrm>
            <a:off x="6766560" y="1078992"/>
            <a:ext cx="91440" cy="73152"/>
          </a:xfrm>
          <a:prstGeom prst="rect">
            <a:avLst/>
          </a:prstGeom>
          <a:solidFill>
            <a:srgbClr val="14B8D4">
              <a:alpha val="50000"/>
            </a:srgbClr>
          </a:solidFill>
          <a:ln/>
        </p:spPr>
        <p:txBody>
          <a:bodyPr/>
          <a:lstStyle/>
          <a:p>
            <a:endParaRPr lang="en-US"/>
          </a:p>
        </p:txBody>
      </p:sp>
      <p:sp>
        <p:nvSpPr>
          <p:cNvPr id="9" name="Shape 7"/>
          <p:cNvSpPr/>
          <p:nvPr/>
        </p:nvSpPr>
        <p:spPr>
          <a:xfrm>
            <a:off x="6766560" y="1243584"/>
            <a:ext cx="146304" cy="73152"/>
          </a:xfrm>
          <a:prstGeom prst="rect">
            <a:avLst/>
          </a:prstGeom>
          <a:solidFill>
            <a:srgbClr val="14B8D4">
              <a:alpha val="50000"/>
            </a:srgbClr>
          </a:solidFill>
          <a:ln/>
        </p:spPr>
        <p:txBody>
          <a:bodyPr/>
          <a:lstStyle/>
          <a:p>
            <a:endParaRPr lang="en-US"/>
          </a:p>
        </p:txBody>
      </p:sp>
      <p:sp>
        <p:nvSpPr>
          <p:cNvPr id="10" name="Shape 8"/>
          <p:cNvSpPr/>
          <p:nvPr/>
        </p:nvSpPr>
        <p:spPr>
          <a:xfrm>
            <a:off x="6766560" y="1408176"/>
            <a:ext cx="36576" cy="73152"/>
          </a:xfrm>
          <a:prstGeom prst="rect">
            <a:avLst/>
          </a:prstGeom>
          <a:solidFill>
            <a:srgbClr val="14B8D4">
              <a:alpha val="50000"/>
            </a:srgbClr>
          </a:solidFill>
          <a:ln/>
        </p:spPr>
        <p:txBody>
          <a:bodyPr/>
          <a:lstStyle/>
          <a:p>
            <a:endParaRPr lang="en-US"/>
          </a:p>
        </p:txBody>
      </p:sp>
      <p:sp>
        <p:nvSpPr>
          <p:cNvPr id="11" name="Shape 9"/>
          <p:cNvSpPr/>
          <p:nvPr/>
        </p:nvSpPr>
        <p:spPr>
          <a:xfrm>
            <a:off x="6766560" y="1572768"/>
            <a:ext cx="91440" cy="73152"/>
          </a:xfrm>
          <a:prstGeom prst="rect">
            <a:avLst/>
          </a:prstGeom>
          <a:solidFill>
            <a:srgbClr val="14B8D4">
              <a:alpha val="50000"/>
            </a:srgbClr>
          </a:solidFill>
          <a:ln/>
        </p:spPr>
        <p:txBody>
          <a:bodyPr/>
          <a:lstStyle/>
          <a:p>
            <a:endParaRPr lang="en-US"/>
          </a:p>
        </p:txBody>
      </p:sp>
      <p:sp>
        <p:nvSpPr>
          <p:cNvPr id="12" name="Shape 10"/>
          <p:cNvSpPr/>
          <p:nvPr/>
        </p:nvSpPr>
        <p:spPr>
          <a:xfrm>
            <a:off x="411480" y="256032"/>
            <a:ext cx="1920240" cy="347472"/>
          </a:xfrm>
          <a:prstGeom prst="rect">
            <a:avLst/>
          </a:prstGeom>
          <a:solidFill>
            <a:srgbClr val="0A7EA4"/>
          </a:solidFill>
          <a:ln/>
          <a:effectLst>
            <a:outerShdw blurRad="101600" dist="38100" dir="8100000" algn="bl" rotWithShape="0">
              <a:srgbClr val="000000">
                <a:alpha val="25000"/>
              </a:srgbClr>
            </a:outerShdw>
          </a:effectLst>
        </p:spPr>
        <p:txBody>
          <a:bodyPr/>
          <a:lstStyle/>
          <a:p>
            <a:endParaRPr lang="en-US"/>
          </a:p>
        </p:txBody>
      </p:sp>
      <p:sp>
        <p:nvSpPr>
          <p:cNvPr id="13" name="Text 11"/>
          <p:cNvSpPr/>
          <p:nvPr/>
        </p:nvSpPr>
        <p:spPr>
          <a:xfrm>
            <a:off x="411480" y="256032"/>
            <a:ext cx="192024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PharmaHacks 2026</a:t>
            </a:r>
            <a:endParaRPr lang="en-US" sz="1000" dirty="0"/>
          </a:p>
        </p:txBody>
      </p:sp>
      <p:sp>
        <p:nvSpPr>
          <p:cNvPr id="14" name="Text 12"/>
          <p:cNvSpPr/>
          <p:nvPr/>
        </p:nvSpPr>
        <p:spPr>
          <a:xfrm>
            <a:off x="411480" y="676656"/>
            <a:ext cx="3657600" cy="274320"/>
          </a:xfrm>
          <a:prstGeom prst="rect">
            <a:avLst/>
          </a:prstGeom>
          <a:noFill/>
          <a:ln/>
        </p:spPr>
        <p:txBody>
          <a:bodyPr wrap="square" lIns="0" tIns="0" rIns="0" bIns="0" rtlCol="0" anchor="ctr"/>
          <a:lstStyle/>
          <a:p>
            <a:pPr marL="0" indent="0">
              <a:buNone/>
            </a:pPr>
            <a:r>
              <a:rPr lang="en-US" sz="1000" dirty="0">
                <a:solidFill>
                  <a:srgbClr val="14B8D4"/>
                </a:solidFill>
                <a:latin typeface="Calibri" pitchFamily="34" charset="0"/>
                <a:ea typeface="Calibri" pitchFamily="34" charset="-122"/>
                <a:cs typeface="Calibri" pitchFamily="34" charset="-120"/>
              </a:rPr>
              <a:t>Challenge 3  ·  Advanced</a:t>
            </a:r>
            <a:endParaRPr lang="en-US" sz="1000" dirty="0"/>
          </a:p>
        </p:txBody>
      </p:sp>
      <p:sp>
        <p:nvSpPr>
          <p:cNvPr id="15" name="Text 13"/>
          <p:cNvSpPr/>
          <p:nvPr/>
        </p:nvSpPr>
        <p:spPr>
          <a:xfrm>
            <a:off x="411480" y="1051560"/>
            <a:ext cx="7772400" cy="1554480"/>
          </a:xfrm>
          <a:prstGeom prst="rect">
            <a:avLst/>
          </a:prstGeom>
          <a:noFill/>
          <a:ln/>
        </p:spPr>
        <p:txBody>
          <a:bodyPr wrap="square" lIns="0" tIns="0" rIns="0" bIns="0" rtlCol="0" anchor="t"/>
          <a:lstStyle/>
          <a:p>
            <a:pPr marL="0" indent="0" algn="l">
              <a:buNone/>
            </a:pPr>
            <a:r>
              <a:rPr lang="en-US" sz="4200" b="1" dirty="0">
                <a:solidFill>
                  <a:srgbClr val="FFFFFF"/>
                </a:solidFill>
                <a:latin typeface="Calibri" pitchFamily="34" charset="0"/>
                <a:ea typeface="Calibri" pitchFamily="34" charset="-122"/>
                <a:cs typeface="Calibri" pitchFamily="34" charset="-120"/>
              </a:rPr>
              <a:t>Detecting Alzheimer's Disease</a:t>
            </a:r>
            <a:endParaRPr lang="en-US" sz="4200" dirty="0"/>
          </a:p>
          <a:p>
            <a:pPr marL="0" indent="0" algn="l">
              <a:buNone/>
            </a:pPr>
            <a:r>
              <a:rPr lang="en-US" sz="4200" b="1" dirty="0">
                <a:solidFill>
                  <a:srgbClr val="FFFFFF"/>
                </a:solidFill>
                <a:latin typeface="Calibri" pitchFamily="34" charset="0"/>
                <a:ea typeface="Calibri" pitchFamily="34" charset="-122"/>
                <a:cs typeface="Calibri" pitchFamily="34" charset="-120"/>
              </a:rPr>
              <a:t>from Brain Signals</a:t>
            </a:r>
            <a:endParaRPr lang="en-US" sz="4200" dirty="0"/>
          </a:p>
        </p:txBody>
      </p:sp>
      <p:sp>
        <p:nvSpPr>
          <p:cNvPr id="16" name="Text 14"/>
          <p:cNvSpPr/>
          <p:nvPr/>
        </p:nvSpPr>
        <p:spPr>
          <a:xfrm>
            <a:off x="411480" y="2651760"/>
            <a:ext cx="8046720" cy="822960"/>
          </a:xfrm>
          <a:prstGeom prst="rect">
            <a:avLst/>
          </a:prstGeom>
          <a:noFill/>
          <a:ln/>
        </p:spPr>
        <p:txBody>
          <a:bodyPr wrap="square" lIns="0" tIns="0" rIns="0" bIns="0" rtlCol="0" anchor="ctr"/>
          <a:lstStyle/>
          <a:p>
            <a:pPr marL="0" indent="0" algn="l">
              <a:buNone/>
            </a:pPr>
            <a:r>
              <a:rPr lang="en-US" sz="1400" dirty="0">
                <a:solidFill>
                  <a:srgbClr val="CBD5E1"/>
                </a:solidFill>
                <a:latin typeface="Calibri" pitchFamily="34" charset="0"/>
                <a:ea typeface="Calibri" pitchFamily="34" charset="-122"/>
                <a:cs typeface="Calibri" pitchFamily="34" charset="-120"/>
              </a:rPr>
              <a:t>A leakage-safe EEG classification pipeline using handcrafted spectral features,</a:t>
            </a:r>
            <a:endParaRPr lang="en-US" sz="1400" dirty="0"/>
          </a:p>
          <a:p>
            <a:pPr marL="0" indent="0" algn="l">
              <a:buNone/>
            </a:pPr>
            <a:r>
              <a:rPr lang="en-US" sz="1400" dirty="0">
                <a:solidFill>
                  <a:srgbClr val="CBD5E1"/>
                </a:solidFill>
                <a:latin typeface="Calibri" pitchFamily="34" charset="0"/>
                <a:ea typeface="Calibri" pitchFamily="34" charset="-122"/>
                <a:cs typeface="Calibri" pitchFamily="34" charset="-120"/>
              </a:rPr>
              <a:t>XGBoost, and EEGNet — evaluated strictly at the subject level.</a:t>
            </a:r>
            <a:endParaRPr lang="en-US" sz="1400" dirty="0"/>
          </a:p>
        </p:txBody>
      </p:sp>
      <p:sp>
        <p:nvSpPr>
          <p:cNvPr id="17" name="Shape 15"/>
          <p:cNvSpPr/>
          <p:nvPr/>
        </p:nvSpPr>
        <p:spPr>
          <a:xfrm>
            <a:off x="411480" y="3566160"/>
            <a:ext cx="2743200" cy="777240"/>
          </a:xfrm>
          <a:prstGeom prst="rect">
            <a:avLst/>
          </a:prstGeom>
          <a:solidFill>
            <a:srgbClr val="1E3347"/>
          </a:solidFill>
          <a:ln/>
          <a:effectLst>
            <a:outerShdw blurRad="101600" dist="38100" dir="8100000" algn="bl" rotWithShape="0">
              <a:srgbClr val="000000">
                <a:alpha val="25000"/>
              </a:srgbClr>
            </a:outerShdw>
          </a:effectLst>
        </p:spPr>
        <p:txBody>
          <a:bodyPr/>
          <a:lstStyle/>
          <a:p>
            <a:endParaRPr lang="en-US"/>
          </a:p>
        </p:txBody>
      </p:sp>
      <p:sp>
        <p:nvSpPr>
          <p:cNvPr id="18" name="Text 16"/>
          <p:cNvSpPr/>
          <p:nvPr/>
        </p:nvSpPr>
        <p:spPr>
          <a:xfrm>
            <a:off x="502920" y="3584448"/>
            <a:ext cx="2560320" cy="411480"/>
          </a:xfrm>
          <a:prstGeom prst="rect">
            <a:avLst/>
          </a:prstGeom>
          <a:noFill/>
          <a:ln/>
        </p:spPr>
        <p:txBody>
          <a:bodyPr wrap="square" lIns="0" tIns="0" rIns="0" bIns="0" rtlCol="0" anchor="ctr"/>
          <a:lstStyle/>
          <a:p>
            <a:pPr marL="0" indent="0">
              <a:buNone/>
            </a:pPr>
            <a:r>
              <a:rPr lang="en-US" sz="3200" b="1" dirty="0">
                <a:solidFill>
                  <a:srgbClr val="02C39A"/>
                </a:solidFill>
              </a:rPr>
              <a:t>0.821</a:t>
            </a:r>
            <a:r>
              <a:rPr lang="en-US" sz="1200" dirty="0">
                <a:solidFill>
                  <a:srgbClr val="CBD5E1"/>
                </a:solidFill>
              </a:rPr>
              <a:t>  Subject-level F1</a:t>
            </a:r>
            <a:endParaRPr lang="en-US" sz="3200" dirty="0"/>
          </a:p>
        </p:txBody>
      </p:sp>
      <p:sp>
        <p:nvSpPr>
          <p:cNvPr id="19" name="Text 17"/>
          <p:cNvSpPr/>
          <p:nvPr/>
        </p:nvSpPr>
        <p:spPr>
          <a:xfrm>
            <a:off x="502920" y="4005072"/>
            <a:ext cx="2560320" cy="274320"/>
          </a:xfrm>
          <a:prstGeom prst="rect">
            <a:avLst/>
          </a:prstGeom>
          <a:noFill/>
          <a:ln/>
        </p:spPr>
        <p:txBody>
          <a:bodyPr wrap="square" lIns="0" tIns="0" rIns="0" bIns="0" rtlCol="0" anchor="ctr"/>
          <a:lstStyle/>
          <a:p>
            <a:pPr marL="0" indent="0">
              <a:buNone/>
            </a:pPr>
            <a:r>
              <a:rPr lang="en-US" sz="900" dirty="0">
                <a:solidFill>
                  <a:srgbClr val="CBD5E1"/>
                </a:solidFill>
              </a:rPr>
              <a:t>Ensemble · XGBoost × 0.45 + EEGNet × 0.55</a:t>
            </a:r>
            <a:endParaRPr lang="en-US" sz="900" dirty="0"/>
          </a:p>
        </p:txBody>
      </p:sp>
      <p:sp>
        <p:nvSpPr>
          <p:cNvPr id="20" name="Text 18"/>
          <p:cNvSpPr/>
          <p:nvPr/>
        </p:nvSpPr>
        <p:spPr>
          <a:xfrm>
            <a:off x="411480" y="4663440"/>
            <a:ext cx="4572000" cy="274320"/>
          </a:xfrm>
          <a:prstGeom prst="rect">
            <a:avLst/>
          </a:prstGeom>
          <a:noFill/>
          <a:ln/>
        </p:spPr>
        <p:txBody>
          <a:bodyPr wrap="square" lIns="0" tIns="0" rIns="0" bIns="0" rtlCol="0" anchor="ctr"/>
          <a:lstStyle/>
          <a:p>
            <a:pPr marL="0" indent="0">
              <a:buNone/>
            </a:pPr>
            <a:r>
              <a:rPr lang="en-US" sz="1000" dirty="0">
                <a:solidFill>
                  <a:srgbClr val="CBD5E1"/>
                </a:solidFill>
                <a:latin typeface="Calibri" pitchFamily="34" charset="0"/>
                <a:ea typeface="Calibri" pitchFamily="34" charset="-122"/>
                <a:cs typeface="Calibri" pitchFamily="34" charset="-120"/>
              </a:rPr>
              <a:t>McGill University  ·  March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4206240" cy="5143500"/>
          </a:xfrm>
          <a:prstGeom prst="rect">
            <a:avLst/>
          </a:prstGeom>
          <a:solidFill>
            <a:srgbClr val="0D1B2A"/>
          </a:solidFill>
          <a:ln/>
        </p:spPr>
        <p:txBody>
          <a:bodyPr/>
          <a:lstStyle/>
          <a:p>
            <a:endParaRPr lang="en-US"/>
          </a:p>
        </p:txBody>
      </p:sp>
      <p:sp>
        <p:nvSpPr>
          <p:cNvPr id="3" name="Shape 1"/>
          <p:cNvSpPr/>
          <p:nvPr/>
        </p:nvSpPr>
        <p:spPr>
          <a:xfrm>
            <a:off x="0" y="0"/>
            <a:ext cx="164592" cy="5143500"/>
          </a:xfrm>
          <a:prstGeom prst="rect">
            <a:avLst/>
          </a:prstGeom>
          <a:solidFill>
            <a:srgbClr val="0A7EA4"/>
          </a:solidFill>
          <a:ln/>
        </p:spPr>
        <p:txBody>
          <a:bodyPr/>
          <a:lstStyle/>
          <a:p>
            <a:endParaRPr lang="en-US"/>
          </a:p>
        </p:txBody>
      </p:sp>
      <p:sp>
        <p:nvSpPr>
          <p:cNvPr id="4" name="Text 2"/>
          <p:cNvSpPr/>
          <p:nvPr/>
        </p:nvSpPr>
        <p:spPr>
          <a:xfrm>
            <a:off x="365760" y="320040"/>
            <a:ext cx="3474720" cy="457200"/>
          </a:xfrm>
          <a:prstGeom prst="rect">
            <a:avLst/>
          </a:prstGeom>
          <a:noFill/>
          <a:ln/>
        </p:spPr>
        <p:txBody>
          <a:bodyPr wrap="square" lIns="0" tIns="0" rIns="0" bIns="0" rtlCol="0" anchor="ctr"/>
          <a:lstStyle/>
          <a:p>
            <a:pPr marL="0" indent="0">
              <a:buNone/>
            </a:pPr>
            <a:r>
              <a:rPr lang="en-US" sz="1100" b="1" dirty="0">
                <a:solidFill>
                  <a:srgbClr val="14B8D4"/>
                </a:solidFill>
                <a:latin typeface="Calibri" pitchFamily="34" charset="0"/>
                <a:ea typeface="Calibri" pitchFamily="34" charset="-122"/>
                <a:cs typeface="Calibri" pitchFamily="34" charset="-120"/>
              </a:rPr>
              <a:t>The Problem</a:t>
            </a:r>
            <a:endParaRPr lang="en-US" sz="1100" dirty="0"/>
          </a:p>
        </p:txBody>
      </p:sp>
      <p:sp>
        <p:nvSpPr>
          <p:cNvPr id="5" name="Text 3"/>
          <p:cNvSpPr/>
          <p:nvPr/>
        </p:nvSpPr>
        <p:spPr>
          <a:xfrm>
            <a:off x="365760" y="685800"/>
            <a:ext cx="3474720" cy="12801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Why EEG for</a:t>
            </a:r>
            <a:endParaRPr lang="en-US" sz="3000" dirty="0"/>
          </a:p>
          <a:p>
            <a:pPr marL="0" indent="0">
              <a:buNone/>
            </a:pPr>
            <a:r>
              <a:rPr lang="en-US" sz="3000" b="1" dirty="0">
                <a:solidFill>
                  <a:srgbClr val="FFFFFF"/>
                </a:solidFill>
                <a:latin typeface="Calibri" pitchFamily="34" charset="0"/>
                <a:ea typeface="Calibri" pitchFamily="34" charset="-122"/>
                <a:cs typeface="Calibri" pitchFamily="34" charset="-120"/>
              </a:rPr>
              <a:t>Alzheimer's?</a:t>
            </a:r>
            <a:endParaRPr lang="en-US" sz="3000" dirty="0"/>
          </a:p>
        </p:txBody>
      </p:sp>
      <p:sp>
        <p:nvSpPr>
          <p:cNvPr id="6" name="Shape 4"/>
          <p:cNvSpPr/>
          <p:nvPr/>
        </p:nvSpPr>
        <p:spPr>
          <a:xfrm>
            <a:off x="320040" y="2011680"/>
            <a:ext cx="3566160" cy="731520"/>
          </a:xfrm>
          <a:prstGeom prst="rect">
            <a:avLst/>
          </a:prstGeom>
          <a:solidFill>
            <a:srgbClr val="1E3347"/>
          </a:solidFill>
          <a:ln/>
          <a:effectLst>
            <a:outerShdw blurRad="101600" dist="38100" dir="8100000" algn="bl" rotWithShape="0">
              <a:srgbClr val="000000">
                <a:alpha val="25000"/>
              </a:srgbClr>
            </a:outerShdw>
          </a:effectLst>
        </p:spPr>
        <p:txBody>
          <a:bodyPr/>
          <a:lstStyle/>
          <a:p>
            <a:endParaRPr lang="en-US"/>
          </a:p>
        </p:txBody>
      </p:sp>
      <p:sp>
        <p:nvSpPr>
          <p:cNvPr id="7" name="Text 5"/>
          <p:cNvSpPr/>
          <p:nvPr/>
        </p:nvSpPr>
        <p:spPr>
          <a:xfrm>
            <a:off x="411480" y="2048256"/>
            <a:ext cx="1005840" cy="658368"/>
          </a:xfrm>
          <a:prstGeom prst="rect">
            <a:avLst/>
          </a:prstGeom>
          <a:noFill/>
          <a:ln/>
        </p:spPr>
        <p:txBody>
          <a:bodyPr wrap="square" lIns="0" tIns="0" rIns="0" bIns="0" rtlCol="0" anchor="ctr"/>
          <a:lstStyle/>
          <a:p>
            <a:pPr marL="0" indent="0">
              <a:buNone/>
            </a:pPr>
            <a:r>
              <a:rPr lang="en-US" sz="2600" b="1" dirty="0">
                <a:solidFill>
                  <a:srgbClr val="02C39A"/>
                </a:solidFill>
              </a:rPr>
              <a:t>771K</a:t>
            </a:r>
            <a:endParaRPr lang="en-US" sz="2600" dirty="0"/>
          </a:p>
        </p:txBody>
      </p:sp>
      <p:sp>
        <p:nvSpPr>
          <p:cNvPr id="8" name="Text 6"/>
          <p:cNvSpPr/>
          <p:nvPr/>
        </p:nvSpPr>
        <p:spPr>
          <a:xfrm>
            <a:off x="1463040" y="2121408"/>
            <a:ext cx="2286000" cy="548640"/>
          </a:xfrm>
          <a:prstGeom prst="rect">
            <a:avLst/>
          </a:prstGeom>
          <a:noFill/>
          <a:ln/>
        </p:spPr>
        <p:txBody>
          <a:bodyPr wrap="square" lIns="0" tIns="0" rIns="0" bIns="0" rtlCol="0" anchor="ctr"/>
          <a:lstStyle/>
          <a:p>
            <a:pPr marL="0" indent="0">
              <a:buNone/>
            </a:pPr>
            <a:r>
              <a:rPr lang="en-US" sz="1100" dirty="0">
                <a:solidFill>
                  <a:srgbClr val="CBD5E1"/>
                </a:solidFill>
              </a:rPr>
              <a:t>Canadians living with</a:t>
            </a:r>
            <a:endParaRPr lang="en-US" sz="1100" dirty="0"/>
          </a:p>
          <a:p>
            <a:pPr marL="0" indent="0">
              <a:buNone/>
            </a:pPr>
            <a:r>
              <a:rPr lang="en-US" sz="1100" dirty="0">
                <a:solidFill>
                  <a:srgbClr val="CBD5E1"/>
                </a:solidFill>
              </a:rPr>
              <a:t>dementia today</a:t>
            </a:r>
            <a:endParaRPr lang="en-US" sz="1100" dirty="0"/>
          </a:p>
        </p:txBody>
      </p:sp>
      <p:sp>
        <p:nvSpPr>
          <p:cNvPr id="9" name="Shape 7"/>
          <p:cNvSpPr/>
          <p:nvPr/>
        </p:nvSpPr>
        <p:spPr>
          <a:xfrm>
            <a:off x="320040" y="2880360"/>
            <a:ext cx="3566160" cy="731520"/>
          </a:xfrm>
          <a:prstGeom prst="rect">
            <a:avLst/>
          </a:prstGeom>
          <a:solidFill>
            <a:srgbClr val="1E3347"/>
          </a:solidFill>
          <a:ln/>
          <a:effectLst>
            <a:outerShdw blurRad="101600" dist="38100" dir="8100000" algn="bl" rotWithShape="0">
              <a:srgbClr val="000000">
                <a:alpha val="25000"/>
              </a:srgbClr>
            </a:outerShdw>
          </a:effectLst>
        </p:spPr>
        <p:txBody>
          <a:bodyPr/>
          <a:lstStyle/>
          <a:p>
            <a:endParaRPr lang="en-US"/>
          </a:p>
        </p:txBody>
      </p:sp>
      <p:sp>
        <p:nvSpPr>
          <p:cNvPr id="10" name="Text 8"/>
          <p:cNvSpPr/>
          <p:nvPr/>
        </p:nvSpPr>
        <p:spPr>
          <a:xfrm>
            <a:off x="411480" y="2916936"/>
            <a:ext cx="1005840" cy="658368"/>
          </a:xfrm>
          <a:prstGeom prst="rect">
            <a:avLst/>
          </a:prstGeom>
          <a:noFill/>
          <a:ln/>
        </p:spPr>
        <p:txBody>
          <a:bodyPr wrap="square" lIns="0" tIns="0" rIns="0" bIns="0" rtlCol="0" anchor="ctr"/>
          <a:lstStyle/>
          <a:p>
            <a:pPr marL="0" indent="0">
              <a:buNone/>
            </a:pPr>
            <a:r>
              <a:rPr lang="en-US" sz="2600" b="1" dirty="0">
                <a:solidFill>
                  <a:srgbClr val="02C39A"/>
                </a:solidFill>
              </a:rPr>
              <a:t>1M+</a:t>
            </a:r>
            <a:endParaRPr lang="en-US" sz="2600" dirty="0"/>
          </a:p>
        </p:txBody>
      </p:sp>
      <p:sp>
        <p:nvSpPr>
          <p:cNvPr id="11" name="Text 9"/>
          <p:cNvSpPr/>
          <p:nvPr/>
        </p:nvSpPr>
        <p:spPr>
          <a:xfrm>
            <a:off x="1463040" y="2990088"/>
            <a:ext cx="2286000" cy="548640"/>
          </a:xfrm>
          <a:prstGeom prst="rect">
            <a:avLst/>
          </a:prstGeom>
          <a:noFill/>
          <a:ln/>
        </p:spPr>
        <p:txBody>
          <a:bodyPr wrap="square" lIns="0" tIns="0" rIns="0" bIns="0" rtlCol="0" anchor="ctr"/>
          <a:lstStyle/>
          <a:p>
            <a:pPr marL="0" indent="0">
              <a:buNone/>
            </a:pPr>
            <a:r>
              <a:rPr lang="en-US" sz="1100" dirty="0">
                <a:solidFill>
                  <a:srgbClr val="CBD5E1"/>
                </a:solidFill>
              </a:rPr>
              <a:t>projected by 2030</a:t>
            </a:r>
            <a:endParaRPr lang="en-US" sz="1100" dirty="0"/>
          </a:p>
        </p:txBody>
      </p:sp>
      <p:sp>
        <p:nvSpPr>
          <p:cNvPr id="12" name="Shape 10"/>
          <p:cNvSpPr/>
          <p:nvPr/>
        </p:nvSpPr>
        <p:spPr>
          <a:xfrm>
            <a:off x="320040" y="3749040"/>
            <a:ext cx="3566160" cy="731520"/>
          </a:xfrm>
          <a:prstGeom prst="rect">
            <a:avLst/>
          </a:prstGeom>
          <a:solidFill>
            <a:srgbClr val="1E3347"/>
          </a:solidFill>
          <a:ln/>
          <a:effectLst>
            <a:outerShdw blurRad="101600" dist="38100" dir="8100000" algn="bl" rotWithShape="0">
              <a:srgbClr val="000000">
                <a:alpha val="25000"/>
              </a:srgbClr>
            </a:outerShdw>
          </a:effectLst>
        </p:spPr>
        <p:txBody>
          <a:bodyPr/>
          <a:lstStyle/>
          <a:p>
            <a:endParaRPr lang="en-US"/>
          </a:p>
        </p:txBody>
      </p:sp>
      <p:sp>
        <p:nvSpPr>
          <p:cNvPr id="13" name="Text 11"/>
          <p:cNvSpPr/>
          <p:nvPr/>
        </p:nvSpPr>
        <p:spPr>
          <a:xfrm>
            <a:off x="411480" y="3785616"/>
            <a:ext cx="1005840" cy="658368"/>
          </a:xfrm>
          <a:prstGeom prst="rect">
            <a:avLst/>
          </a:prstGeom>
          <a:noFill/>
          <a:ln/>
        </p:spPr>
        <p:txBody>
          <a:bodyPr wrap="square" lIns="0" tIns="0" rIns="0" bIns="0" rtlCol="0" anchor="ctr"/>
          <a:lstStyle/>
          <a:p>
            <a:pPr marL="0" indent="0">
              <a:buNone/>
            </a:pPr>
            <a:r>
              <a:rPr lang="en-US" sz="2600" b="1" dirty="0">
                <a:solidFill>
                  <a:srgbClr val="02C39A"/>
                </a:solidFill>
              </a:rPr>
              <a:t>$0</a:t>
            </a:r>
            <a:endParaRPr lang="en-US" sz="2600" dirty="0"/>
          </a:p>
        </p:txBody>
      </p:sp>
      <p:sp>
        <p:nvSpPr>
          <p:cNvPr id="14" name="Text 12"/>
          <p:cNvSpPr/>
          <p:nvPr/>
        </p:nvSpPr>
        <p:spPr>
          <a:xfrm>
            <a:off x="1463040" y="3858768"/>
            <a:ext cx="2286000" cy="548640"/>
          </a:xfrm>
          <a:prstGeom prst="rect">
            <a:avLst/>
          </a:prstGeom>
          <a:noFill/>
          <a:ln/>
        </p:spPr>
        <p:txBody>
          <a:bodyPr wrap="square" lIns="0" tIns="0" rIns="0" bIns="0" rtlCol="0" anchor="ctr"/>
          <a:lstStyle/>
          <a:p>
            <a:pPr marL="0" indent="0">
              <a:buNone/>
            </a:pPr>
            <a:r>
              <a:rPr lang="en-US" sz="1100" dirty="0">
                <a:solidFill>
                  <a:srgbClr val="CBD5E1"/>
                </a:solidFill>
              </a:rPr>
              <a:t>scalp EEG cost vs</a:t>
            </a:r>
            <a:endParaRPr lang="en-US" sz="1100" dirty="0"/>
          </a:p>
          <a:p>
            <a:pPr marL="0" indent="0">
              <a:buNone/>
            </a:pPr>
            <a:r>
              <a:rPr lang="en-US" sz="1100" dirty="0">
                <a:solidFill>
                  <a:srgbClr val="CBD5E1"/>
                </a:solidFill>
              </a:rPr>
              <a:t>$2,000+ for PET scan</a:t>
            </a:r>
            <a:endParaRPr lang="en-US" sz="1100" dirty="0"/>
          </a:p>
        </p:txBody>
      </p:sp>
      <p:sp>
        <p:nvSpPr>
          <p:cNvPr id="15" name="Text 13"/>
          <p:cNvSpPr/>
          <p:nvPr/>
        </p:nvSpPr>
        <p:spPr>
          <a:xfrm>
            <a:off x="4572000" y="320040"/>
            <a:ext cx="4297680" cy="457200"/>
          </a:xfrm>
          <a:prstGeom prst="rect">
            <a:avLst/>
          </a:prstGeom>
          <a:noFill/>
          <a:ln/>
        </p:spPr>
        <p:txBody>
          <a:bodyPr wrap="square" lIns="0" tIns="0" rIns="0" bIns="0" rtlCol="0" anchor="ctr"/>
          <a:lstStyle/>
          <a:p>
            <a:pPr marL="0" indent="0">
              <a:buNone/>
            </a:pPr>
            <a:r>
              <a:rPr lang="en-US" sz="1600" b="1" dirty="0">
                <a:solidFill>
                  <a:srgbClr val="0D1B2A"/>
                </a:solidFill>
                <a:latin typeface="Calibri" pitchFamily="34" charset="0"/>
                <a:ea typeface="Calibri" pitchFamily="34" charset="-122"/>
                <a:cs typeface="Calibri" pitchFamily="34" charset="-120"/>
              </a:rPr>
              <a:t>EEG captures the 'spectral slowing' of AD</a:t>
            </a:r>
            <a:endParaRPr lang="en-US" sz="1600" dirty="0"/>
          </a:p>
        </p:txBody>
      </p:sp>
      <p:sp>
        <p:nvSpPr>
          <p:cNvPr id="16" name="Shape 14"/>
          <p:cNvSpPr/>
          <p:nvPr/>
        </p:nvSpPr>
        <p:spPr>
          <a:xfrm>
            <a:off x="4434840" y="868680"/>
            <a:ext cx="4480560" cy="640080"/>
          </a:xfrm>
          <a:prstGeom prst="rect">
            <a:avLst/>
          </a:prstGeom>
          <a:solidFill>
            <a:srgbClr val="EFF6FF"/>
          </a:solidFill>
          <a:ln/>
          <a:effectLst>
            <a:outerShdw blurRad="101600" dist="38100" dir="8100000" algn="bl" rotWithShape="0">
              <a:srgbClr val="000000">
                <a:alpha val="25000"/>
              </a:srgbClr>
            </a:outerShdw>
          </a:effectLst>
        </p:spPr>
        <p:txBody>
          <a:bodyPr/>
          <a:lstStyle/>
          <a:p>
            <a:endParaRPr lang="en-US"/>
          </a:p>
        </p:txBody>
      </p:sp>
      <p:sp>
        <p:nvSpPr>
          <p:cNvPr id="17" name="Shape 15"/>
          <p:cNvSpPr/>
          <p:nvPr/>
        </p:nvSpPr>
        <p:spPr>
          <a:xfrm>
            <a:off x="4434840" y="868680"/>
            <a:ext cx="109728" cy="640080"/>
          </a:xfrm>
          <a:prstGeom prst="rect">
            <a:avLst/>
          </a:prstGeom>
          <a:solidFill>
            <a:srgbClr val="EF4444"/>
          </a:solidFill>
          <a:ln/>
        </p:spPr>
        <p:txBody>
          <a:bodyPr/>
          <a:lstStyle/>
          <a:p>
            <a:endParaRPr lang="en-US"/>
          </a:p>
        </p:txBody>
      </p:sp>
      <p:sp>
        <p:nvSpPr>
          <p:cNvPr id="18" name="Text 16"/>
          <p:cNvSpPr/>
          <p:nvPr/>
        </p:nvSpPr>
        <p:spPr>
          <a:xfrm>
            <a:off x="4526280" y="978408"/>
            <a:ext cx="411480" cy="411480"/>
          </a:xfrm>
          <a:prstGeom prst="rect">
            <a:avLst/>
          </a:prstGeom>
          <a:noFill/>
          <a:ln/>
        </p:spPr>
        <p:txBody>
          <a:bodyPr wrap="square" lIns="0" tIns="0" rIns="0" bIns="0" rtlCol="0" anchor="ctr"/>
          <a:lstStyle/>
          <a:p>
            <a:pPr marL="0" indent="0">
              <a:buNone/>
            </a:pPr>
            <a:r>
              <a:rPr lang="en-US" sz="1800" b="1" dirty="0">
                <a:solidFill>
                  <a:srgbClr val="EF4444"/>
                </a:solidFill>
              </a:rPr>
              <a:t>↑</a:t>
            </a:r>
            <a:endParaRPr lang="en-US" sz="1800" dirty="0"/>
          </a:p>
        </p:txBody>
      </p:sp>
      <p:sp>
        <p:nvSpPr>
          <p:cNvPr id="19" name="Text 17"/>
          <p:cNvSpPr/>
          <p:nvPr/>
        </p:nvSpPr>
        <p:spPr>
          <a:xfrm>
            <a:off x="4983480" y="960120"/>
            <a:ext cx="3840480" cy="457200"/>
          </a:xfrm>
          <a:prstGeom prst="rect">
            <a:avLst/>
          </a:prstGeom>
          <a:noFill/>
          <a:ln/>
        </p:spPr>
        <p:txBody>
          <a:bodyPr wrap="square" lIns="0" tIns="0" rIns="0" bIns="0" rtlCol="0" anchor="ctr"/>
          <a:lstStyle/>
          <a:p>
            <a:pPr marL="0" indent="0">
              <a:buNone/>
            </a:pPr>
            <a:r>
              <a:rPr lang="en-US" sz="1200" dirty="0">
                <a:solidFill>
                  <a:srgbClr val="334155"/>
                </a:solidFill>
              </a:rPr>
              <a:t>Delta &amp; Theta power increases in AD (0.5–8 Hz)</a:t>
            </a:r>
            <a:endParaRPr lang="en-US" sz="1200" dirty="0"/>
          </a:p>
        </p:txBody>
      </p:sp>
      <p:sp>
        <p:nvSpPr>
          <p:cNvPr id="20" name="Shape 18"/>
          <p:cNvSpPr/>
          <p:nvPr/>
        </p:nvSpPr>
        <p:spPr>
          <a:xfrm>
            <a:off x="4434840" y="1645920"/>
            <a:ext cx="4480560" cy="640080"/>
          </a:xfrm>
          <a:prstGeom prst="rect">
            <a:avLst/>
          </a:prstGeom>
          <a:solidFill>
            <a:srgbClr val="EFF6FF"/>
          </a:solidFill>
          <a:ln/>
          <a:effectLst>
            <a:outerShdw blurRad="101600" dist="38100" dir="8100000" algn="bl" rotWithShape="0">
              <a:srgbClr val="000000">
                <a:alpha val="25000"/>
              </a:srgbClr>
            </a:outerShdw>
          </a:effectLst>
        </p:spPr>
        <p:txBody>
          <a:bodyPr/>
          <a:lstStyle/>
          <a:p>
            <a:endParaRPr lang="en-US"/>
          </a:p>
        </p:txBody>
      </p:sp>
      <p:sp>
        <p:nvSpPr>
          <p:cNvPr id="21" name="Shape 19"/>
          <p:cNvSpPr/>
          <p:nvPr/>
        </p:nvSpPr>
        <p:spPr>
          <a:xfrm>
            <a:off x="4434840" y="1645920"/>
            <a:ext cx="109728" cy="640080"/>
          </a:xfrm>
          <a:prstGeom prst="rect">
            <a:avLst/>
          </a:prstGeom>
          <a:solidFill>
            <a:srgbClr val="0A7EA4"/>
          </a:solidFill>
          <a:ln/>
        </p:spPr>
        <p:txBody>
          <a:bodyPr/>
          <a:lstStyle/>
          <a:p>
            <a:endParaRPr lang="en-US"/>
          </a:p>
        </p:txBody>
      </p:sp>
      <p:sp>
        <p:nvSpPr>
          <p:cNvPr id="22" name="Text 20"/>
          <p:cNvSpPr/>
          <p:nvPr/>
        </p:nvSpPr>
        <p:spPr>
          <a:xfrm>
            <a:off x="4526280" y="1755648"/>
            <a:ext cx="411480" cy="411480"/>
          </a:xfrm>
          <a:prstGeom prst="rect">
            <a:avLst/>
          </a:prstGeom>
          <a:noFill/>
          <a:ln/>
        </p:spPr>
        <p:txBody>
          <a:bodyPr wrap="square" lIns="0" tIns="0" rIns="0" bIns="0" rtlCol="0" anchor="ctr"/>
          <a:lstStyle/>
          <a:p>
            <a:pPr marL="0" indent="0">
              <a:buNone/>
            </a:pPr>
            <a:r>
              <a:rPr lang="en-US" sz="1800" b="1" dirty="0">
                <a:solidFill>
                  <a:srgbClr val="0A7EA4"/>
                </a:solidFill>
              </a:rPr>
              <a:t>↓</a:t>
            </a:r>
            <a:endParaRPr lang="en-US" sz="1800" dirty="0"/>
          </a:p>
        </p:txBody>
      </p:sp>
      <p:sp>
        <p:nvSpPr>
          <p:cNvPr id="23" name="Text 21"/>
          <p:cNvSpPr/>
          <p:nvPr/>
        </p:nvSpPr>
        <p:spPr>
          <a:xfrm>
            <a:off x="4983480" y="1737360"/>
            <a:ext cx="3840480" cy="457200"/>
          </a:xfrm>
          <a:prstGeom prst="rect">
            <a:avLst/>
          </a:prstGeom>
          <a:noFill/>
          <a:ln/>
        </p:spPr>
        <p:txBody>
          <a:bodyPr wrap="square" lIns="0" tIns="0" rIns="0" bIns="0" rtlCol="0" anchor="ctr"/>
          <a:lstStyle/>
          <a:p>
            <a:pPr marL="0" indent="0">
              <a:buNone/>
            </a:pPr>
            <a:r>
              <a:rPr lang="en-US" sz="1200" dirty="0">
                <a:solidFill>
                  <a:srgbClr val="334155"/>
                </a:solidFill>
              </a:rPr>
              <a:t>Alpha &amp; Beta power decreases in AD (8–25 Hz)</a:t>
            </a:r>
            <a:endParaRPr lang="en-US" sz="1200" dirty="0"/>
          </a:p>
        </p:txBody>
      </p:sp>
      <p:sp>
        <p:nvSpPr>
          <p:cNvPr id="24" name="Shape 22"/>
          <p:cNvSpPr/>
          <p:nvPr/>
        </p:nvSpPr>
        <p:spPr>
          <a:xfrm>
            <a:off x="4434840" y="2423160"/>
            <a:ext cx="4480560" cy="640080"/>
          </a:xfrm>
          <a:prstGeom prst="rect">
            <a:avLst/>
          </a:prstGeom>
          <a:solidFill>
            <a:srgbClr val="EFF6FF"/>
          </a:solidFill>
          <a:ln/>
          <a:effectLst>
            <a:outerShdw blurRad="101600" dist="38100" dir="8100000" algn="bl" rotWithShape="0">
              <a:srgbClr val="000000">
                <a:alpha val="25000"/>
              </a:srgbClr>
            </a:outerShdw>
          </a:effectLst>
        </p:spPr>
        <p:txBody>
          <a:bodyPr/>
          <a:lstStyle/>
          <a:p>
            <a:endParaRPr lang="en-US"/>
          </a:p>
        </p:txBody>
      </p:sp>
      <p:sp>
        <p:nvSpPr>
          <p:cNvPr id="25" name="Shape 23"/>
          <p:cNvSpPr/>
          <p:nvPr/>
        </p:nvSpPr>
        <p:spPr>
          <a:xfrm>
            <a:off x="4434840" y="2423160"/>
            <a:ext cx="109728" cy="640080"/>
          </a:xfrm>
          <a:prstGeom prst="rect">
            <a:avLst/>
          </a:prstGeom>
          <a:solidFill>
            <a:srgbClr val="F59E0B"/>
          </a:solidFill>
          <a:ln/>
        </p:spPr>
        <p:txBody>
          <a:bodyPr/>
          <a:lstStyle/>
          <a:p>
            <a:endParaRPr lang="en-US"/>
          </a:p>
        </p:txBody>
      </p:sp>
      <p:sp>
        <p:nvSpPr>
          <p:cNvPr id="26" name="Text 24"/>
          <p:cNvSpPr/>
          <p:nvPr/>
        </p:nvSpPr>
        <p:spPr>
          <a:xfrm>
            <a:off x="4526280" y="2532888"/>
            <a:ext cx="411480" cy="411480"/>
          </a:xfrm>
          <a:prstGeom prst="rect">
            <a:avLst/>
          </a:prstGeom>
          <a:noFill/>
          <a:ln/>
        </p:spPr>
        <p:txBody>
          <a:bodyPr wrap="square" lIns="0" tIns="0" rIns="0" bIns="0" rtlCol="0" anchor="ctr"/>
          <a:lstStyle/>
          <a:p>
            <a:pPr marL="0" indent="0">
              <a:buNone/>
            </a:pPr>
            <a:r>
              <a:rPr lang="en-US" sz="1800" b="1" dirty="0">
                <a:solidFill>
                  <a:srgbClr val="F59E0B"/>
                </a:solidFill>
              </a:rPr>
              <a:t>⚡</a:t>
            </a:r>
            <a:endParaRPr lang="en-US" sz="1800" dirty="0"/>
          </a:p>
        </p:txBody>
      </p:sp>
      <p:sp>
        <p:nvSpPr>
          <p:cNvPr id="27" name="Text 25"/>
          <p:cNvSpPr/>
          <p:nvPr/>
        </p:nvSpPr>
        <p:spPr>
          <a:xfrm>
            <a:off x="4983480" y="2514600"/>
            <a:ext cx="3840480" cy="457200"/>
          </a:xfrm>
          <a:prstGeom prst="rect">
            <a:avLst/>
          </a:prstGeom>
          <a:noFill/>
          <a:ln/>
        </p:spPr>
        <p:txBody>
          <a:bodyPr wrap="square" lIns="0" tIns="0" rIns="0" bIns="0" rtlCol="0" anchor="ctr"/>
          <a:lstStyle/>
          <a:p>
            <a:pPr marL="0" indent="0">
              <a:buNone/>
            </a:pPr>
            <a:r>
              <a:rPr lang="en-US" sz="1200" dirty="0">
                <a:solidFill>
                  <a:srgbClr val="334155"/>
                </a:solidFill>
              </a:rPr>
              <a:t>Functional disconnection: reduced coherence between brain regions</a:t>
            </a:r>
            <a:endParaRPr lang="en-US" sz="1200" dirty="0"/>
          </a:p>
        </p:txBody>
      </p:sp>
      <p:sp>
        <p:nvSpPr>
          <p:cNvPr id="28" name="Shape 26"/>
          <p:cNvSpPr/>
          <p:nvPr/>
        </p:nvSpPr>
        <p:spPr>
          <a:xfrm>
            <a:off x="4434840" y="3200400"/>
            <a:ext cx="4480560" cy="640080"/>
          </a:xfrm>
          <a:prstGeom prst="rect">
            <a:avLst/>
          </a:prstGeom>
          <a:solidFill>
            <a:srgbClr val="EFF6FF"/>
          </a:solidFill>
          <a:ln/>
          <a:effectLst>
            <a:outerShdw blurRad="101600" dist="38100" dir="8100000" algn="bl" rotWithShape="0">
              <a:srgbClr val="000000">
                <a:alpha val="25000"/>
              </a:srgbClr>
            </a:outerShdw>
          </a:effectLst>
        </p:spPr>
        <p:txBody>
          <a:bodyPr/>
          <a:lstStyle/>
          <a:p>
            <a:endParaRPr lang="en-US"/>
          </a:p>
        </p:txBody>
      </p:sp>
      <p:sp>
        <p:nvSpPr>
          <p:cNvPr id="29" name="Shape 27"/>
          <p:cNvSpPr/>
          <p:nvPr/>
        </p:nvSpPr>
        <p:spPr>
          <a:xfrm>
            <a:off x="4434840" y="3200400"/>
            <a:ext cx="109728" cy="640080"/>
          </a:xfrm>
          <a:prstGeom prst="rect">
            <a:avLst/>
          </a:prstGeom>
          <a:solidFill>
            <a:srgbClr val="02C39A"/>
          </a:solidFill>
          <a:ln/>
        </p:spPr>
        <p:txBody>
          <a:bodyPr/>
          <a:lstStyle/>
          <a:p>
            <a:endParaRPr lang="en-US"/>
          </a:p>
        </p:txBody>
      </p:sp>
      <p:sp>
        <p:nvSpPr>
          <p:cNvPr id="30" name="Text 28"/>
          <p:cNvSpPr/>
          <p:nvPr/>
        </p:nvSpPr>
        <p:spPr>
          <a:xfrm>
            <a:off x="4526280" y="3310128"/>
            <a:ext cx="411480" cy="411480"/>
          </a:xfrm>
          <a:prstGeom prst="rect">
            <a:avLst/>
          </a:prstGeom>
          <a:noFill/>
          <a:ln/>
        </p:spPr>
        <p:txBody>
          <a:bodyPr wrap="square" lIns="0" tIns="0" rIns="0" bIns="0" rtlCol="0" anchor="ctr"/>
          <a:lstStyle/>
          <a:p>
            <a:pPr marL="0" indent="0">
              <a:buNone/>
            </a:pPr>
            <a:r>
              <a:rPr lang="en-US" sz="1800" b="1" dirty="0">
                <a:solidFill>
                  <a:srgbClr val="02C39A"/>
                </a:solidFill>
              </a:rPr>
              <a:t>⏱</a:t>
            </a:r>
            <a:endParaRPr lang="en-US" sz="1800" dirty="0"/>
          </a:p>
        </p:txBody>
      </p:sp>
      <p:sp>
        <p:nvSpPr>
          <p:cNvPr id="31" name="Text 29"/>
          <p:cNvSpPr/>
          <p:nvPr/>
        </p:nvSpPr>
        <p:spPr>
          <a:xfrm>
            <a:off x="4983480" y="3291840"/>
            <a:ext cx="3840480" cy="457200"/>
          </a:xfrm>
          <a:prstGeom prst="rect">
            <a:avLst/>
          </a:prstGeom>
          <a:noFill/>
          <a:ln/>
        </p:spPr>
        <p:txBody>
          <a:bodyPr wrap="square" lIns="0" tIns="0" rIns="0" bIns="0" rtlCol="0" anchor="ctr"/>
          <a:lstStyle/>
          <a:p>
            <a:pPr marL="0" indent="0">
              <a:buNone/>
            </a:pPr>
            <a:r>
              <a:rPr lang="en-US" sz="1200" dirty="0">
                <a:solidFill>
                  <a:srgbClr val="334155"/>
                </a:solidFill>
              </a:rPr>
              <a:t>Millisecond temporal resolution — impossible with fMRI</a:t>
            </a:r>
            <a:endParaRPr lang="en-US" sz="1200" dirty="0"/>
          </a:p>
        </p:txBody>
      </p:sp>
      <p:sp>
        <p:nvSpPr>
          <p:cNvPr id="32" name="Shape 30"/>
          <p:cNvSpPr/>
          <p:nvPr/>
        </p:nvSpPr>
        <p:spPr>
          <a:xfrm>
            <a:off x="4434840" y="3977640"/>
            <a:ext cx="4480560" cy="914400"/>
          </a:xfrm>
          <a:prstGeom prst="rect">
            <a:avLst/>
          </a:prstGeom>
          <a:solidFill>
            <a:srgbClr val="DBEAFE"/>
          </a:solidFill>
          <a:ln/>
          <a:effectLst>
            <a:outerShdw blurRad="101600" dist="38100" dir="8100000" algn="bl" rotWithShape="0">
              <a:srgbClr val="000000">
                <a:alpha val="25000"/>
              </a:srgbClr>
            </a:outerShdw>
          </a:effectLst>
        </p:spPr>
        <p:txBody>
          <a:bodyPr/>
          <a:lstStyle/>
          <a:p>
            <a:endParaRPr lang="en-US"/>
          </a:p>
        </p:txBody>
      </p:sp>
      <p:sp>
        <p:nvSpPr>
          <p:cNvPr id="33" name="Text 31"/>
          <p:cNvSpPr/>
          <p:nvPr/>
        </p:nvSpPr>
        <p:spPr>
          <a:xfrm>
            <a:off x="4434840" y="3977640"/>
            <a:ext cx="4480560" cy="914400"/>
          </a:xfrm>
          <a:prstGeom prst="rect">
            <a:avLst/>
          </a:prstGeom>
          <a:noFill/>
          <a:ln/>
        </p:spPr>
        <p:txBody>
          <a:bodyPr wrap="square" lIns="0" tIns="0" rIns="0" bIns="0" rtlCol="0" anchor="ctr"/>
          <a:lstStyle/>
          <a:p>
            <a:pPr marL="0" indent="0" algn="ctr">
              <a:buNone/>
            </a:pPr>
            <a:r>
              <a:rPr lang="en-US" sz="1000" i="1" dirty="0">
                <a:solidFill>
                  <a:srgbClr val="64748B"/>
                </a:solidFill>
              </a:rPr>
              <a:t>[ INSERT: baseline_results.png — spectral slowing bar chart ]</a:t>
            </a:r>
            <a:endParaRPr lang="en-US" sz="1000" dirty="0"/>
          </a:p>
        </p:txBody>
      </p:sp>
      <p:sp>
        <p:nvSpPr>
          <p:cNvPr id="34" name="Text 32"/>
          <p:cNvSpPr/>
          <p:nvPr/>
        </p:nvSpPr>
        <p:spPr>
          <a:xfrm>
            <a:off x="4434840" y="4846320"/>
            <a:ext cx="4480560" cy="201168"/>
          </a:xfrm>
          <a:prstGeom prst="rect">
            <a:avLst/>
          </a:prstGeom>
          <a:noFill/>
          <a:ln/>
        </p:spPr>
        <p:txBody>
          <a:bodyPr wrap="square" lIns="0" tIns="0" rIns="0" bIns="0" rtlCol="0" anchor="ctr"/>
          <a:lstStyle/>
          <a:p>
            <a:pPr marL="0" indent="0" algn="ctr">
              <a:buNone/>
            </a:pPr>
            <a:r>
              <a:rPr lang="en-US" sz="900" i="1" dirty="0">
                <a:solidFill>
                  <a:srgbClr val="94A3B8"/>
                </a:solidFill>
              </a:rPr>
              <a:t>Your generated spectral slowing plot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7EA4"/>
          </a:solidFill>
          <a:ln/>
        </p:spPr>
        <p:txBody>
          <a:bodyPr/>
          <a:lstStyle/>
          <a:p>
            <a:endParaRPr lang="en-US"/>
          </a:p>
        </p:txBody>
      </p:sp>
      <p:sp>
        <p:nvSpPr>
          <p:cNvPr id="3" name="Text 1"/>
          <p:cNvSpPr/>
          <p:nvPr/>
        </p:nvSpPr>
        <p:spPr>
          <a:xfrm>
            <a:off x="365760" y="256032"/>
            <a:ext cx="1828800" cy="274320"/>
          </a:xfrm>
          <a:prstGeom prst="rect">
            <a:avLst/>
          </a:prstGeom>
          <a:noFill/>
          <a:ln/>
        </p:spPr>
        <p:txBody>
          <a:bodyPr wrap="square" lIns="0" tIns="0" rIns="0" bIns="0" rtlCol="0" anchor="ctr"/>
          <a:lstStyle/>
          <a:p>
            <a:pPr marL="0" indent="0">
              <a:buNone/>
            </a:pPr>
            <a:r>
              <a:rPr lang="en-US" sz="1100" b="1" dirty="0">
                <a:solidFill>
                  <a:srgbClr val="14B8D4"/>
                </a:solidFill>
              </a:rPr>
              <a:t>Dataset</a:t>
            </a:r>
            <a:endParaRPr lang="en-US" sz="1100" dirty="0"/>
          </a:p>
        </p:txBody>
      </p:sp>
      <p:sp>
        <p:nvSpPr>
          <p:cNvPr id="4" name="Text 2"/>
          <p:cNvSpPr/>
          <p:nvPr/>
        </p:nvSpPr>
        <p:spPr>
          <a:xfrm>
            <a:off x="365760" y="502920"/>
            <a:ext cx="8412480"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What We're Working With</a:t>
            </a:r>
            <a:endParaRPr lang="en-US" sz="2600" dirty="0"/>
          </a:p>
        </p:txBody>
      </p:sp>
      <p:sp>
        <p:nvSpPr>
          <p:cNvPr id="5" name="Shape 3"/>
          <p:cNvSpPr/>
          <p:nvPr/>
        </p:nvSpPr>
        <p:spPr>
          <a:xfrm>
            <a:off x="320040" y="1143000"/>
            <a:ext cx="2743200" cy="2606040"/>
          </a:xfrm>
          <a:prstGeom prst="rect">
            <a:avLst/>
          </a:prstGeom>
          <a:solidFill>
            <a:srgbClr val="1E3347"/>
          </a:solidFill>
          <a:ln/>
          <a:effectLst>
            <a:outerShdw blurRad="101600" dist="38100" dir="8100000" algn="bl" rotWithShape="0">
              <a:srgbClr val="000000">
                <a:alpha val="25000"/>
              </a:srgbClr>
            </a:outerShdw>
          </a:effectLst>
        </p:spPr>
        <p:txBody>
          <a:bodyPr/>
          <a:lstStyle/>
          <a:p>
            <a:endParaRPr lang="en-US"/>
          </a:p>
        </p:txBody>
      </p:sp>
      <p:sp>
        <p:nvSpPr>
          <p:cNvPr id="6" name="Shape 4"/>
          <p:cNvSpPr/>
          <p:nvPr/>
        </p:nvSpPr>
        <p:spPr>
          <a:xfrm>
            <a:off x="320040" y="1143000"/>
            <a:ext cx="2743200" cy="109728"/>
          </a:xfrm>
          <a:prstGeom prst="rect">
            <a:avLst/>
          </a:prstGeom>
          <a:solidFill>
            <a:srgbClr val="EF4444"/>
          </a:solidFill>
          <a:ln/>
        </p:spPr>
        <p:txBody>
          <a:bodyPr/>
          <a:lstStyle/>
          <a:p>
            <a:endParaRPr lang="en-US"/>
          </a:p>
        </p:txBody>
      </p:sp>
      <p:sp>
        <p:nvSpPr>
          <p:cNvPr id="7" name="Text 5"/>
          <p:cNvSpPr/>
          <p:nvPr/>
        </p:nvSpPr>
        <p:spPr>
          <a:xfrm>
            <a:off x="320040" y="1280160"/>
            <a:ext cx="2743200" cy="777240"/>
          </a:xfrm>
          <a:prstGeom prst="rect">
            <a:avLst/>
          </a:prstGeom>
          <a:noFill/>
          <a:ln/>
        </p:spPr>
        <p:txBody>
          <a:bodyPr wrap="square" lIns="0" tIns="0" rIns="0" bIns="0" rtlCol="0" anchor="ctr"/>
          <a:lstStyle/>
          <a:p>
            <a:pPr marL="0" indent="0" algn="ctr">
              <a:buNone/>
            </a:pPr>
            <a:r>
              <a:rPr lang="en-US" sz="5200" b="1" dirty="0">
                <a:solidFill>
                  <a:srgbClr val="EF4444"/>
                </a:solidFill>
              </a:rPr>
              <a:t>25</a:t>
            </a:r>
            <a:endParaRPr lang="en-US" sz="5200" dirty="0"/>
          </a:p>
        </p:txBody>
      </p:sp>
      <p:sp>
        <p:nvSpPr>
          <p:cNvPr id="8" name="Text 6"/>
          <p:cNvSpPr/>
          <p:nvPr/>
        </p:nvSpPr>
        <p:spPr>
          <a:xfrm>
            <a:off x="320040" y="2011680"/>
            <a:ext cx="2743200" cy="274320"/>
          </a:xfrm>
          <a:prstGeom prst="rect">
            <a:avLst/>
          </a:prstGeom>
          <a:noFill/>
          <a:ln/>
        </p:spPr>
        <p:txBody>
          <a:bodyPr wrap="square" lIns="0" tIns="0" rIns="0" bIns="0" rtlCol="0" anchor="ctr"/>
          <a:lstStyle/>
          <a:p>
            <a:pPr marL="0" indent="0" algn="ctr">
              <a:buNone/>
            </a:pPr>
            <a:r>
              <a:rPr lang="en-US" sz="1100" dirty="0">
                <a:solidFill>
                  <a:srgbClr val="CBD5E1"/>
                </a:solidFill>
              </a:rPr>
              <a:t>subjects</a:t>
            </a:r>
            <a:endParaRPr lang="en-US" sz="1100" dirty="0"/>
          </a:p>
        </p:txBody>
      </p:sp>
      <p:sp>
        <p:nvSpPr>
          <p:cNvPr id="9" name="Text 7"/>
          <p:cNvSpPr/>
          <p:nvPr/>
        </p:nvSpPr>
        <p:spPr>
          <a:xfrm>
            <a:off x="320040" y="2286000"/>
            <a:ext cx="2743200" cy="365760"/>
          </a:xfrm>
          <a:prstGeom prst="rect">
            <a:avLst/>
          </a:prstGeom>
          <a:noFill/>
          <a:ln/>
        </p:spPr>
        <p:txBody>
          <a:bodyPr wrap="square" lIns="0" tIns="0" rIns="0" bIns="0" rtlCol="0" anchor="ctr"/>
          <a:lstStyle/>
          <a:p>
            <a:pPr marL="0" indent="0" algn="ctr">
              <a:buNone/>
            </a:pPr>
            <a:r>
              <a:rPr lang="en-US" sz="1300" b="1" dirty="0">
                <a:solidFill>
                  <a:srgbClr val="FFFFFF"/>
                </a:solidFill>
              </a:rPr>
              <a:t>Alzheimer's Disease</a:t>
            </a:r>
            <a:endParaRPr lang="en-US" sz="1300" dirty="0"/>
          </a:p>
        </p:txBody>
      </p:sp>
      <p:sp>
        <p:nvSpPr>
          <p:cNvPr id="10" name="Text 8"/>
          <p:cNvSpPr/>
          <p:nvPr/>
        </p:nvSpPr>
        <p:spPr>
          <a:xfrm>
            <a:off x="457200" y="2651760"/>
            <a:ext cx="2468880" cy="822960"/>
          </a:xfrm>
          <a:prstGeom prst="rect">
            <a:avLst/>
          </a:prstGeom>
          <a:noFill/>
          <a:ln/>
        </p:spPr>
        <p:txBody>
          <a:bodyPr wrap="square" lIns="0" tIns="0" rIns="0" bIns="0" rtlCol="0" anchor="ctr"/>
          <a:lstStyle/>
          <a:p>
            <a:pPr marL="0" indent="0">
              <a:buNone/>
            </a:pPr>
            <a:r>
              <a:rPr lang="en-US" sz="1000" dirty="0">
                <a:solidFill>
                  <a:srgbClr val="CBD5E1"/>
                </a:solidFill>
              </a:rPr>
              <a:t>Mean MMSE: 17.8 ± 4.5</a:t>
            </a:r>
            <a:endParaRPr lang="en-US" sz="1000" dirty="0"/>
          </a:p>
          <a:p>
            <a:pPr marL="0" indent="0">
              <a:buNone/>
            </a:pPr>
            <a:r>
              <a:rPr lang="en-US" sz="1000" dirty="0">
                <a:solidFill>
                  <a:srgbClr val="CBD5E1"/>
                </a:solidFill>
              </a:rPr>
              <a:t>Mean age: 66.4 ± 7.9 yrs</a:t>
            </a:r>
            <a:endParaRPr lang="en-US" sz="1000" dirty="0"/>
          </a:p>
          <a:p>
            <a:pPr marL="0" indent="0">
              <a:buNone/>
            </a:pPr>
            <a:r>
              <a:rPr lang="en-US" sz="1000" dirty="0">
                <a:solidFill>
                  <a:srgbClr val="CBD5E1"/>
                </a:solidFill>
              </a:rPr>
              <a:t>Avg recording: 13.5 min</a:t>
            </a:r>
            <a:endParaRPr lang="en-US" sz="1000" dirty="0"/>
          </a:p>
        </p:txBody>
      </p:sp>
      <p:sp>
        <p:nvSpPr>
          <p:cNvPr id="11" name="Shape 9"/>
          <p:cNvSpPr/>
          <p:nvPr/>
        </p:nvSpPr>
        <p:spPr>
          <a:xfrm>
            <a:off x="3246120" y="1143000"/>
            <a:ext cx="2743200" cy="2606040"/>
          </a:xfrm>
          <a:prstGeom prst="rect">
            <a:avLst/>
          </a:prstGeom>
          <a:solidFill>
            <a:srgbClr val="1E3347"/>
          </a:solidFill>
          <a:ln/>
          <a:effectLst>
            <a:outerShdw blurRad="101600" dist="38100" dir="8100000" algn="bl" rotWithShape="0">
              <a:srgbClr val="000000">
                <a:alpha val="25000"/>
              </a:srgbClr>
            </a:outerShdw>
          </a:effectLst>
        </p:spPr>
        <p:txBody>
          <a:bodyPr/>
          <a:lstStyle/>
          <a:p>
            <a:endParaRPr lang="en-US"/>
          </a:p>
        </p:txBody>
      </p:sp>
      <p:sp>
        <p:nvSpPr>
          <p:cNvPr id="12" name="Shape 10"/>
          <p:cNvSpPr/>
          <p:nvPr/>
        </p:nvSpPr>
        <p:spPr>
          <a:xfrm>
            <a:off x="3246120" y="1143000"/>
            <a:ext cx="2743200" cy="109728"/>
          </a:xfrm>
          <a:prstGeom prst="rect">
            <a:avLst/>
          </a:prstGeom>
          <a:solidFill>
            <a:srgbClr val="02C39A"/>
          </a:solidFill>
          <a:ln/>
        </p:spPr>
        <p:txBody>
          <a:bodyPr/>
          <a:lstStyle/>
          <a:p>
            <a:endParaRPr lang="en-US"/>
          </a:p>
        </p:txBody>
      </p:sp>
      <p:sp>
        <p:nvSpPr>
          <p:cNvPr id="13" name="Text 11"/>
          <p:cNvSpPr/>
          <p:nvPr/>
        </p:nvSpPr>
        <p:spPr>
          <a:xfrm>
            <a:off x="3246120" y="1280160"/>
            <a:ext cx="2743200" cy="777240"/>
          </a:xfrm>
          <a:prstGeom prst="rect">
            <a:avLst/>
          </a:prstGeom>
          <a:noFill/>
          <a:ln/>
        </p:spPr>
        <p:txBody>
          <a:bodyPr wrap="square" lIns="0" tIns="0" rIns="0" bIns="0" rtlCol="0" anchor="ctr"/>
          <a:lstStyle/>
          <a:p>
            <a:pPr marL="0" indent="0" algn="ctr">
              <a:buNone/>
            </a:pPr>
            <a:r>
              <a:rPr lang="en-US" sz="5200" b="1" dirty="0">
                <a:solidFill>
                  <a:srgbClr val="02C39A"/>
                </a:solidFill>
              </a:rPr>
              <a:t>13</a:t>
            </a:r>
            <a:endParaRPr lang="en-US" sz="5200" dirty="0"/>
          </a:p>
        </p:txBody>
      </p:sp>
      <p:sp>
        <p:nvSpPr>
          <p:cNvPr id="14" name="Text 12"/>
          <p:cNvSpPr/>
          <p:nvPr/>
        </p:nvSpPr>
        <p:spPr>
          <a:xfrm>
            <a:off x="3246120" y="2011680"/>
            <a:ext cx="2743200" cy="274320"/>
          </a:xfrm>
          <a:prstGeom prst="rect">
            <a:avLst/>
          </a:prstGeom>
          <a:noFill/>
          <a:ln/>
        </p:spPr>
        <p:txBody>
          <a:bodyPr wrap="square" lIns="0" tIns="0" rIns="0" bIns="0" rtlCol="0" anchor="ctr"/>
          <a:lstStyle/>
          <a:p>
            <a:pPr marL="0" indent="0" algn="ctr">
              <a:buNone/>
            </a:pPr>
            <a:r>
              <a:rPr lang="en-US" sz="1100" dirty="0">
                <a:solidFill>
                  <a:srgbClr val="CBD5E1"/>
                </a:solidFill>
              </a:rPr>
              <a:t>subjects</a:t>
            </a:r>
            <a:endParaRPr lang="en-US" sz="1100" dirty="0"/>
          </a:p>
        </p:txBody>
      </p:sp>
      <p:sp>
        <p:nvSpPr>
          <p:cNvPr id="15" name="Text 13"/>
          <p:cNvSpPr/>
          <p:nvPr/>
        </p:nvSpPr>
        <p:spPr>
          <a:xfrm>
            <a:off x="3246120" y="2286000"/>
            <a:ext cx="2743200" cy="365760"/>
          </a:xfrm>
          <a:prstGeom prst="rect">
            <a:avLst/>
          </a:prstGeom>
          <a:noFill/>
          <a:ln/>
        </p:spPr>
        <p:txBody>
          <a:bodyPr wrap="square" lIns="0" tIns="0" rIns="0" bIns="0" rtlCol="0" anchor="ctr"/>
          <a:lstStyle/>
          <a:p>
            <a:pPr marL="0" indent="0" algn="ctr">
              <a:buNone/>
            </a:pPr>
            <a:r>
              <a:rPr lang="en-US" sz="1300" b="1" dirty="0">
                <a:solidFill>
                  <a:srgbClr val="FFFFFF"/>
                </a:solidFill>
              </a:rPr>
              <a:t>Healthy Controls</a:t>
            </a:r>
            <a:endParaRPr lang="en-US" sz="1300" dirty="0"/>
          </a:p>
        </p:txBody>
      </p:sp>
      <p:sp>
        <p:nvSpPr>
          <p:cNvPr id="16" name="Text 14"/>
          <p:cNvSpPr/>
          <p:nvPr/>
        </p:nvSpPr>
        <p:spPr>
          <a:xfrm>
            <a:off x="3383280" y="2651760"/>
            <a:ext cx="2468880" cy="822960"/>
          </a:xfrm>
          <a:prstGeom prst="rect">
            <a:avLst/>
          </a:prstGeom>
          <a:noFill/>
          <a:ln/>
        </p:spPr>
        <p:txBody>
          <a:bodyPr wrap="square" lIns="0" tIns="0" rIns="0" bIns="0" rtlCol="0" anchor="ctr"/>
          <a:lstStyle/>
          <a:p>
            <a:pPr marL="0" indent="0">
              <a:buNone/>
            </a:pPr>
            <a:r>
              <a:rPr lang="en-US" sz="1000" dirty="0">
                <a:solidFill>
                  <a:srgbClr val="CBD5E1"/>
                </a:solidFill>
              </a:rPr>
              <a:t>Mean MMSE: 30.0 ± 0.0</a:t>
            </a:r>
            <a:endParaRPr lang="en-US" sz="1000" dirty="0"/>
          </a:p>
          <a:p>
            <a:pPr marL="0" indent="0">
              <a:buNone/>
            </a:pPr>
            <a:r>
              <a:rPr lang="en-US" sz="1000" dirty="0">
                <a:solidFill>
                  <a:srgbClr val="CBD5E1"/>
                </a:solidFill>
              </a:rPr>
              <a:t>Mean age: 67.9 ± 5.4 yrs</a:t>
            </a:r>
            <a:endParaRPr lang="en-US" sz="1000" dirty="0"/>
          </a:p>
          <a:p>
            <a:pPr marL="0" indent="0">
              <a:buNone/>
            </a:pPr>
            <a:r>
              <a:rPr lang="en-US" sz="1000" dirty="0">
                <a:solidFill>
                  <a:srgbClr val="CBD5E1"/>
                </a:solidFill>
              </a:rPr>
              <a:t>Avg recording: 13.8 min</a:t>
            </a:r>
            <a:endParaRPr lang="en-US" sz="1000" dirty="0"/>
          </a:p>
        </p:txBody>
      </p:sp>
      <p:sp>
        <p:nvSpPr>
          <p:cNvPr id="17" name="Shape 15"/>
          <p:cNvSpPr/>
          <p:nvPr/>
        </p:nvSpPr>
        <p:spPr>
          <a:xfrm>
            <a:off x="6172200" y="1143000"/>
            <a:ext cx="2743200" cy="2606040"/>
          </a:xfrm>
          <a:prstGeom prst="rect">
            <a:avLst/>
          </a:prstGeom>
          <a:solidFill>
            <a:srgbClr val="1E3347"/>
          </a:solidFill>
          <a:ln/>
          <a:effectLst>
            <a:outerShdw blurRad="101600" dist="38100" dir="8100000" algn="bl" rotWithShape="0">
              <a:srgbClr val="000000">
                <a:alpha val="25000"/>
              </a:srgbClr>
            </a:outerShdw>
          </a:effectLst>
        </p:spPr>
        <p:txBody>
          <a:bodyPr/>
          <a:lstStyle/>
          <a:p>
            <a:endParaRPr lang="en-US"/>
          </a:p>
        </p:txBody>
      </p:sp>
      <p:sp>
        <p:nvSpPr>
          <p:cNvPr id="18" name="Shape 16"/>
          <p:cNvSpPr/>
          <p:nvPr/>
        </p:nvSpPr>
        <p:spPr>
          <a:xfrm>
            <a:off x="6172200" y="1143000"/>
            <a:ext cx="2743200" cy="109728"/>
          </a:xfrm>
          <a:prstGeom prst="rect">
            <a:avLst/>
          </a:prstGeom>
          <a:solidFill>
            <a:srgbClr val="64748B"/>
          </a:solidFill>
          <a:ln/>
        </p:spPr>
        <p:txBody>
          <a:bodyPr/>
          <a:lstStyle/>
          <a:p>
            <a:endParaRPr lang="en-US"/>
          </a:p>
        </p:txBody>
      </p:sp>
      <p:sp>
        <p:nvSpPr>
          <p:cNvPr id="19" name="Text 17"/>
          <p:cNvSpPr/>
          <p:nvPr/>
        </p:nvSpPr>
        <p:spPr>
          <a:xfrm>
            <a:off x="6172200" y="1280160"/>
            <a:ext cx="2743200" cy="777240"/>
          </a:xfrm>
          <a:prstGeom prst="rect">
            <a:avLst/>
          </a:prstGeom>
          <a:noFill/>
          <a:ln/>
        </p:spPr>
        <p:txBody>
          <a:bodyPr wrap="square" lIns="0" tIns="0" rIns="0" bIns="0" rtlCol="0" anchor="ctr"/>
          <a:lstStyle/>
          <a:p>
            <a:pPr marL="0" indent="0" algn="ctr">
              <a:buNone/>
            </a:pPr>
            <a:r>
              <a:rPr lang="en-US" sz="5200" b="1" dirty="0">
                <a:solidFill>
                  <a:srgbClr val="64748B"/>
                </a:solidFill>
              </a:rPr>
              <a:t>16</a:t>
            </a:r>
            <a:endParaRPr lang="en-US" sz="5200" dirty="0"/>
          </a:p>
        </p:txBody>
      </p:sp>
      <p:sp>
        <p:nvSpPr>
          <p:cNvPr id="20" name="Text 18"/>
          <p:cNvSpPr/>
          <p:nvPr/>
        </p:nvSpPr>
        <p:spPr>
          <a:xfrm>
            <a:off x="6172200" y="2011680"/>
            <a:ext cx="2743200" cy="274320"/>
          </a:xfrm>
          <a:prstGeom prst="rect">
            <a:avLst/>
          </a:prstGeom>
          <a:noFill/>
          <a:ln/>
        </p:spPr>
        <p:txBody>
          <a:bodyPr wrap="square" lIns="0" tIns="0" rIns="0" bIns="0" rtlCol="0" anchor="ctr"/>
          <a:lstStyle/>
          <a:p>
            <a:pPr marL="0" indent="0" algn="ctr">
              <a:buNone/>
            </a:pPr>
            <a:r>
              <a:rPr lang="en-US" sz="1100" dirty="0">
                <a:solidFill>
                  <a:srgbClr val="CBD5E1"/>
                </a:solidFill>
              </a:rPr>
              <a:t>subjects</a:t>
            </a:r>
            <a:endParaRPr lang="en-US" sz="1100" dirty="0"/>
          </a:p>
        </p:txBody>
      </p:sp>
      <p:sp>
        <p:nvSpPr>
          <p:cNvPr id="21" name="Text 19"/>
          <p:cNvSpPr/>
          <p:nvPr/>
        </p:nvSpPr>
        <p:spPr>
          <a:xfrm>
            <a:off x="6172200" y="2286000"/>
            <a:ext cx="2743200" cy="365760"/>
          </a:xfrm>
          <a:prstGeom prst="rect">
            <a:avLst/>
          </a:prstGeom>
          <a:noFill/>
          <a:ln/>
        </p:spPr>
        <p:txBody>
          <a:bodyPr wrap="square" lIns="0" tIns="0" rIns="0" bIns="0" rtlCol="0" anchor="ctr"/>
          <a:lstStyle/>
          <a:p>
            <a:pPr marL="0" indent="0" algn="ctr">
              <a:buNone/>
            </a:pPr>
            <a:r>
              <a:rPr lang="en-US" sz="1300" b="1" dirty="0">
                <a:solidFill>
                  <a:srgbClr val="FFFFFF"/>
                </a:solidFill>
              </a:rPr>
              <a:t>FTD (excluded)</a:t>
            </a:r>
            <a:endParaRPr lang="en-US" sz="1300" dirty="0"/>
          </a:p>
        </p:txBody>
      </p:sp>
      <p:sp>
        <p:nvSpPr>
          <p:cNvPr id="22" name="Text 20"/>
          <p:cNvSpPr/>
          <p:nvPr/>
        </p:nvSpPr>
        <p:spPr>
          <a:xfrm>
            <a:off x="6309360" y="2651760"/>
            <a:ext cx="2468880" cy="822960"/>
          </a:xfrm>
          <a:prstGeom prst="rect">
            <a:avLst/>
          </a:prstGeom>
          <a:noFill/>
          <a:ln/>
        </p:spPr>
        <p:txBody>
          <a:bodyPr wrap="square" lIns="0" tIns="0" rIns="0" bIns="0" rtlCol="0" anchor="ctr"/>
          <a:lstStyle/>
          <a:p>
            <a:pPr marL="0" indent="0">
              <a:buNone/>
            </a:pPr>
            <a:r>
              <a:rPr lang="en-US" sz="1000" dirty="0">
                <a:solidFill>
                  <a:srgbClr val="CBD5E1"/>
                </a:solidFill>
              </a:rPr>
              <a:t>Not used in this work</a:t>
            </a:r>
            <a:endParaRPr lang="en-US" sz="1000" dirty="0"/>
          </a:p>
          <a:p>
            <a:pPr marL="0" indent="0">
              <a:buNone/>
            </a:pPr>
            <a:r>
              <a:rPr lang="en-US" sz="1000" dirty="0">
                <a:solidFill>
                  <a:srgbClr val="CBD5E1"/>
                </a:solidFill>
              </a:rPr>
              <a:t>Focused on AD vs CN</a:t>
            </a:r>
            <a:endParaRPr lang="en-US" sz="1000" dirty="0"/>
          </a:p>
          <a:p>
            <a:pPr marL="0" indent="0">
              <a:buNone/>
            </a:pPr>
            <a:r>
              <a:rPr lang="en-US" sz="1000" dirty="0">
                <a:solidFill>
                  <a:srgbClr val="CBD5E1"/>
                </a:solidFill>
              </a:rPr>
              <a:t>binary classification</a:t>
            </a:r>
            <a:endParaRPr lang="en-US" sz="1000" dirty="0"/>
          </a:p>
        </p:txBody>
      </p:sp>
      <p:sp>
        <p:nvSpPr>
          <p:cNvPr id="23" name="Shape 21"/>
          <p:cNvSpPr/>
          <p:nvPr/>
        </p:nvSpPr>
        <p:spPr>
          <a:xfrm>
            <a:off x="320040" y="3886200"/>
            <a:ext cx="2011680" cy="960120"/>
          </a:xfrm>
          <a:prstGeom prst="rect">
            <a:avLst/>
          </a:prstGeom>
          <a:solidFill>
            <a:srgbClr val="132030"/>
          </a:solidFill>
          <a:ln/>
          <a:effectLst>
            <a:outerShdw blurRad="101600" dist="38100" dir="8100000" algn="bl" rotWithShape="0">
              <a:srgbClr val="000000">
                <a:alpha val="25000"/>
              </a:srgbClr>
            </a:outerShdw>
          </a:effectLst>
        </p:spPr>
        <p:txBody>
          <a:bodyPr/>
          <a:lstStyle/>
          <a:p>
            <a:endParaRPr lang="en-US"/>
          </a:p>
        </p:txBody>
      </p:sp>
      <p:sp>
        <p:nvSpPr>
          <p:cNvPr id="24" name="Shape 22"/>
          <p:cNvSpPr/>
          <p:nvPr/>
        </p:nvSpPr>
        <p:spPr>
          <a:xfrm>
            <a:off x="320040" y="3886200"/>
            <a:ext cx="91440" cy="960120"/>
          </a:xfrm>
          <a:prstGeom prst="rect">
            <a:avLst/>
          </a:prstGeom>
          <a:solidFill>
            <a:srgbClr val="0A7EA4"/>
          </a:solidFill>
          <a:ln/>
        </p:spPr>
        <p:txBody>
          <a:bodyPr/>
          <a:lstStyle/>
          <a:p>
            <a:endParaRPr lang="en-US"/>
          </a:p>
        </p:txBody>
      </p:sp>
      <p:sp>
        <p:nvSpPr>
          <p:cNvPr id="25" name="Text 23"/>
          <p:cNvSpPr/>
          <p:nvPr/>
        </p:nvSpPr>
        <p:spPr>
          <a:xfrm>
            <a:off x="484632" y="3913632"/>
            <a:ext cx="1737360" cy="457200"/>
          </a:xfrm>
          <a:prstGeom prst="rect">
            <a:avLst/>
          </a:prstGeom>
          <a:noFill/>
          <a:ln/>
        </p:spPr>
        <p:txBody>
          <a:bodyPr wrap="square" lIns="0" tIns="0" rIns="0" bIns="0" rtlCol="0" anchor="ctr"/>
          <a:lstStyle/>
          <a:p>
            <a:pPr marL="0" indent="0">
              <a:buNone/>
            </a:pPr>
            <a:r>
              <a:rPr lang="en-US" sz="1500" b="1" dirty="0">
                <a:solidFill>
                  <a:srgbClr val="FFFFFF"/>
                </a:solidFill>
              </a:rPr>
              <a:t>500 Hz</a:t>
            </a:r>
            <a:endParaRPr lang="en-US" sz="1500" dirty="0"/>
          </a:p>
        </p:txBody>
      </p:sp>
      <p:sp>
        <p:nvSpPr>
          <p:cNvPr id="26" name="Text 24"/>
          <p:cNvSpPr/>
          <p:nvPr/>
        </p:nvSpPr>
        <p:spPr>
          <a:xfrm>
            <a:off x="484632" y="4370832"/>
            <a:ext cx="1737360" cy="365760"/>
          </a:xfrm>
          <a:prstGeom prst="rect">
            <a:avLst/>
          </a:prstGeom>
          <a:noFill/>
          <a:ln/>
        </p:spPr>
        <p:txBody>
          <a:bodyPr wrap="square" lIns="0" tIns="0" rIns="0" bIns="0" rtlCol="0" anchor="ctr"/>
          <a:lstStyle/>
          <a:p>
            <a:pPr marL="0" indent="0">
              <a:buNone/>
            </a:pPr>
            <a:r>
              <a:rPr lang="en-US" sz="900" dirty="0">
                <a:solidFill>
                  <a:srgbClr val="CBD5E1"/>
                </a:solidFill>
              </a:rPr>
              <a:t>Sampling Rate</a:t>
            </a:r>
            <a:endParaRPr lang="en-US" sz="900" dirty="0"/>
          </a:p>
        </p:txBody>
      </p:sp>
      <p:sp>
        <p:nvSpPr>
          <p:cNvPr id="27" name="Shape 25"/>
          <p:cNvSpPr/>
          <p:nvPr/>
        </p:nvSpPr>
        <p:spPr>
          <a:xfrm>
            <a:off x="2496312" y="3886200"/>
            <a:ext cx="2011680" cy="960120"/>
          </a:xfrm>
          <a:prstGeom prst="rect">
            <a:avLst/>
          </a:prstGeom>
          <a:solidFill>
            <a:srgbClr val="132030"/>
          </a:solidFill>
          <a:ln/>
          <a:effectLst>
            <a:outerShdw blurRad="101600" dist="38100" dir="8100000" algn="bl" rotWithShape="0">
              <a:srgbClr val="000000">
                <a:alpha val="25000"/>
              </a:srgbClr>
            </a:outerShdw>
          </a:effectLst>
        </p:spPr>
        <p:txBody>
          <a:bodyPr/>
          <a:lstStyle/>
          <a:p>
            <a:endParaRPr lang="en-US"/>
          </a:p>
        </p:txBody>
      </p:sp>
      <p:sp>
        <p:nvSpPr>
          <p:cNvPr id="28" name="Shape 26"/>
          <p:cNvSpPr/>
          <p:nvPr/>
        </p:nvSpPr>
        <p:spPr>
          <a:xfrm>
            <a:off x="2496312" y="3886200"/>
            <a:ext cx="91440" cy="960120"/>
          </a:xfrm>
          <a:prstGeom prst="rect">
            <a:avLst/>
          </a:prstGeom>
          <a:solidFill>
            <a:srgbClr val="0A7EA4"/>
          </a:solidFill>
          <a:ln/>
        </p:spPr>
        <p:txBody>
          <a:bodyPr/>
          <a:lstStyle/>
          <a:p>
            <a:endParaRPr lang="en-US"/>
          </a:p>
        </p:txBody>
      </p:sp>
      <p:sp>
        <p:nvSpPr>
          <p:cNvPr id="29" name="Text 27"/>
          <p:cNvSpPr/>
          <p:nvPr/>
        </p:nvSpPr>
        <p:spPr>
          <a:xfrm>
            <a:off x="2660904" y="3913632"/>
            <a:ext cx="1737360" cy="457200"/>
          </a:xfrm>
          <a:prstGeom prst="rect">
            <a:avLst/>
          </a:prstGeom>
          <a:noFill/>
          <a:ln/>
        </p:spPr>
        <p:txBody>
          <a:bodyPr wrap="square" lIns="0" tIns="0" rIns="0" bIns="0" rtlCol="0" anchor="ctr"/>
          <a:lstStyle/>
          <a:p>
            <a:pPr marL="0" indent="0">
              <a:buNone/>
            </a:pPr>
            <a:r>
              <a:rPr lang="en-US" sz="1500" b="1" dirty="0">
                <a:solidFill>
                  <a:srgbClr val="FFFFFF"/>
                </a:solidFill>
              </a:rPr>
              <a:t>19 scalp</a:t>
            </a:r>
            <a:endParaRPr lang="en-US" sz="1500" dirty="0"/>
          </a:p>
          <a:p>
            <a:pPr marL="0" indent="0">
              <a:buNone/>
            </a:pPr>
            <a:r>
              <a:rPr lang="en-US" sz="1500" b="1" dirty="0">
                <a:solidFill>
                  <a:srgbClr val="FFFFFF"/>
                </a:solidFill>
              </a:rPr>
              <a:t>(10-20 system)</a:t>
            </a:r>
            <a:endParaRPr lang="en-US" sz="1500" dirty="0"/>
          </a:p>
        </p:txBody>
      </p:sp>
      <p:sp>
        <p:nvSpPr>
          <p:cNvPr id="30" name="Text 28"/>
          <p:cNvSpPr/>
          <p:nvPr/>
        </p:nvSpPr>
        <p:spPr>
          <a:xfrm>
            <a:off x="2660904" y="4370832"/>
            <a:ext cx="1737360" cy="365760"/>
          </a:xfrm>
          <a:prstGeom prst="rect">
            <a:avLst/>
          </a:prstGeom>
          <a:noFill/>
          <a:ln/>
        </p:spPr>
        <p:txBody>
          <a:bodyPr wrap="square" lIns="0" tIns="0" rIns="0" bIns="0" rtlCol="0" anchor="ctr"/>
          <a:lstStyle/>
          <a:p>
            <a:pPr marL="0" indent="0">
              <a:buNone/>
            </a:pPr>
            <a:r>
              <a:rPr lang="en-US" sz="900" dirty="0">
                <a:solidFill>
                  <a:srgbClr val="CBD5E1"/>
                </a:solidFill>
              </a:rPr>
              <a:t>Channels</a:t>
            </a:r>
            <a:endParaRPr lang="en-US" sz="900" dirty="0"/>
          </a:p>
        </p:txBody>
      </p:sp>
      <p:sp>
        <p:nvSpPr>
          <p:cNvPr id="31" name="Shape 29"/>
          <p:cNvSpPr/>
          <p:nvPr/>
        </p:nvSpPr>
        <p:spPr>
          <a:xfrm>
            <a:off x="4672584" y="3886200"/>
            <a:ext cx="2011680" cy="960120"/>
          </a:xfrm>
          <a:prstGeom prst="rect">
            <a:avLst/>
          </a:prstGeom>
          <a:solidFill>
            <a:srgbClr val="132030"/>
          </a:solidFill>
          <a:ln/>
          <a:effectLst>
            <a:outerShdw blurRad="101600" dist="38100" dir="8100000" algn="bl" rotWithShape="0">
              <a:srgbClr val="000000">
                <a:alpha val="25000"/>
              </a:srgbClr>
            </a:outerShdw>
          </a:effectLst>
        </p:spPr>
        <p:txBody>
          <a:bodyPr/>
          <a:lstStyle/>
          <a:p>
            <a:endParaRPr lang="en-US"/>
          </a:p>
        </p:txBody>
      </p:sp>
      <p:sp>
        <p:nvSpPr>
          <p:cNvPr id="32" name="Shape 30"/>
          <p:cNvSpPr/>
          <p:nvPr/>
        </p:nvSpPr>
        <p:spPr>
          <a:xfrm>
            <a:off x="4672584" y="3886200"/>
            <a:ext cx="91440" cy="960120"/>
          </a:xfrm>
          <a:prstGeom prst="rect">
            <a:avLst/>
          </a:prstGeom>
          <a:solidFill>
            <a:srgbClr val="0A7EA4"/>
          </a:solidFill>
          <a:ln/>
        </p:spPr>
        <p:txBody>
          <a:bodyPr/>
          <a:lstStyle/>
          <a:p>
            <a:endParaRPr lang="en-US"/>
          </a:p>
        </p:txBody>
      </p:sp>
      <p:sp>
        <p:nvSpPr>
          <p:cNvPr id="33" name="Text 31"/>
          <p:cNvSpPr/>
          <p:nvPr/>
        </p:nvSpPr>
        <p:spPr>
          <a:xfrm>
            <a:off x="4837176" y="3913632"/>
            <a:ext cx="1737360" cy="457200"/>
          </a:xfrm>
          <a:prstGeom prst="rect">
            <a:avLst/>
          </a:prstGeom>
          <a:noFill/>
          <a:ln/>
        </p:spPr>
        <p:txBody>
          <a:bodyPr wrap="square" lIns="0" tIns="0" rIns="0" bIns="0" rtlCol="0" anchor="ctr"/>
          <a:lstStyle/>
          <a:p>
            <a:pPr marL="0" indent="0">
              <a:buNone/>
            </a:pPr>
            <a:r>
              <a:rPr lang="en-US" sz="1500" b="1" dirty="0">
                <a:solidFill>
                  <a:srgbClr val="FFFFFF"/>
                </a:solidFill>
              </a:rPr>
              <a:t>Resting-state</a:t>
            </a:r>
            <a:endParaRPr lang="en-US" sz="1500" dirty="0"/>
          </a:p>
          <a:p>
            <a:pPr marL="0" indent="0">
              <a:buNone/>
            </a:pPr>
            <a:r>
              <a:rPr lang="en-US" sz="1500" b="1" dirty="0">
                <a:solidFill>
                  <a:srgbClr val="FFFFFF"/>
                </a:solidFill>
              </a:rPr>
              <a:t>eyes closed</a:t>
            </a:r>
            <a:endParaRPr lang="en-US" sz="1500" dirty="0"/>
          </a:p>
        </p:txBody>
      </p:sp>
      <p:sp>
        <p:nvSpPr>
          <p:cNvPr id="34" name="Text 32"/>
          <p:cNvSpPr/>
          <p:nvPr/>
        </p:nvSpPr>
        <p:spPr>
          <a:xfrm>
            <a:off x="4837176" y="4370832"/>
            <a:ext cx="1737360" cy="365760"/>
          </a:xfrm>
          <a:prstGeom prst="rect">
            <a:avLst/>
          </a:prstGeom>
          <a:noFill/>
          <a:ln/>
        </p:spPr>
        <p:txBody>
          <a:bodyPr wrap="square" lIns="0" tIns="0" rIns="0" bIns="0" rtlCol="0" anchor="ctr"/>
          <a:lstStyle/>
          <a:p>
            <a:pPr marL="0" indent="0">
              <a:buNone/>
            </a:pPr>
            <a:r>
              <a:rPr lang="en-US" sz="900" dirty="0">
                <a:solidFill>
                  <a:srgbClr val="CBD5E1"/>
                </a:solidFill>
              </a:rPr>
              <a:t>Task</a:t>
            </a:r>
            <a:endParaRPr lang="en-US" sz="900" dirty="0"/>
          </a:p>
        </p:txBody>
      </p:sp>
      <p:sp>
        <p:nvSpPr>
          <p:cNvPr id="35" name="Shape 33"/>
          <p:cNvSpPr/>
          <p:nvPr/>
        </p:nvSpPr>
        <p:spPr>
          <a:xfrm>
            <a:off x="6848856" y="3886200"/>
            <a:ext cx="2011680" cy="960120"/>
          </a:xfrm>
          <a:prstGeom prst="rect">
            <a:avLst/>
          </a:prstGeom>
          <a:solidFill>
            <a:srgbClr val="132030"/>
          </a:solidFill>
          <a:ln/>
          <a:effectLst>
            <a:outerShdw blurRad="101600" dist="38100" dir="8100000" algn="bl" rotWithShape="0">
              <a:srgbClr val="000000">
                <a:alpha val="25000"/>
              </a:srgbClr>
            </a:outerShdw>
          </a:effectLst>
        </p:spPr>
        <p:txBody>
          <a:bodyPr/>
          <a:lstStyle/>
          <a:p>
            <a:endParaRPr lang="en-US"/>
          </a:p>
        </p:txBody>
      </p:sp>
      <p:sp>
        <p:nvSpPr>
          <p:cNvPr id="36" name="Shape 34"/>
          <p:cNvSpPr/>
          <p:nvPr/>
        </p:nvSpPr>
        <p:spPr>
          <a:xfrm>
            <a:off x="6848856" y="3886200"/>
            <a:ext cx="91440" cy="960120"/>
          </a:xfrm>
          <a:prstGeom prst="rect">
            <a:avLst/>
          </a:prstGeom>
          <a:solidFill>
            <a:srgbClr val="0A7EA4"/>
          </a:solidFill>
          <a:ln/>
        </p:spPr>
        <p:txBody>
          <a:bodyPr/>
          <a:lstStyle/>
          <a:p>
            <a:endParaRPr lang="en-US"/>
          </a:p>
        </p:txBody>
      </p:sp>
      <p:sp>
        <p:nvSpPr>
          <p:cNvPr id="37" name="Text 35"/>
          <p:cNvSpPr/>
          <p:nvPr/>
        </p:nvSpPr>
        <p:spPr>
          <a:xfrm>
            <a:off x="7013448" y="3913632"/>
            <a:ext cx="1737360" cy="457200"/>
          </a:xfrm>
          <a:prstGeom prst="rect">
            <a:avLst/>
          </a:prstGeom>
          <a:noFill/>
          <a:ln/>
        </p:spPr>
        <p:txBody>
          <a:bodyPr wrap="square" lIns="0" tIns="0" rIns="0" bIns="0" rtlCol="0" anchor="ctr"/>
          <a:lstStyle/>
          <a:p>
            <a:pPr marL="0" indent="0">
              <a:buNone/>
            </a:pPr>
            <a:r>
              <a:rPr lang="en-US" sz="1500" b="1" dirty="0">
                <a:solidFill>
                  <a:srgbClr val="FFFFFF"/>
                </a:solidFill>
              </a:rPr>
              <a:t>.npy files</a:t>
            </a:r>
            <a:endParaRPr lang="en-US" sz="1500" dirty="0"/>
          </a:p>
          <a:p>
            <a:pPr marL="0" indent="0">
              <a:buNone/>
            </a:pPr>
            <a:r>
              <a:rPr lang="en-US" sz="1500" b="1" dirty="0">
                <a:solidFill>
                  <a:srgbClr val="FFFFFF"/>
                </a:solidFill>
              </a:rPr>
              <a:t>(19 × T)</a:t>
            </a:r>
            <a:endParaRPr lang="en-US" sz="1500" dirty="0"/>
          </a:p>
        </p:txBody>
      </p:sp>
      <p:sp>
        <p:nvSpPr>
          <p:cNvPr id="38" name="Text 36"/>
          <p:cNvSpPr/>
          <p:nvPr/>
        </p:nvSpPr>
        <p:spPr>
          <a:xfrm>
            <a:off x="7013448" y="4370832"/>
            <a:ext cx="1737360" cy="365760"/>
          </a:xfrm>
          <a:prstGeom prst="rect">
            <a:avLst/>
          </a:prstGeom>
          <a:noFill/>
          <a:ln/>
        </p:spPr>
        <p:txBody>
          <a:bodyPr wrap="square" lIns="0" tIns="0" rIns="0" bIns="0" rtlCol="0" anchor="ctr"/>
          <a:lstStyle/>
          <a:p>
            <a:pPr marL="0" indent="0">
              <a:buNone/>
            </a:pPr>
            <a:r>
              <a:rPr lang="en-US" sz="900" dirty="0">
                <a:solidFill>
                  <a:srgbClr val="CBD5E1"/>
                </a:solidFill>
              </a:rPr>
              <a:t>Format</a:t>
            </a:r>
            <a:endParaRPr lang="en-US" sz="900" dirty="0"/>
          </a:p>
        </p:txBody>
      </p:sp>
      <p:sp>
        <p:nvSpPr>
          <p:cNvPr id="39" name="Shape 37"/>
          <p:cNvSpPr/>
          <p:nvPr/>
        </p:nvSpPr>
        <p:spPr>
          <a:xfrm>
            <a:off x="8869680" y="1143000"/>
            <a:ext cx="73152" cy="2606040"/>
          </a:xfrm>
          <a:prstGeom prst="rect">
            <a:avLst/>
          </a:prstGeom>
          <a:solidFill>
            <a:srgbClr val="F59E0B"/>
          </a:solidFill>
          <a:ln/>
        </p:spPr>
        <p:txBody>
          <a:bodyPr/>
          <a:lstStyle/>
          <a:p>
            <a:endParaRPr lang="en-US"/>
          </a:p>
        </p:txBody>
      </p:sp>
      <p:sp>
        <p:nvSpPr>
          <p:cNvPr id="40" name="Text 38"/>
          <p:cNvSpPr/>
          <p:nvPr/>
        </p:nvSpPr>
        <p:spPr>
          <a:xfrm>
            <a:off x="8942832" y="1280160"/>
            <a:ext cx="18288" cy="91440"/>
          </a:xfrm>
          <a:prstGeom prst="rect">
            <a:avLst/>
          </a:prstGeom>
          <a:noFill/>
          <a:ln/>
        </p:spPr>
        <p:txBody>
          <a:bodyPr wrap="square" lIns="0" tIns="0" rIns="0" bIns="0" rtlCol="0" anchor="ctr"/>
          <a:lstStyle/>
          <a:p>
            <a:pPr marL="0" indent="0">
              <a:buNone/>
            </a:pPr>
            <a:r>
              <a:rPr lang="en-US" sz="100" dirty="0">
                <a:solidFill>
                  <a:srgbClr val="FFFFFF"/>
                </a:solidFill>
              </a:rPr>
              <a:t>⚠  25 AD vs 13 CN — class imbalance ratio 1.9×</a:t>
            </a:r>
            <a:endParaRPr lang="en-US" sz="100" dirty="0"/>
          </a:p>
          <a:p>
            <a:pPr marL="0" indent="0">
              <a:buNone/>
            </a:pPr>
            <a:r>
              <a:rPr lang="en-US" sz="100" dirty="0">
                <a:solidFill>
                  <a:srgbClr val="FFFFFF"/>
                </a:solidFill>
              </a:rPr>
              <a:t>Required scale_pos_weight correction in XGBoost.</a:t>
            </a:r>
            <a:endParaRPr lang="en-US" sz="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7EA4"/>
          </a:solidFill>
          <a:ln/>
        </p:spPr>
        <p:txBody>
          <a:bodyPr/>
          <a:lstStyle/>
          <a:p>
            <a:endParaRPr lang="en-US"/>
          </a:p>
        </p:txBody>
      </p:sp>
      <p:sp>
        <p:nvSpPr>
          <p:cNvPr id="3" name="Text 1"/>
          <p:cNvSpPr/>
          <p:nvPr/>
        </p:nvSpPr>
        <p:spPr>
          <a:xfrm>
            <a:off x="365760" y="201168"/>
            <a:ext cx="1828800" cy="274320"/>
          </a:xfrm>
          <a:prstGeom prst="rect">
            <a:avLst/>
          </a:prstGeom>
          <a:noFill/>
          <a:ln/>
        </p:spPr>
        <p:txBody>
          <a:bodyPr wrap="square" lIns="0" tIns="0" rIns="0" bIns="0" rtlCol="0" anchor="ctr"/>
          <a:lstStyle/>
          <a:p>
            <a:pPr marL="0" indent="0">
              <a:buNone/>
            </a:pPr>
            <a:r>
              <a:rPr lang="en-US" sz="1100" b="1" dirty="0">
                <a:solidFill>
                  <a:srgbClr val="0A7EA4"/>
                </a:solidFill>
              </a:rPr>
              <a:t>Pipeline</a:t>
            </a:r>
            <a:endParaRPr lang="en-US" sz="11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Four-Step Processing Chain</a:t>
            </a:r>
            <a:endParaRPr lang="en-US" sz="2400" dirty="0"/>
          </a:p>
        </p:txBody>
      </p:sp>
      <p:sp>
        <p:nvSpPr>
          <p:cNvPr id="5" name="Shape 3"/>
          <p:cNvSpPr/>
          <p:nvPr/>
        </p:nvSpPr>
        <p:spPr>
          <a:xfrm>
            <a:off x="2359152" y="2606040"/>
            <a:ext cx="228600" cy="54864"/>
          </a:xfrm>
          <a:prstGeom prst="rect">
            <a:avLst/>
          </a:prstGeom>
          <a:solidFill>
            <a:srgbClr val="94A3B8"/>
          </a:solidFill>
          <a:ln/>
        </p:spPr>
        <p:txBody>
          <a:bodyPr/>
          <a:lstStyle/>
          <a:p>
            <a:endParaRPr lang="en-US"/>
          </a:p>
        </p:txBody>
      </p:sp>
      <p:sp>
        <p:nvSpPr>
          <p:cNvPr id="6" name="Shape 4"/>
          <p:cNvSpPr/>
          <p:nvPr/>
        </p:nvSpPr>
        <p:spPr>
          <a:xfrm>
            <a:off x="4535424" y="2606040"/>
            <a:ext cx="228600" cy="54864"/>
          </a:xfrm>
          <a:prstGeom prst="rect">
            <a:avLst/>
          </a:prstGeom>
          <a:solidFill>
            <a:srgbClr val="94A3B8"/>
          </a:solidFill>
          <a:ln/>
        </p:spPr>
        <p:txBody>
          <a:bodyPr/>
          <a:lstStyle/>
          <a:p>
            <a:endParaRPr lang="en-US"/>
          </a:p>
        </p:txBody>
      </p:sp>
      <p:sp>
        <p:nvSpPr>
          <p:cNvPr id="7" name="Shape 5"/>
          <p:cNvSpPr/>
          <p:nvPr/>
        </p:nvSpPr>
        <p:spPr>
          <a:xfrm>
            <a:off x="6711696" y="2606040"/>
            <a:ext cx="228600" cy="54864"/>
          </a:xfrm>
          <a:prstGeom prst="rect">
            <a:avLst/>
          </a:prstGeom>
          <a:solidFill>
            <a:srgbClr val="94A3B8"/>
          </a:solidFill>
          <a:ln/>
        </p:spPr>
        <p:txBody>
          <a:bodyPr/>
          <a:lstStyle/>
          <a:p>
            <a:endParaRPr lang="en-US"/>
          </a:p>
        </p:txBody>
      </p:sp>
      <p:sp>
        <p:nvSpPr>
          <p:cNvPr id="8" name="Shape 6"/>
          <p:cNvSpPr/>
          <p:nvPr/>
        </p:nvSpPr>
        <p:spPr>
          <a:xfrm>
            <a:off x="320040" y="1005840"/>
            <a:ext cx="2011680" cy="3886200"/>
          </a:xfrm>
          <a:prstGeom prst="rect">
            <a:avLst/>
          </a:prstGeom>
          <a:solidFill>
            <a:srgbClr val="0D1B2A"/>
          </a:solidFill>
          <a:ln/>
          <a:effectLst>
            <a:outerShdw blurRad="101600" dist="38100" dir="8100000" algn="bl" rotWithShape="0">
              <a:srgbClr val="000000">
                <a:alpha val="25000"/>
              </a:srgbClr>
            </a:outerShdw>
          </a:effectLst>
        </p:spPr>
        <p:txBody>
          <a:bodyPr/>
          <a:lstStyle/>
          <a:p>
            <a:endParaRPr lang="en-US"/>
          </a:p>
        </p:txBody>
      </p:sp>
      <p:sp>
        <p:nvSpPr>
          <p:cNvPr id="9" name="Shape 7"/>
          <p:cNvSpPr/>
          <p:nvPr/>
        </p:nvSpPr>
        <p:spPr>
          <a:xfrm>
            <a:off x="320040" y="1005840"/>
            <a:ext cx="2011680" cy="91440"/>
          </a:xfrm>
          <a:prstGeom prst="rect">
            <a:avLst/>
          </a:prstGeom>
          <a:solidFill>
            <a:srgbClr val="0A7EA4"/>
          </a:solidFill>
          <a:ln/>
        </p:spPr>
        <p:txBody>
          <a:bodyPr/>
          <a:lstStyle/>
          <a:p>
            <a:endParaRPr lang="en-US"/>
          </a:p>
        </p:txBody>
      </p:sp>
      <p:sp>
        <p:nvSpPr>
          <p:cNvPr id="10" name="Text 8"/>
          <p:cNvSpPr/>
          <p:nvPr/>
        </p:nvSpPr>
        <p:spPr>
          <a:xfrm>
            <a:off x="320040" y="1078992"/>
            <a:ext cx="2011680" cy="502920"/>
          </a:xfrm>
          <a:prstGeom prst="rect">
            <a:avLst/>
          </a:prstGeom>
          <a:noFill/>
          <a:ln/>
        </p:spPr>
        <p:txBody>
          <a:bodyPr wrap="square" lIns="0" tIns="0" rIns="0" bIns="0" rtlCol="0" anchor="ctr"/>
          <a:lstStyle/>
          <a:p>
            <a:pPr marL="0" indent="0" algn="ctr">
              <a:buNone/>
            </a:pPr>
            <a:r>
              <a:rPr lang="en-US" sz="2800" b="1" dirty="0">
                <a:solidFill>
                  <a:srgbClr val="0A7EA4"/>
                </a:solidFill>
              </a:rPr>
              <a:t>01</a:t>
            </a:r>
            <a:endParaRPr lang="en-US" sz="2800" dirty="0"/>
          </a:p>
        </p:txBody>
      </p:sp>
      <p:sp>
        <p:nvSpPr>
          <p:cNvPr id="11" name="Text 9"/>
          <p:cNvSpPr/>
          <p:nvPr/>
        </p:nvSpPr>
        <p:spPr>
          <a:xfrm>
            <a:off x="411480" y="1572768"/>
            <a:ext cx="1828800" cy="411480"/>
          </a:xfrm>
          <a:prstGeom prst="rect">
            <a:avLst/>
          </a:prstGeom>
          <a:noFill/>
          <a:ln/>
        </p:spPr>
        <p:txBody>
          <a:bodyPr wrap="square" lIns="0" tIns="0" rIns="0" bIns="0" rtlCol="0" anchor="ctr"/>
          <a:lstStyle/>
          <a:p>
            <a:pPr marL="0" indent="0" algn="ctr">
              <a:buNone/>
            </a:pPr>
            <a:r>
              <a:rPr lang="en-US" sz="1200" b="1" dirty="0">
                <a:solidFill>
                  <a:srgbClr val="FFFFFF"/>
                </a:solidFill>
              </a:rPr>
              <a:t>Signal Conditioning</a:t>
            </a:r>
            <a:endParaRPr lang="en-US" sz="1200" dirty="0"/>
          </a:p>
        </p:txBody>
      </p:sp>
      <p:sp>
        <p:nvSpPr>
          <p:cNvPr id="12" name="Shape 10"/>
          <p:cNvSpPr/>
          <p:nvPr/>
        </p:nvSpPr>
        <p:spPr>
          <a:xfrm>
            <a:off x="502920" y="2029968"/>
            <a:ext cx="1645920" cy="27432"/>
          </a:xfrm>
          <a:prstGeom prst="rect">
            <a:avLst/>
          </a:prstGeom>
          <a:solidFill>
            <a:srgbClr val="1E3347"/>
          </a:solidFill>
          <a:ln/>
        </p:spPr>
        <p:txBody>
          <a:bodyPr/>
          <a:lstStyle/>
          <a:p>
            <a:endParaRPr lang="en-US"/>
          </a:p>
        </p:txBody>
      </p:sp>
      <p:sp>
        <p:nvSpPr>
          <p:cNvPr id="13" name="Text 11"/>
          <p:cNvSpPr/>
          <p:nvPr/>
        </p:nvSpPr>
        <p:spPr>
          <a:xfrm>
            <a:off x="457200" y="2121408"/>
            <a:ext cx="1737360" cy="749808"/>
          </a:xfrm>
          <a:prstGeom prst="rect">
            <a:avLst/>
          </a:prstGeom>
          <a:noFill/>
          <a:ln/>
        </p:spPr>
        <p:txBody>
          <a:bodyPr wrap="square" lIns="0" tIns="0" rIns="0" bIns="0" rtlCol="0" anchor="ctr"/>
          <a:lstStyle/>
          <a:p>
            <a:pPr marL="0" indent="0">
              <a:buNone/>
            </a:pPr>
            <a:r>
              <a:rPr lang="en-US" sz="1000" dirty="0">
                <a:solidFill>
                  <a:srgbClr val="CBD5E1"/>
                </a:solidFill>
              </a:rPr>
              <a:t>Butterworth bandpass 0.5–45 Hz</a:t>
            </a:r>
            <a:endParaRPr lang="en-US" sz="1000" dirty="0"/>
          </a:p>
          <a:p>
            <a:pPr marL="0" indent="0">
              <a:buNone/>
            </a:pPr>
            <a:r>
              <a:rPr lang="en-US" sz="1000" dirty="0">
                <a:solidFill>
                  <a:srgbClr val="CBD5E1"/>
                </a:solidFill>
              </a:rPr>
              <a:t>(zero-phase, 4th order)</a:t>
            </a:r>
            <a:endParaRPr lang="en-US" sz="1000" dirty="0"/>
          </a:p>
        </p:txBody>
      </p:sp>
      <p:sp>
        <p:nvSpPr>
          <p:cNvPr id="14" name="Text 12"/>
          <p:cNvSpPr/>
          <p:nvPr/>
        </p:nvSpPr>
        <p:spPr>
          <a:xfrm>
            <a:off x="457200" y="2926080"/>
            <a:ext cx="1737360" cy="749808"/>
          </a:xfrm>
          <a:prstGeom prst="rect">
            <a:avLst/>
          </a:prstGeom>
          <a:noFill/>
          <a:ln/>
        </p:spPr>
        <p:txBody>
          <a:bodyPr wrap="square" lIns="0" tIns="0" rIns="0" bIns="0" rtlCol="0" anchor="ctr"/>
          <a:lstStyle/>
          <a:p>
            <a:pPr marL="0" indent="0">
              <a:buNone/>
            </a:pPr>
            <a:r>
              <a:rPr lang="en-US" sz="1000" dirty="0">
                <a:solidFill>
                  <a:srgbClr val="CBD5E1"/>
                </a:solidFill>
              </a:rPr>
              <a:t>Polyphase downsample</a:t>
            </a:r>
            <a:endParaRPr lang="en-US" sz="1000" dirty="0"/>
          </a:p>
          <a:p>
            <a:pPr marL="0" indent="0">
              <a:buNone/>
            </a:pPr>
            <a:r>
              <a:rPr lang="en-US" sz="1000" dirty="0">
                <a:solidFill>
                  <a:srgbClr val="CBD5E1"/>
                </a:solidFill>
              </a:rPr>
              <a:t>500 Hz → 128 Hz</a:t>
            </a:r>
            <a:endParaRPr lang="en-US" sz="1000" dirty="0"/>
          </a:p>
        </p:txBody>
      </p:sp>
      <p:sp>
        <p:nvSpPr>
          <p:cNvPr id="15" name="Text 13"/>
          <p:cNvSpPr/>
          <p:nvPr/>
        </p:nvSpPr>
        <p:spPr>
          <a:xfrm>
            <a:off x="457200" y="3730752"/>
            <a:ext cx="1737360" cy="749808"/>
          </a:xfrm>
          <a:prstGeom prst="rect">
            <a:avLst/>
          </a:prstGeom>
          <a:noFill/>
          <a:ln/>
        </p:spPr>
        <p:txBody>
          <a:bodyPr wrap="square" lIns="0" tIns="0" rIns="0" bIns="0" rtlCol="0" anchor="ctr"/>
          <a:lstStyle/>
          <a:p>
            <a:pPr marL="0" indent="0">
              <a:buNone/>
            </a:pPr>
            <a:r>
              <a:rPr lang="en-US" sz="1000" dirty="0">
                <a:solidFill>
                  <a:srgbClr val="CBD5E1"/>
                </a:solidFill>
              </a:rPr>
              <a:t>Preserves delta through gamma;</a:t>
            </a:r>
            <a:endParaRPr lang="en-US" sz="1000" dirty="0"/>
          </a:p>
          <a:p>
            <a:pPr marL="0" indent="0">
              <a:buNone/>
            </a:pPr>
            <a:r>
              <a:rPr lang="en-US" sz="1000" dirty="0">
                <a:solidFill>
                  <a:srgbClr val="CBD5E1"/>
                </a:solidFill>
              </a:rPr>
              <a:t>reduces compute 4×</a:t>
            </a:r>
            <a:endParaRPr lang="en-US" sz="1000" dirty="0"/>
          </a:p>
        </p:txBody>
      </p:sp>
      <p:sp>
        <p:nvSpPr>
          <p:cNvPr id="16" name="Shape 14"/>
          <p:cNvSpPr/>
          <p:nvPr/>
        </p:nvSpPr>
        <p:spPr>
          <a:xfrm>
            <a:off x="2496312" y="1005840"/>
            <a:ext cx="2011680" cy="3886200"/>
          </a:xfrm>
          <a:prstGeom prst="rect">
            <a:avLst/>
          </a:prstGeom>
          <a:solidFill>
            <a:srgbClr val="0D1B2A"/>
          </a:solidFill>
          <a:ln/>
          <a:effectLst>
            <a:outerShdw blurRad="101600" dist="38100" dir="8100000" algn="bl" rotWithShape="0">
              <a:srgbClr val="000000">
                <a:alpha val="25000"/>
              </a:srgbClr>
            </a:outerShdw>
          </a:effectLst>
        </p:spPr>
        <p:txBody>
          <a:bodyPr/>
          <a:lstStyle/>
          <a:p>
            <a:endParaRPr lang="en-US"/>
          </a:p>
        </p:txBody>
      </p:sp>
      <p:sp>
        <p:nvSpPr>
          <p:cNvPr id="17" name="Shape 15"/>
          <p:cNvSpPr/>
          <p:nvPr/>
        </p:nvSpPr>
        <p:spPr>
          <a:xfrm>
            <a:off x="2496312" y="1005840"/>
            <a:ext cx="2011680" cy="91440"/>
          </a:xfrm>
          <a:prstGeom prst="rect">
            <a:avLst/>
          </a:prstGeom>
          <a:solidFill>
            <a:srgbClr val="02C39A"/>
          </a:solidFill>
          <a:ln/>
        </p:spPr>
        <p:txBody>
          <a:bodyPr/>
          <a:lstStyle/>
          <a:p>
            <a:endParaRPr lang="en-US"/>
          </a:p>
        </p:txBody>
      </p:sp>
      <p:sp>
        <p:nvSpPr>
          <p:cNvPr id="18" name="Text 16"/>
          <p:cNvSpPr/>
          <p:nvPr/>
        </p:nvSpPr>
        <p:spPr>
          <a:xfrm>
            <a:off x="2496312" y="1078992"/>
            <a:ext cx="2011680" cy="502920"/>
          </a:xfrm>
          <a:prstGeom prst="rect">
            <a:avLst/>
          </a:prstGeom>
          <a:noFill/>
          <a:ln/>
        </p:spPr>
        <p:txBody>
          <a:bodyPr wrap="square" lIns="0" tIns="0" rIns="0" bIns="0" rtlCol="0" anchor="ctr"/>
          <a:lstStyle/>
          <a:p>
            <a:pPr marL="0" indent="0" algn="ctr">
              <a:buNone/>
            </a:pPr>
            <a:r>
              <a:rPr lang="en-US" sz="2800" b="1" dirty="0">
                <a:solidFill>
                  <a:srgbClr val="02C39A"/>
                </a:solidFill>
              </a:rPr>
              <a:t>02</a:t>
            </a:r>
            <a:endParaRPr lang="en-US" sz="2800" dirty="0"/>
          </a:p>
        </p:txBody>
      </p:sp>
      <p:sp>
        <p:nvSpPr>
          <p:cNvPr id="19" name="Text 17"/>
          <p:cNvSpPr/>
          <p:nvPr/>
        </p:nvSpPr>
        <p:spPr>
          <a:xfrm>
            <a:off x="2587752" y="1572768"/>
            <a:ext cx="1828800" cy="411480"/>
          </a:xfrm>
          <a:prstGeom prst="rect">
            <a:avLst/>
          </a:prstGeom>
          <a:noFill/>
          <a:ln/>
        </p:spPr>
        <p:txBody>
          <a:bodyPr wrap="square" lIns="0" tIns="0" rIns="0" bIns="0" rtlCol="0" anchor="ctr"/>
          <a:lstStyle/>
          <a:p>
            <a:pPr marL="0" indent="0" algn="ctr">
              <a:buNone/>
            </a:pPr>
            <a:r>
              <a:rPr lang="en-US" sz="1200" b="1" dirty="0">
                <a:solidFill>
                  <a:srgbClr val="FFFFFF"/>
                </a:solidFill>
              </a:rPr>
              <a:t>Windowing</a:t>
            </a:r>
            <a:endParaRPr lang="en-US" sz="1200" dirty="0"/>
          </a:p>
        </p:txBody>
      </p:sp>
      <p:sp>
        <p:nvSpPr>
          <p:cNvPr id="20" name="Shape 18"/>
          <p:cNvSpPr/>
          <p:nvPr/>
        </p:nvSpPr>
        <p:spPr>
          <a:xfrm>
            <a:off x="2679192" y="2029968"/>
            <a:ext cx="1645920" cy="27432"/>
          </a:xfrm>
          <a:prstGeom prst="rect">
            <a:avLst/>
          </a:prstGeom>
          <a:solidFill>
            <a:srgbClr val="1E3347"/>
          </a:solidFill>
          <a:ln/>
        </p:spPr>
        <p:txBody>
          <a:bodyPr/>
          <a:lstStyle/>
          <a:p>
            <a:endParaRPr lang="en-US"/>
          </a:p>
        </p:txBody>
      </p:sp>
      <p:sp>
        <p:nvSpPr>
          <p:cNvPr id="21" name="Text 19"/>
          <p:cNvSpPr/>
          <p:nvPr/>
        </p:nvSpPr>
        <p:spPr>
          <a:xfrm>
            <a:off x="2633472" y="2121408"/>
            <a:ext cx="1737360" cy="749808"/>
          </a:xfrm>
          <a:prstGeom prst="rect">
            <a:avLst/>
          </a:prstGeom>
          <a:noFill/>
          <a:ln/>
        </p:spPr>
        <p:txBody>
          <a:bodyPr wrap="square" lIns="0" tIns="0" rIns="0" bIns="0" rtlCol="0" anchor="ctr"/>
          <a:lstStyle/>
          <a:p>
            <a:pPr marL="0" indent="0">
              <a:buNone/>
            </a:pPr>
            <a:r>
              <a:rPr lang="en-US" sz="1000" dirty="0">
                <a:solidFill>
                  <a:srgbClr val="CBD5E1"/>
                </a:solidFill>
              </a:rPr>
              <a:t>30-second sliding windows</a:t>
            </a:r>
            <a:endParaRPr lang="en-US" sz="1000" dirty="0"/>
          </a:p>
          <a:p>
            <a:pPr marL="0" indent="0">
              <a:buNone/>
            </a:pPr>
            <a:r>
              <a:rPr lang="en-US" sz="1000" dirty="0">
                <a:solidFill>
                  <a:srgbClr val="CBD5E1"/>
                </a:solidFill>
              </a:rPr>
              <a:t>15-second (50%) overlap</a:t>
            </a:r>
            <a:endParaRPr lang="en-US" sz="1000" dirty="0"/>
          </a:p>
        </p:txBody>
      </p:sp>
      <p:sp>
        <p:nvSpPr>
          <p:cNvPr id="22" name="Text 20"/>
          <p:cNvSpPr/>
          <p:nvPr/>
        </p:nvSpPr>
        <p:spPr>
          <a:xfrm>
            <a:off x="2633472" y="2926080"/>
            <a:ext cx="1737360" cy="749808"/>
          </a:xfrm>
          <a:prstGeom prst="rect">
            <a:avLst/>
          </a:prstGeom>
          <a:noFill/>
          <a:ln/>
        </p:spPr>
        <p:txBody>
          <a:bodyPr wrap="square" lIns="0" tIns="0" rIns="0" bIns="0" rtlCol="0" anchor="ctr"/>
          <a:lstStyle/>
          <a:p>
            <a:pPr marL="0" indent="0">
              <a:buNone/>
            </a:pPr>
            <a:r>
              <a:rPr lang="en-US" sz="1000" dirty="0">
                <a:solidFill>
                  <a:srgbClr val="CBD5E1"/>
                </a:solidFill>
              </a:rPr>
              <a:t>475 windows total</a:t>
            </a:r>
            <a:endParaRPr lang="en-US" sz="1000" dirty="0"/>
          </a:p>
          <a:p>
            <a:pPr marL="0" indent="0">
              <a:buNone/>
            </a:pPr>
            <a:r>
              <a:rPr lang="en-US" sz="1000" dirty="0">
                <a:solidFill>
                  <a:srgbClr val="CBD5E1"/>
                </a:solidFill>
              </a:rPr>
              <a:t>(305 AD, 170 CN)</a:t>
            </a:r>
            <a:endParaRPr lang="en-US" sz="1000" dirty="0"/>
          </a:p>
        </p:txBody>
      </p:sp>
      <p:sp>
        <p:nvSpPr>
          <p:cNvPr id="23" name="Text 21"/>
          <p:cNvSpPr/>
          <p:nvPr/>
        </p:nvSpPr>
        <p:spPr>
          <a:xfrm>
            <a:off x="2633472" y="3730752"/>
            <a:ext cx="1737360" cy="749808"/>
          </a:xfrm>
          <a:prstGeom prst="rect">
            <a:avLst/>
          </a:prstGeom>
          <a:noFill/>
          <a:ln/>
        </p:spPr>
        <p:txBody>
          <a:bodyPr wrap="square" lIns="0" tIns="0" rIns="0" bIns="0" rtlCol="0" anchor="ctr"/>
          <a:lstStyle/>
          <a:p>
            <a:pPr marL="0" indent="0">
              <a:buNone/>
            </a:pPr>
            <a:r>
              <a:rPr lang="en-US" sz="1000" dirty="0">
                <a:solidFill>
                  <a:srgbClr val="CBD5E1"/>
                </a:solidFill>
              </a:rPr>
              <a:t>Subject ID preserved</a:t>
            </a:r>
            <a:endParaRPr lang="en-US" sz="1000" dirty="0"/>
          </a:p>
          <a:p>
            <a:pPr marL="0" indent="0">
              <a:buNone/>
            </a:pPr>
            <a:r>
              <a:rPr lang="en-US" sz="1000" dirty="0">
                <a:solidFill>
                  <a:srgbClr val="CBD5E1"/>
                </a:solidFill>
              </a:rPr>
              <a:t>through every window</a:t>
            </a:r>
            <a:endParaRPr lang="en-US" sz="1000" dirty="0"/>
          </a:p>
        </p:txBody>
      </p:sp>
      <p:sp>
        <p:nvSpPr>
          <p:cNvPr id="24" name="Shape 22"/>
          <p:cNvSpPr/>
          <p:nvPr/>
        </p:nvSpPr>
        <p:spPr>
          <a:xfrm>
            <a:off x="4672584" y="1005840"/>
            <a:ext cx="2011680" cy="3886200"/>
          </a:xfrm>
          <a:prstGeom prst="rect">
            <a:avLst/>
          </a:prstGeom>
          <a:solidFill>
            <a:srgbClr val="0D1B2A"/>
          </a:solidFill>
          <a:ln/>
          <a:effectLst>
            <a:outerShdw blurRad="101600" dist="38100" dir="8100000" algn="bl" rotWithShape="0">
              <a:srgbClr val="000000">
                <a:alpha val="25000"/>
              </a:srgbClr>
            </a:outerShdw>
          </a:effectLst>
        </p:spPr>
        <p:txBody>
          <a:bodyPr/>
          <a:lstStyle/>
          <a:p>
            <a:endParaRPr lang="en-US"/>
          </a:p>
        </p:txBody>
      </p:sp>
      <p:sp>
        <p:nvSpPr>
          <p:cNvPr id="25" name="Shape 23"/>
          <p:cNvSpPr/>
          <p:nvPr/>
        </p:nvSpPr>
        <p:spPr>
          <a:xfrm>
            <a:off x="4672584" y="1005840"/>
            <a:ext cx="2011680" cy="91440"/>
          </a:xfrm>
          <a:prstGeom prst="rect">
            <a:avLst/>
          </a:prstGeom>
          <a:solidFill>
            <a:srgbClr val="F59E0B"/>
          </a:solidFill>
          <a:ln/>
        </p:spPr>
        <p:txBody>
          <a:bodyPr/>
          <a:lstStyle/>
          <a:p>
            <a:endParaRPr lang="en-US"/>
          </a:p>
        </p:txBody>
      </p:sp>
      <p:sp>
        <p:nvSpPr>
          <p:cNvPr id="26" name="Text 24"/>
          <p:cNvSpPr/>
          <p:nvPr/>
        </p:nvSpPr>
        <p:spPr>
          <a:xfrm>
            <a:off x="4672584" y="1078992"/>
            <a:ext cx="2011680" cy="502920"/>
          </a:xfrm>
          <a:prstGeom prst="rect">
            <a:avLst/>
          </a:prstGeom>
          <a:noFill/>
          <a:ln/>
        </p:spPr>
        <p:txBody>
          <a:bodyPr wrap="square" lIns="0" tIns="0" rIns="0" bIns="0" rtlCol="0" anchor="ctr"/>
          <a:lstStyle/>
          <a:p>
            <a:pPr marL="0" indent="0" algn="ctr">
              <a:buNone/>
            </a:pPr>
            <a:r>
              <a:rPr lang="en-US" sz="2800" b="1" dirty="0">
                <a:solidFill>
                  <a:srgbClr val="F59E0B"/>
                </a:solidFill>
              </a:rPr>
              <a:t>03</a:t>
            </a:r>
            <a:endParaRPr lang="en-US" sz="2800" dirty="0"/>
          </a:p>
        </p:txBody>
      </p:sp>
      <p:sp>
        <p:nvSpPr>
          <p:cNvPr id="27" name="Text 25"/>
          <p:cNvSpPr/>
          <p:nvPr/>
        </p:nvSpPr>
        <p:spPr>
          <a:xfrm>
            <a:off x="4764024" y="1572768"/>
            <a:ext cx="1828800" cy="411480"/>
          </a:xfrm>
          <a:prstGeom prst="rect">
            <a:avLst/>
          </a:prstGeom>
          <a:noFill/>
          <a:ln/>
        </p:spPr>
        <p:txBody>
          <a:bodyPr wrap="square" lIns="0" tIns="0" rIns="0" bIns="0" rtlCol="0" anchor="ctr"/>
          <a:lstStyle/>
          <a:p>
            <a:pPr marL="0" indent="0" algn="ctr">
              <a:buNone/>
            </a:pPr>
            <a:r>
              <a:rPr lang="en-US" sz="1200" b="1" dirty="0">
                <a:solidFill>
                  <a:srgbClr val="FFFFFF"/>
                </a:solidFill>
              </a:rPr>
              <a:t>Feature Extraction</a:t>
            </a:r>
            <a:endParaRPr lang="en-US" sz="1200" dirty="0"/>
          </a:p>
        </p:txBody>
      </p:sp>
      <p:sp>
        <p:nvSpPr>
          <p:cNvPr id="28" name="Shape 26"/>
          <p:cNvSpPr/>
          <p:nvPr/>
        </p:nvSpPr>
        <p:spPr>
          <a:xfrm>
            <a:off x="4855464" y="2029968"/>
            <a:ext cx="1645920" cy="27432"/>
          </a:xfrm>
          <a:prstGeom prst="rect">
            <a:avLst/>
          </a:prstGeom>
          <a:solidFill>
            <a:srgbClr val="1E3347"/>
          </a:solidFill>
          <a:ln/>
        </p:spPr>
        <p:txBody>
          <a:bodyPr/>
          <a:lstStyle/>
          <a:p>
            <a:endParaRPr lang="en-US"/>
          </a:p>
        </p:txBody>
      </p:sp>
      <p:sp>
        <p:nvSpPr>
          <p:cNvPr id="29" name="Text 27"/>
          <p:cNvSpPr/>
          <p:nvPr/>
        </p:nvSpPr>
        <p:spPr>
          <a:xfrm>
            <a:off x="4809744" y="2121408"/>
            <a:ext cx="1737360" cy="749808"/>
          </a:xfrm>
          <a:prstGeom prst="rect">
            <a:avLst/>
          </a:prstGeom>
          <a:noFill/>
          <a:ln/>
        </p:spPr>
        <p:txBody>
          <a:bodyPr wrap="square" lIns="0" tIns="0" rIns="0" bIns="0" rtlCol="0" anchor="ctr"/>
          <a:lstStyle/>
          <a:p>
            <a:pPr marL="0" indent="0">
              <a:buNone/>
            </a:pPr>
            <a:r>
              <a:rPr lang="en-US" sz="1000" dirty="0">
                <a:solidFill>
                  <a:srgbClr val="CBD5E1"/>
                </a:solidFill>
              </a:rPr>
              <a:t>Relative Band Power (RBP)</a:t>
            </a:r>
            <a:endParaRPr lang="en-US" sz="1000" dirty="0"/>
          </a:p>
          <a:p>
            <a:pPr marL="0" indent="0">
              <a:buNone/>
            </a:pPr>
            <a:r>
              <a:rPr lang="en-US" sz="1000" dirty="0">
                <a:solidFill>
                  <a:srgbClr val="CBD5E1"/>
                </a:solidFill>
              </a:rPr>
              <a:t>5 bands × 19 channels = 95</a:t>
            </a:r>
            <a:endParaRPr lang="en-US" sz="1000" dirty="0"/>
          </a:p>
        </p:txBody>
      </p:sp>
      <p:sp>
        <p:nvSpPr>
          <p:cNvPr id="30" name="Text 28"/>
          <p:cNvSpPr/>
          <p:nvPr/>
        </p:nvSpPr>
        <p:spPr>
          <a:xfrm>
            <a:off x="4809744" y="2926080"/>
            <a:ext cx="1737360" cy="749808"/>
          </a:xfrm>
          <a:prstGeom prst="rect">
            <a:avLst/>
          </a:prstGeom>
          <a:noFill/>
          <a:ln/>
        </p:spPr>
        <p:txBody>
          <a:bodyPr wrap="square" lIns="0" tIns="0" rIns="0" bIns="0" rtlCol="0" anchor="ctr"/>
          <a:lstStyle/>
          <a:p>
            <a:pPr marL="0" indent="0">
              <a:buNone/>
            </a:pPr>
            <a:r>
              <a:rPr lang="en-US" sz="1000" dirty="0">
                <a:solidFill>
                  <a:srgbClr val="CBD5E1"/>
                </a:solidFill>
              </a:rPr>
              <a:t>Spectral Coherence (SCC)</a:t>
            </a:r>
            <a:endParaRPr lang="en-US" sz="1000" dirty="0"/>
          </a:p>
          <a:p>
            <a:pPr marL="0" indent="0">
              <a:buNone/>
            </a:pPr>
            <a:r>
              <a:rPr lang="en-US" sz="1000" dirty="0">
                <a:solidFill>
                  <a:srgbClr val="CBD5E1"/>
                </a:solidFill>
              </a:rPr>
              <a:t>5 bands × 19 channels = 95</a:t>
            </a:r>
            <a:endParaRPr lang="en-US" sz="1000" dirty="0"/>
          </a:p>
        </p:txBody>
      </p:sp>
      <p:sp>
        <p:nvSpPr>
          <p:cNvPr id="31" name="Text 29"/>
          <p:cNvSpPr/>
          <p:nvPr/>
        </p:nvSpPr>
        <p:spPr>
          <a:xfrm>
            <a:off x="4809744" y="3730752"/>
            <a:ext cx="1737360" cy="749808"/>
          </a:xfrm>
          <a:prstGeom prst="rect">
            <a:avLst/>
          </a:prstGeom>
          <a:noFill/>
          <a:ln/>
        </p:spPr>
        <p:txBody>
          <a:bodyPr wrap="square" lIns="0" tIns="0" rIns="0" bIns="0" rtlCol="0" anchor="ctr"/>
          <a:lstStyle/>
          <a:p>
            <a:pPr marL="0" indent="0">
              <a:buNone/>
            </a:pPr>
            <a:r>
              <a:rPr lang="en-US" sz="1000" dirty="0">
                <a:solidFill>
                  <a:srgbClr val="CBD5E1"/>
                </a:solidFill>
              </a:rPr>
              <a:t>Hjorth + Shannon Entropy</a:t>
            </a:r>
            <a:endParaRPr lang="en-US" sz="1000" dirty="0"/>
          </a:p>
          <a:p>
            <a:pPr marL="0" indent="0">
              <a:buNone/>
            </a:pPr>
            <a:r>
              <a:rPr lang="en-US" sz="1000" dirty="0">
                <a:solidFill>
                  <a:srgbClr val="CBD5E1"/>
                </a:solidFill>
              </a:rPr>
              <a:t>38 + 19 = 57</a:t>
            </a:r>
            <a:endParaRPr lang="en-US" sz="1000" dirty="0"/>
          </a:p>
          <a:p>
            <a:pPr marL="0" indent="0">
              <a:buNone/>
            </a:pPr>
            <a:r>
              <a:rPr lang="en-US" sz="1000" dirty="0">
                <a:solidFill>
                  <a:srgbClr val="CBD5E1"/>
                </a:solidFill>
              </a:rPr>
              <a:t>──────────────</a:t>
            </a:r>
            <a:endParaRPr lang="en-US" sz="1000" dirty="0"/>
          </a:p>
          <a:p>
            <a:pPr marL="0" indent="0">
              <a:buNone/>
            </a:pPr>
            <a:r>
              <a:rPr lang="en-US" sz="1000" dirty="0">
                <a:solidFill>
                  <a:srgbClr val="CBD5E1"/>
                </a:solidFill>
              </a:rPr>
              <a:t>Total: 247 features / window</a:t>
            </a:r>
            <a:endParaRPr lang="en-US" sz="1000" dirty="0"/>
          </a:p>
        </p:txBody>
      </p:sp>
      <p:sp>
        <p:nvSpPr>
          <p:cNvPr id="32" name="Shape 30"/>
          <p:cNvSpPr/>
          <p:nvPr/>
        </p:nvSpPr>
        <p:spPr>
          <a:xfrm>
            <a:off x="6848856" y="1005840"/>
            <a:ext cx="2011680" cy="3886200"/>
          </a:xfrm>
          <a:prstGeom prst="rect">
            <a:avLst/>
          </a:prstGeom>
          <a:solidFill>
            <a:srgbClr val="0D1B2A"/>
          </a:solidFill>
          <a:ln/>
          <a:effectLst>
            <a:outerShdw blurRad="101600" dist="38100" dir="8100000" algn="bl" rotWithShape="0">
              <a:srgbClr val="000000">
                <a:alpha val="25000"/>
              </a:srgbClr>
            </a:outerShdw>
          </a:effectLst>
        </p:spPr>
        <p:txBody>
          <a:bodyPr/>
          <a:lstStyle/>
          <a:p>
            <a:endParaRPr lang="en-US"/>
          </a:p>
        </p:txBody>
      </p:sp>
      <p:sp>
        <p:nvSpPr>
          <p:cNvPr id="33" name="Shape 31"/>
          <p:cNvSpPr/>
          <p:nvPr/>
        </p:nvSpPr>
        <p:spPr>
          <a:xfrm>
            <a:off x="6848856" y="1005840"/>
            <a:ext cx="2011680" cy="91440"/>
          </a:xfrm>
          <a:prstGeom prst="rect">
            <a:avLst/>
          </a:prstGeom>
          <a:solidFill>
            <a:srgbClr val="A855F7"/>
          </a:solidFill>
          <a:ln/>
        </p:spPr>
        <p:txBody>
          <a:bodyPr/>
          <a:lstStyle/>
          <a:p>
            <a:endParaRPr lang="en-US"/>
          </a:p>
        </p:txBody>
      </p:sp>
      <p:sp>
        <p:nvSpPr>
          <p:cNvPr id="34" name="Text 32"/>
          <p:cNvSpPr/>
          <p:nvPr/>
        </p:nvSpPr>
        <p:spPr>
          <a:xfrm>
            <a:off x="6848856" y="1078992"/>
            <a:ext cx="2011680" cy="502920"/>
          </a:xfrm>
          <a:prstGeom prst="rect">
            <a:avLst/>
          </a:prstGeom>
          <a:noFill/>
          <a:ln/>
        </p:spPr>
        <p:txBody>
          <a:bodyPr wrap="square" lIns="0" tIns="0" rIns="0" bIns="0" rtlCol="0" anchor="ctr"/>
          <a:lstStyle/>
          <a:p>
            <a:pPr marL="0" indent="0" algn="ctr">
              <a:buNone/>
            </a:pPr>
            <a:r>
              <a:rPr lang="en-US" sz="2800" b="1" dirty="0">
                <a:solidFill>
                  <a:srgbClr val="A855F7"/>
                </a:solidFill>
              </a:rPr>
              <a:t>04</a:t>
            </a:r>
            <a:endParaRPr lang="en-US" sz="2800" dirty="0"/>
          </a:p>
        </p:txBody>
      </p:sp>
      <p:sp>
        <p:nvSpPr>
          <p:cNvPr id="35" name="Text 33"/>
          <p:cNvSpPr/>
          <p:nvPr/>
        </p:nvSpPr>
        <p:spPr>
          <a:xfrm>
            <a:off x="6940296" y="1572768"/>
            <a:ext cx="1828800" cy="411480"/>
          </a:xfrm>
          <a:prstGeom prst="rect">
            <a:avLst/>
          </a:prstGeom>
          <a:noFill/>
          <a:ln/>
        </p:spPr>
        <p:txBody>
          <a:bodyPr wrap="square" lIns="0" tIns="0" rIns="0" bIns="0" rtlCol="0" anchor="ctr"/>
          <a:lstStyle/>
          <a:p>
            <a:pPr marL="0" indent="0" algn="ctr">
              <a:buNone/>
            </a:pPr>
            <a:r>
              <a:rPr lang="en-US" sz="1200" b="1" dirty="0">
                <a:solidFill>
                  <a:srgbClr val="FFFFFF"/>
                </a:solidFill>
              </a:rPr>
              <a:t>Model &amp; Aggregation</a:t>
            </a:r>
            <a:endParaRPr lang="en-US" sz="1200" dirty="0"/>
          </a:p>
        </p:txBody>
      </p:sp>
      <p:sp>
        <p:nvSpPr>
          <p:cNvPr id="36" name="Shape 34"/>
          <p:cNvSpPr/>
          <p:nvPr/>
        </p:nvSpPr>
        <p:spPr>
          <a:xfrm>
            <a:off x="7031736" y="2029968"/>
            <a:ext cx="1645920" cy="27432"/>
          </a:xfrm>
          <a:prstGeom prst="rect">
            <a:avLst/>
          </a:prstGeom>
          <a:solidFill>
            <a:srgbClr val="1E3347"/>
          </a:solidFill>
          <a:ln/>
        </p:spPr>
        <p:txBody>
          <a:bodyPr/>
          <a:lstStyle/>
          <a:p>
            <a:endParaRPr lang="en-US"/>
          </a:p>
        </p:txBody>
      </p:sp>
      <p:sp>
        <p:nvSpPr>
          <p:cNvPr id="37" name="Text 35"/>
          <p:cNvSpPr/>
          <p:nvPr/>
        </p:nvSpPr>
        <p:spPr>
          <a:xfrm>
            <a:off x="6986016" y="2121408"/>
            <a:ext cx="1737360" cy="749808"/>
          </a:xfrm>
          <a:prstGeom prst="rect">
            <a:avLst/>
          </a:prstGeom>
          <a:noFill/>
          <a:ln/>
        </p:spPr>
        <p:txBody>
          <a:bodyPr wrap="square" lIns="0" tIns="0" rIns="0" bIns="0" rtlCol="0" anchor="ctr"/>
          <a:lstStyle/>
          <a:p>
            <a:pPr marL="0" indent="0">
              <a:buNone/>
            </a:pPr>
            <a:r>
              <a:rPr lang="en-US" sz="1000" dirty="0">
                <a:solidFill>
                  <a:srgbClr val="CBD5E1"/>
                </a:solidFill>
              </a:rPr>
              <a:t>XGBoost on feature vectors</a:t>
            </a:r>
            <a:endParaRPr lang="en-US" sz="1000" dirty="0"/>
          </a:p>
          <a:p>
            <a:pPr marL="0" indent="0">
              <a:buNone/>
            </a:pPr>
            <a:r>
              <a:rPr lang="en-US" sz="1000" dirty="0">
                <a:solidFill>
                  <a:srgbClr val="CBD5E1"/>
                </a:solidFill>
              </a:rPr>
              <a:t>EEGNet on raw windows</a:t>
            </a:r>
            <a:endParaRPr lang="en-US" sz="1000" dirty="0"/>
          </a:p>
        </p:txBody>
      </p:sp>
      <p:sp>
        <p:nvSpPr>
          <p:cNvPr id="38" name="Text 36"/>
          <p:cNvSpPr/>
          <p:nvPr/>
        </p:nvSpPr>
        <p:spPr>
          <a:xfrm>
            <a:off x="6986016" y="2926080"/>
            <a:ext cx="1737360" cy="749808"/>
          </a:xfrm>
          <a:prstGeom prst="rect">
            <a:avLst/>
          </a:prstGeom>
          <a:noFill/>
          <a:ln/>
        </p:spPr>
        <p:txBody>
          <a:bodyPr wrap="square" lIns="0" tIns="0" rIns="0" bIns="0" rtlCol="0" anchor="ctr"/>
          <a:lstStyle/>
          <a:p>
            <a:pPr marL="0" indent="0">
              <a:buNone/>
            </a:pPr>
            <a:r>
              <a:rPr lang="en-US" sz="1000" dirty="0">
                <a:solidFill>
                  <a:srgbClr val="CBD5E1"/>
                </a:solidFill>
              </a:rPr>
              <a:t>Subject-level aggregation:</a:t>
            </a:r>
            <a:endParaRPr lang="en-US" sz="1000" dirty="0"/>
          </a:p>
          <a:p>
            <a:pPr marL="0" indent="0">
              <a:buNone/>
            </a:pPr>
            <a:r>
              <a:rPr lang="en-US" sz="1000" dirty="0">
                <a:solidFill>
                  <a:srgbClr val="CBD5E1"/>
                </a:solidFill>
              </a:rPr>
              <a:t>mean probability voting</a:t>
            </a:r>
            <a:endParaRPr lang="en-US" sz="1000" dirty="0"/>
          </a:p>
        </p:txBody>
      </p:sp>
      <p:sp>
        <p:nvSpPr>
          <p:cNvPr id="39" name="Text 37"/>
          <p:cNvSpPr/>
          <p:nvPr/>
        </p:nvSpPr>
        <p:spPr>
          <a:xfrm>
            <a:off x="6986016" y="3730752"/>
            <a:ext cx="1737360" cy="749808"/>
          </a:xfrm>
          <a:prstGeom prst="rect">
            <a:avLst/>
          </a:prstGeom>
          <a:noFill/>
          <a:ln/>
        </p:spPr>
        <p:txBody>
          <a:bodyPr wrap="square" lIns="0" tIns="0" rIns="0" bIns="0" rtlCol="0" anchor="ctr"/>
          <a:lstStyle/>
          <a:p>
            <a:pPr marL="0" indent="0">
              <a:buNone/>
            </a:pPr>
            <a:r>
              <a:rPr lang="en-US" sz="1000" dirty="0">
                <a:solidFill>
                  <a:srgbClr val="CBD5E1"/>
                </a:solidFill>
              </a:rPr>
              <a:t>Threshold tuned on</a:t>
            </a:r>
            <a:endParaRPr lang="en-US" sz="1000" dirty="0"/>
          </a:p>
          <a:p>
            <a:pPr marL="0" indent="0">
              <a:buNone/>
            </a:pPr>
            <a:r>
              <a:rPr lang="en-US" sz="1000" dirty="0">
                <a:solidFill>
                  <a:srgbClr val="CBD5E1"/>
                </a:solidFill>
              </a:rPr>
              <a:t>OOF subject predictions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EF4444"/>
          </a:solidFill>
          <a:ln/>
        </p:spPr>
        <p:txBody>
          <a:bodyPr/>
          <a:lstStyle/>
          <a:p>
            <a:endParaRPr lang="en-US"/>
          </a:p>
        </p:txBody>
      </p:sp>
      <p:sp>
        <p:nvSpPr>
          <p:cNvPr id="3" name="Text 1"/>
          <p:cNvSpPr/>
          <p:nvPr/>
        </p:nvSpPr>
        <p:spPr>
          <a:xfrm>
            <a:off x="365760" y="201168"/>
            <a:ext cx="2743200" cy="274320"/>
          </a:xfrm>
          <a:prstGeom prst="rect">
            <a:avLst/>
          </a:prstGeom>
          <a:noFill/>
          <a:ln/>
        </p:spPr>
        <p:txBody>
          <a:bodyPr wrap="square" lIns="0" tIns="0" rIns="0" bIns="0" rtlCol="0" anchor="ctr"/>
          <a:lstStyle/>
          <a:p>
            <a:pPr marL="0" indent="0">
              <a:buNone/>
            </a:pPr>
            <a:r>
              <a:rPr lang="en-US" sz="1100" b="1" dirty="0">
                <a:solidFill>
                  <a:srgbClr val="FCA5A5"/>
                </a:solidFill>
              </a:rPr>
              <a:t>Validation</a:t>
            </a:r>
            <a:endParaRPr lang="en-US" sz="1100" dirty="0"/>
          </a:p>
        </p:txBody>
      </p:sp>
      <p:sp>
        <p:nvSpPr>
          <p:cNvPr id="4" name="Text 2"/>
          <p:cNvSpPr/>
          <p:nvPr/>
        </p:nvSpPr>
        <p:spPr>
          <a:xfrm>
            <a:off x="365760" y="457200"/>
            <a:ext cx="5943600" cy="91440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Subject-wise validation</a:t>
            </a:r>
            <a:endParaRPr lang="en-US" sz="2800" dirty="0"/>
          </a:p>
          <a:p>
            <a:pPr marL="0" indent="0">
              <a:buNone/>
            </a:pPr>
            <a:r>
              <a:rPr lang="en-US" sz="2800" b="1" dirty="0">
                <a:solidFill>
                  <a:srgbClr val="FFFFFF"/>
                </a:solidFill>
                <a:latin typeface="Calibri" pitchFamily="34" charset="0"/>
                <a:ea typeface="Calibri" pitchFamily="34" charset="-122"/>
                <a:cs typeface="Calibri" pitchFamily="34" charset="-120"/>
              </a:rPr>
              <a:t>is the ethics of AI</a:t>
            </a:r>
            <a:endParaRPr lang="en-US" sz="2800" dirty="0"/>
          </a:p>
        </p:txBody>
      </p:sp>
      <p:sp>
        <p:nvSpPr>
          <p:cNvPr id="5" name="Shape 3"/>
          <p:cNvSpPr/>
          <p:nvPr/>
        </p:nvSpPr>
        <p:spPr>
          <a:xfrm>
            <a:off x="320040" y="1508760"/>
            <a:ext cx="4069080" cy="3337560"/>
          </a:xfrm>
          <a:prstGeom prst="rect">
            <a:avLst/>
          </a:prstGeom>
          <a:solidFill>
            <a:srgbClr val="1E3347"/>
          </a:solidFill>
          <a:ln/>
          <a:effectLst>
            <a:outerShdw blurRad="101600" dist="38100" dir="8100000" algn="bl" rotWithShape="0">
              <a:srgbClr val="000000">
                <a:alpha val="25000"/>
              </a:srgbClr>
            </a:outerShdw>
          </a:effectLst>
        </p:spPr>
        <p:txBody>
          <a:bodyPr/>
          <a:lstStyle/>
          <a:p>
            <a:endParaRPr lang="en-US"/>
          </a:p>
        </p:txBody>
      </p:sp>
      <p:sp>
        <p:nvSpPr>
          <p:cNvPr id="6" name="Shape 4"/>
          <p:cNvSpPr/>
          <p:nvPr/>
        </p:nvSpPr>
        <p:spPr>
          <a:xfrm>
            <a:off x="320040" y="1508760"/>
            <a:ext cx="4069080" cy="109728"/>
          </a:xfrm>
          <a:prstGeom prst="rect">
            <a:avLst/>
          </a:prstGeom>
          <a:solidFill>
            <a:srgbClr val="EF4444"/>
          </a:solidFill>
          <a:ln/>
        </p:spPr>
        <p:txBody>
          <a:bodyPr/>
          <a:lstStyle/>
          <a:p>
            <a:endParaRPr lang="en-US"/>
          </a:p>
        </p:txBody>
      </p:sp>
      <p:sp>
        <p:nvSpPr>
          <p:cNvPr id="7" name="Text 5"/>
          <p:cNvSpPr/>
          <p:nvPr/>
        </p:nvSpPr>
        <p:spPr>
          <a:xfrm>
            <a:off x="457200" y="1581912"/>
            <a:ext cx="3749040" cy="365760"/>
          </a:xfrm>
          <a:prstGeom prst="rect">
            <a:avLst/>
          </a:prstGeom>
          <a:noFill/>
          <a:ln/>
        </p:spPr>
        <p:txBody>
          <a:bodyPr wrap="square" lIns="0" tIns="0" rIns="0" bIns="0" rtlCol="0" anchor="ctr"/>
          <a:lstStyle/>
          <a:p>
            <a:pPr marL="0" indent="0">
              <a:buNone/>
            </a:pPr>
            <a:r>
              <a:rPr lang="en-US" sz="1300" b="1" dirty="0">
                <a:solidFill>
                  <a:srgbClr val="EF4444"/>
                </a:solidFill>
              </a:rPr>
              <a:t>❌  Random Segment Split</a:t>
            </a:r>
            <a:endParaRPr lang="en-US" sz="1300" dirty="0"/>
          </a:p>
        </p:txBody>
      </p:sp>
      <p:sp>
        <p:nvSpPr>
          <p:cNvPr id="8" name="Text 6"/>
          <p:cNvSpPr/>
          <p:nvPr/>
        </p:nvSpPr>
        <p:spPr>
          <a:xfrm>
            <a:off x="457200" y="2011680"/>
            <a:ext cx="3749040" cy="2651760"/>
          </a:xfrm>
          <a:prstGeom prst="rect">
            <a:avLst/>
          </a:prstGeom>
          <a:noFill/>
          <a:ln/>
        </p:spPr>
        <p:txBody>
          <a:bodyPr wrap="square" lIns="0" tIns="0" rIns="0" bIns="0" rtlCol="0" anchor="ctr"/>
          <a:lstStyle/>
          <a:p>
            <a:pPr marL="0" indent="0">
              <a:buNone/>
            </a:pPr>
            <a:r>
              <a:rPr lang="en-US" sz="1100" dirty="0">
                <a:solidFill>
                  <a:srgbClr val="FCA5A5"/>
                </a:solidFill>
              </a:rPr>
              <a:t>Subject A — 14 windows split randomly across train and test
</a:t>
            </a:r>
            <a:r>
              <a:rPr lang="en-US" sz="1100" dirty="0">
                <a:solidFill>
                  <a:srgbClr val="CBD5E1"/>
                </a:solidFill>
              </a:rPr>
              <a:t>→ Model sees Subject A's brain patterns in training
→ Then 'predicts' Subject A's held-out windows
</a:t>
            </a:r>
            <a:r>
              <a:rPr lang="en-US" sz="1100" b="1" dirty="0">
                <a:solidFill>
                  <a:srgbClr val="EF4444"/>
                </a:solidFill>
              </a:rPr>
              <a:t>This is identity confounding, not disease prediction.
</a:t>
            </a:r>
            <a:r>
              <a:rPr lang="en-US" sz="1100" dirty="0">
                <a:solidFill>
                  <a:srgbClr val="CBD5E1"/>
                </a:solidFill>
              </a:rPr>
              <a:t>The model learns who the person is, not what disease they have.
</a:t>
            </a:r>
            <a:r>
              <a:rPr lang="en-US" sz="1100" b="1" dirty="0">
                <a:solidFill>
                  <a:srgbClr val="EF4444"/>
                </a:solidFill>
              </a:rPr>
              <a:t>Reported accuracy: ~95%
</a:t>
            </a:r>
            <a:r>
              <a:rPr lang="en-US" sz="1100" dirty="0">
                <a:solidFill>
                  <a:srgbClr val="CBD5E1"/>
                </a:solidFill>
              </a:rPr>
              <a:t>True clinical accuracy: ~50% (chance)</a:t>
            </a:r>
            <a:endParaRPr lang="en-US" sz="1100" dirty="0"/>
          </a:p>
        </p:txBody>
      </p:sp>
      <p:sp>
        <p:nvSpPr>
          <p:cNvPr id="9" name="Shape 7"/>
          <p:cNvSpPr/>
          <p:nvPr/>
        </p:nvSpPr>
        <p:spPr>
          <a:xfrm>
            <a:off x="4709160" y="1508760"/>
            <a:ext cx="4206240" cy="3337560"/>
          </a:xfrm>
          <a:prstGeom prst="rect">
            <a:avLst/>
          </a:prstGeom>
          <a:solidFill>
            <a:srgbClr val="1E3347"/>
          </a:solidFill>
          <a:ln/>
          <a:effectLst>
            <a:outerShdw blurRad="101600" dist="38100" dir="8100000" algn="bl" rotWithShape="0">
              <a:srgbClr val="000000">
                <a:alpha val="25000"/>
              </a:srgbClr>
            </a:outerShdw>
          </a:effectLst>
        </p:spPr>
        <p:txBody>
          <a:bodyPr/>
          <a:lstStyle/>
          <a:p>
            <a:endParaRPr lang="en-US"/>
          </a:p>
        </p:txBody>
      </p:sp>
      <p:sp>
        <p:nvSpPr>
          <p:cNvPr id="10" name="Shape 8"/>
          <p:cNvSpPr/>
          <p:nvPr/>
        </p:nvSpPr>
        <p:spPr>
          <a:xfrm>
            <a:off x="4709160" y="1508760"/>
            <a:ext cx="4206240" cy="109728"/>
          </a:xfrm>
          <a:prstGeom prst="rect">
            <a:avLst/>
          </a:prstGeom>
          <a:solidFill>
            <a:srgbClr val="02C39A"/>
          </a:solidFill>
          <a:ln/>
        </p:spPr>
        <p:txBody>
          <a:bodyPr/>
          <a:lstStyle/>
          <a:p>
            <a:endParaRPr lang="en-US"/>
          </a:p>
        </p:txBody>
      </p:sp>
      <p:sp>
        <p:nvSpPr>
          <p:cNvPr id="11" name="Text 9"/>
          <p:cNvSpPr/>
          <p:nvPr/>
        </p:nvSpPr>
        <p:spPr>
          <a:xfrm>
            <a:off x="4846320" y="1581912"/>
            <a:ext cx="3931920" cy="365760"/>
          </a:xfrm>
          <a:prstGeom prst="rect">
            <a:avLst/>
          </a:prstGeom>
          <a:noFill/>
          <a:ln/>
        </p:spPr>
        <p:txBody>
          <a:bodyPr wrap="square" lIns="0" tIns="0" rIns="0" bIns="0" rtlCol="0" anchor="ctr"/>
          <a:lstStyle/>
          <a:p>
            <a:pPr marL="0" indent="0">
              <a:buNone/>
            </a:pPr>
            <a:r>
              <a:rPr lang="en-US" sz="1300" b="1" dirty="0">
                <a:solidFill>
                  <a:srgbClr val="02C39A"/>
                </a:solidFill>
              </a:rPr>
              <a:t>✓  Subject-wise Group Split</a:t>
            </a:r>
            <a:endParaRPr lang="en-US" sz="1300" dirty="0"/>
          </a:p>
        </p:txBody>
      </p:sp>
      <p:sp>
        <p:nvSpPr>
          <p:cNvPr id="12" name="Text 10"/>
          <p:cNvSpPr/>
          <p:nvPr/>
        </p:nvSpPr>
        <p:spPr>
          <a:xfrm>
            <a:off x="4846320" y="2011680"/>
            <a:ext cx="3931920" cy="2651760"/>
          </a:xfrm>
          <a:prstGeom prst="rect">
            <a:avLst/>
          </a:prstGeom>
          <a:noFill/>
          <a:ln/>
        </p:spPr>
        <p:txBody>
          <a:bodyPr wrap="square" lIns="0" tIns="0" rIns="0" bIns="0" rtlCol="0" anchor="ctr"/>
          <a:lstStyle/>
          <a:p>
            <a:pPr marL="0" indent="0">
              <a:buNone/>
            </a:pPr>
            <a:r>
              <a:rPr lang="en-US" sz="1100" dirty="0">
                <a:solidFill>
                  <a:srgbClr val="CBD5E1"/>
                </a:solidFill>
              </a:rPr>
              <a:t>All windows from Subject A stay in ONE fold
</a:t>
            </a:r>
            <a:r>
              <a:rPr lang="en-US" sz="1100" b="1" dirty="0">
                <a:solidFill>
                  <a:srgbClr val="02C39A"/>
                </a:solidFill>
              </a:rPr>
              <a:t>StratifiedGroupKFold</a:t>
            </a:r>
            <a:r>
              <a:rPr lang="en-US" sz="1100" dirty="0">
                <a:solidFill>
                  <a:srgbClr val="CBD5E1"/>
                </a:solidFill>
              </a:rPr>
              <a:t> — groups = subject_id
</a:t>
            </a:r>
            <a:r>
              <a:rPr lang="en-US" sz="1100" b="1" dirty="0">
                <a:solidFill>
                  <a:srgbClr val="FFFFFF"/>
                </a:solidFill>
              </a:rPr>
              <a:t>Guarantees:
</a:t>
            </a:r>
            <a:r>
              <a:rPr lang="en-US" sz="1100" dirty="0">
                <a:solidFill>
                  <a:srgbClr val="CBD5E1"/>
                </a:solidFill>
              </a:rPr>
              <a:t>  • Zero subject overlap between train/val
  • Scaler fit on training subjects only
  • SMOTE/augment only after split
</a:t>
            </a:r>
            <a:r>
              <a:rPr lang="en-US" sz="1100" b="1" dirty="0">
                <a:solidFill>
                  <a:srgbClr val="02C39A"/>
                </a:solidFill>
              </a:rPr>
              <a:t>Our reported F1 = 0.821 reflects</a:t>
            </a:r>
            <a:endParaRPr lang="en-US" sz="1100" dirty="0"/>
          </a:p>
          <a:p>
            <a:pPr marL="0" indent="0">
              <a:buNone/>
            </a:pPr>
            <a:r>
              <a:rPr lang="en-US" sz="1100" b="1" dirty="0">
                <a:solidFill>
                  <a:srgbClr val="02C39A"/>
                </a:solidFill>
              </a:rPr>
              <a:t>performance on subjects the model has never seen.</a:t>
            </a:r>
            <a:endParaRPr lang="en-US" sz="1100" dirty="0"/>
          </a:p>
        </p:txBody>
      </p:sp>
      <p:sp>
        <p:nvSpPr>
          <p:cNvPr id="13" name="Text 11"/>
          <p:cNvSpPr/>
          <p:nvPr/>
        </p:nvSpPr>
        <p:spPr>
          <a:xfrm>
            <a:off x="320040" y="4754880"/>
            <a:ext cx="8595360" cy="274320"/>
          </a:xfrm>
          <a:prstGeom prst="rect">
            <a:avLst/>
          </a:prstGeom>
          <a:noFill/>
          <a:ln/>
        </p:spPr>
        <p:txBody>
          <a:bodyPr wrap="square" lIns="0" tIns="0" rIns="0" bIns="0" rtlCol="0" anchor="ctr"/>
          <a:lstStyle/>
          <a:p>
            <a:pPr marL="0" indent="0">
              <a:buNone/>
            </a:pPr>
            <a:r>
              <a:rPr lang="en-US" sz="900" i="1" dirty="0">
                <a:solidFill>
                  <a:srgbClr val="CBD5E1"/>
                </a:solidFill>
              </a:rPr>
              <a:t>Literature note: Mehrabi et al. (2024) showed that random segment splitting inflates reported accuracy by 30–40% on EEG dementia datasets.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9E0B"/>
          </a:solidFill>
          <a:ln/>
        </p:spPr>
        <p:txBody>
          <a:bodyPr/>
          <a:lstStyle/>
          <a:p>
            <a:endParaRPr lang="en-US"/>
          </a:p>
        </p:txBody>
      </p:sp>
      <p:sp>
        <p:nvSpPr>
          <p:cNvPr id="3" name="Text 1"/>
          <p:cNvSpPr/>
          <p:nvPr/>
        </p:nvSpPr>
        <p:spPr>
          <a:xfrm>
            <a:off x="365760" y="201168"/>
            <a:ext cx="1828800" cy="274320"/>
          </a:xfrm>
          <a:prstGeom prst="rect">
            <a:avLst/>
          </a:prstGeom>
          <a:noFill/>
          <a:ln/>
        </p:spPr>
        <p:txBody>
          <a:bodyPr wrap="square" lIns="0" tIns="0" rIns="0" bIns="0" rtlCol="0" anchor="ctr"/>
          <a:lstStyle/>
          <a:p>
            <a:pPr marL="0" indent="0">
              <a:buNone/>
            </a:pPr>
            <a:r>
              <a:rPr lang="en-US" sz="1100" b="1" dirty="0">
                <a:solidFill>
                  <a:srgbClr val="F59E0B"/>
                </a:solidFill>
              </a:rPr>
              <a:t>Features</a:t>
            </a:r>
            <a:endParaRPr lang="en-US" sz="11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marL="0" indent="0">
              <a:buNone/>
            </a:pPr>
            <a:r>
              <a:rPr lang="en-US" sz="2200" b="1" dirty="0">
                <a:solidFill>
                  <a:srgbClr val="0D1B2A"/>
                </a:solidFill>
                <a:latin typeface="Calibri" pitchFamily="34" charset="0"/>
                <a:ea typeface="Calibri" pitchFamily="34" charset="-122"/>
                <a:cs typeface="Calibri" pitchFamily="34" charset="-120"/>
              </a:rPr>
              <a:t>Neurophysiologically-grounded Feature Engineering</a:t>
            </a:r>
            <a:endParaRPr lang="en-US" sz="2200" dirty="0"/>
          </a:p>
        </p:txBody>
      </p:sp>
      <p:sp>
        <p:nvSpPr>
          <p:cNvPr id="5" name="Shape 3"/>
          <p:cNvSpPr/>
          <p:nvPr/>
        </p:nvSpPr>
        <p:spPr>
          <a:xfrm>
            <a:off x="320040" y="1005840"/>
            <a:ext cx="4160520" cy="1783080"/>
          </a:xfrm>
          <a:prstGeom prst="rect">
            <a:avLst/>
          </a:prstGeom>
          <a:solidFill>
            <a:srgbClr val="0D1B2A"/>
          </a:solidFill>
          <a:ln/>
          <a:effectLst>
            <a:outerShdw blurRad="101600" dist="38100" dir="8100000" algn="bl" rotWithShape="0">
              <a:srgbClr val="000000">
                <a:alpha val="25000"/>
              </a:srgbClr>
            </a:outerShdw>
          </a:effectLst>
        </p:spPr>
        <p:txBody>
          <a:bodyPr/>
          <a:lstStyle/>
          <a:p>
            <a:endParaRPr lang="en-US"/>
          </a:p>
        </p:txBody>
      </p:sp>
      <p:sp>
        <p:nvSpPr>
          <p:cNvPr id="6" name="Shape 4"/>
          <p:cNvSpPr/>
          <p:nvPr/>
        </p:nvSpPr>
        <p:spPr>
          <a:xfrm>
            <a:off x="320040" y="1005840"/>
            <a:ext cx="91440" cy="1783080"/>
          </a:xfrm>
          <a:prstGeom prst="rect">
            <a:avLst/>
          </a:prstGeom>
          <a:solidFill>
            <a:srgbClr val="0A7EA4"/>
          </a:solidFill>
          <a:ln/>
        </p:spPr>
        <p:txBody>
          <a:bodyPr/>
          <a:lstStyle/>
          <a:p>
            <a:endParaRPr lang="en-US"/>
          </a:p>
        </p:txBody>
      </p:sp>
      <p:sp>
        <p:nvSpPr>
          <p:cNvPr id="7" name="Shape 5"/>
          <p:cNvSpPr/>
          <p:nvPr/>
        </p:nvSpPr>
        <p:spPr>
          <a:xfrm>
            <a:off x="411480" y="1005840"/>
            <a:ext cx="4069080" cy="438912"/>
          </a:xfrm>
          <a:prstGeom prst="rect">
            <a:avLst/>
          </a:prstGeom>
          <a:solidFill>
            <a:srgbClr val="132030"/>
          </a:solidFill>
          <a:ln/>
        </p:spPr>
        <p:txBody>
          <a:bodyPr/>
          <a:lstStyle/>
          <a:p>
            <a:endParaRPr lang="en-US"/>
          </a:p>
        </p:txBody>
      </p:sp>
      <p:sp>
        <p:nvSpPr>
          <p:cNvPr id="8" name="Text 6"/>
          <p:cNvSpPr/>
          <p:nvPr/>
        </p:nvSpPr>
        <p:spPr>
          <a:xfrm>
            <a:off x="484632" y="1060704"/>
            <a:ext cx="594360" cy="329184"/>
          </a:xfrm>
          <a:prstGeom prst="rect">
            <a:avLst/>
          </a:prstGeom>
          <a:noFill/>
          <a:ln/>
        </p:spPr>
        <p:txBody>
          <a:bodyPr wrap="square" lIns="0" tIns="0" rIns="0" bIns="0" rtlCol="0" anchor="ctr"/>
          <a:lstStyle/>
          <a:p>
            <a:pPr marL="0" indent="0">
              <a:buNone/>
            </a:pPr>
            <a:r>
              <a:rPr lang="en-US" sz="1300" b="1" dirty="0">
                <a:solidFill>
                  <a:srgbClr val="0A7EA4"/>
                </a:solidFill>
              </a:rPr>
              <a:t>RBP</a:t>
            </a:r>
            <a:endParaRPr lang="en-US" sz="1300" dirty="0"/>
          </a:p>
        </p:txBody>
      </p:sp>
      <p:sp>
        <p:nvSpPr>
          <p:cNvPr id="9" name="Text 7"/>
          <p:cNvSpPr/>
          <p:nvPr/>
        </p:nvSpPr>
        <p:spPr>
          <a:xfrm>
            <a:off x="1097280" y="1097280"/>
            <a:ext cx="2560320" cy="256032"/>
          </a:xfrm>
          <a:prstGeom prst="rect">
            <a:avLst/>
          </a:prstGeom>
          <a:noFill/>
          <a:ln/>
        </p:spPr>
        <p:txBody>
          <a:bodyPr wrap="square" lIns="0" tIns="0" rIns="0" bIns="0" rtlCol="0" anchor="ctr"/>
          <a:lstStyle/>
          <a:p>
            <a:pPr marL="0" indent="0">
              <a:buNone/>
            </a:pPr>
            <a:r>
              <a:rPr lang="en-US" sz="1100" b="1" dirty="0">
                <a:solidFill>
                  <a:srgbClr val="FFFFFF"/>
                </a:solidFill>
              </a:rPr>
              <a:t>Relative Band Power</a:t>
            </a:r>
            <a:endParaRPr lang="en-US" sz="1100" dirty="0"/>
          </a:p>
        </p:txBody>
      </p:sp>
      <p:sp>
        <p:nvSpPr>
          <p:cNvPr id="10" name="Shape 8"/>
          <p:cNvSpPr/>
          <p:nvPr/>
        </p:nvSpPr>
        <p:spPr>
          <a:xfrm>
            <a:off x="3703320" y="1097280"/>
            <a:ext cx="640080" cy="256032"/>
          </a:xfrm>
          <a:prstGeom prst="rect">
            <a:avLst/>
          </a:prstGeom>
          <a:solidFill>
            <a:srgbClr val="0A7EA4"/>
          </a:solidFill>
          <a:ln/>
        </p:spPr>
        <p:txBody>
          <a:bodyPr/>
          <a:lstStyle/>
          <a:p>
            <a:endParaRPr lang="en-US"/>
          </a:p>
        </p:txBody>
      </p:sp>
      <p:sp>
        <p:nvSpPr>
          <p:cNvPr id="11" name="Text 9"/>
          <p:cNvSpPr/>
          <p:nvPr/>
        </p:nvSpPr>
        <p:spPr>
          <a:xfrm>
            <a:off x="3703320" y="1097280"/>
            <a:ext cx="640080" cy="256032"/>
          </a:xfrm>
          <a:prstGeom prst="rect">
            <a:avLst/>
          </a:prstGeom>
          <a:noFill/>
          <a:ln/>
        </p:spPr>
        <p:txBody>
          <a:bodyPr wrap="square" lIns="0" tIns="0" rIns="0" bIns="0" rtlCol="0" anchor="ctr"/>
          <a:lstStyle/>
          <a:p>
            <a:pPr marL="0" indent="0" algn="ctr">
              <a:buNone/>
            </a:pPr>
            <a:r>
              <a:rPr lang="en-US" sz="900" b="1" dirty="0">
                <a:solidFill>
                  <a:srgbClr val="FFFFFF"/>
                </a:solidFill>
              </a:rPr>
              <a:t>95 feat</a:t>
            </a:r>
            <a:endParaRPr lang="en-US" sz="900" dirty="0"/>
          </a:p>
        </p:txBody>
      </p:sp>
      <p:sp>
        <p:nvSpPr>
          <p:cNvPr id="12" name="Text 10"/>
          <p:cNvSpPr/>
          <p:nvPr/>
        </p:nvSpPr>
        <p:spPr>
          <a:xfrm>
            <a:off x="484632" y="1499616"/>
            <a:ext cx="3840480" cy="274320"/>
          </a:xfrm>
          <a:prstGeom prst="rect">
            <a:avLst/>
          </a:prstGeom>
          <a:noFill/>
          <a:ln/>
        </p:spPr>
        <p:txBody>
          <a:bodyPr wrap="square" lIns="0" tIns="0" rIns="0" bIns="0" rtlCol="0" anchor="ctr"/>
          <a:lstStyle/>
          <a:p>
            <a:pPr marL="0" indent="0">
              <a:buNone/>
            </a:pPr>
            <a:r>
              <a:rPr lang="en-US" sz="1000" i="1" dirty="0">
                <a:solidFill>
                  <a:srgbClr val="0A7EA4"/>
                </a:solidFill>
              </a:rPr>
              <a:t>RBP_band = P_band / P_total</a:t>
            </a:r>
            <a:endParaRPr lang="en-US" sz="1000" dirty="0"/>
          </a:p>
        </p:txBody>
      </p:sp>
      <p:sp>
        <p:nvSpPr>
          <p:cNvPr id="13" name="Text 11"/>
          <p:cNvSpPr/>
          <p:nvPr/>
        </p:nvSpPr>
        <p:spPr>
          <a:xfrm>
            <a:off x="484632" y="1773936"/>
            <a:ext cx="3840480" cy="502920"/>
          </a:xfrm>
          <a:prstGeom prst="rect">
            <a:avLst/>
          </a:prstGeom>
          <a:noFill/>
          <a:ln/>
        </p:spPr>
        <p:txBody>
          <a:bodyPr wrap="square" lIns="0" tIns="0" rIns="0" bIns="0" rtlCol="0" anchor="ctr"/>
          <a:lstStyle/>
          <a:p>
            <a:pPr marL="0" indent="0">
              <a:buNone/>
            </a:pPr>
            <a:r>
              <a:rPr lang="en-US" sz="1000" dirty="0">
                <a:solidFill>
                  <a:srgbClr val="CBD5E1"/>
                </a:solidFill>
              </a:rPr>
              <a:t>Normalises amplitude variation between subjects. Captures spectral slowing — delta↑ theta↑ alpha↓ beta↓ in AD.</a:t>
            </a:r>
            <a:endParaRPr lang="en-US" sz="1000" dirty="0"/>
          </a:p>
        </p:txBody>
      </p:sp>
      <p:sp>
        <p:nvSpPr>
          <p:cNvPr id="14" name="Text 12"/>
          <p:cNvSpPr/>
          <p:nvPr/>
        </p:nvSpPr>
        <p:spPr>
          <a:xfrm>
            <a:off x="484632" y="2395728"/>
            <a:ext cx="3840480" cy="274320"/>
          </a:xfrm>
          <a:prstGeom prst="rect">
            <a:avLst/>
          </a:prstGeom>
          <a:noFill/>
          <a:ln/>
        </p:spPr>
        <p:txBody>
          <a:bodyPr wrap="square" lIns="0" tIns="0" rIns="0" bIns="0" rtlCol="0" anchor="ctr"/>
          <a:lstStyle/>
          <a:p>
            <a:pPr marL="0" indent="0">
              <a:buNone/>
            </a:pPr>
            <a:r>
              <a:rPr lang="en-US" sz="900" i="1" dirty="0">
                <a:solidFill>
                  <a:srgbClr val="64748B"/>
                </a:solidFill>
              </a:rPr>
              <a:t>Welch PSD, nperseg=512 → 5 bands × 19 channels</a:t>
            </a:r>
            <a:endParaRPr lang="en-US" sz="900" dirty="0"/>
          </a:p>
        </p:txBody>
      </p:sp>
      <p:sp>
        <p:nvSpPr>
          <p:cNvPr id="15" name="Shape 13"/>
          <p:cNvSpPr/>
          <p:nvPr/>
        </p:nvSpPr>
        <p:spPr>
          <a:xfrm>
            <a:off x="4663440" y="1005840"/>
            <a:ext cx="4160520" cy="1783080"/>
          </a:xfrm>
          <a:prstGeom prst="rect">
            <a:avLst/>
          </a:prstGeom>
          <a:solidFill>
            <a:srgbClr val="0D1B2A"/>
          </a:solidFill>
          <a:ln/>
          <a:effectLst>
            <a:outerShdw blurRad="101600" dist="38100" dir="8100000" algn="bl" rotWithShape="0">
              <a:srgbClr val="000000">
                <a:alpha val="25000"/>
              </a:srgbClr>
            </a:outerShdw>
          </a:effectLst>
        </p:spPr>
        <p:txBody>
          <a:bodyPr/>
          <a:lstStyle/>
          <a:p>
            <a:endParaRPr lang="en-US"/>
          </a:p>
        </p:txBody>
      </p:sp>
      <p:sp>
        <p:nvSpPr>
          <p:cNvPr id="16" name="Shape 14"/>
          <p:cNvSpPr/>
          <p:nvPr/>
        </p:nvSpPr>
        <p:spPr>
          <a:xfrm>
            <a:off x="4663440" y="1005840"/>
            <a:ext cx="91440" cy="1783080"/>
          </a:xfrm>
          <a:prstGeom prst="rect">
            <a:avLst/>
          </a:prstGeom>
          <a:solidFill>
            <a:srgbClr val="02C39A"/>
          </a:solidFill>
          <a:ln/>
        </p:spPr>
        <p:txBody>
          <a:bodyPr/>
          <a:lstStyle/>
          <a:p>
            <a:endParaRPr lang="en-US"/>
          </a:p>
        </p:txBody>
      </p:sp>
      <p:sp>
        <p:nvSpPr>
          <p:cNvPr id="17" name="Shape 15"/>
          <p:cNvSpPr/>
          <p:nvPr/>
        </p:nvSpPr>
        <p:spPr>
          <a:xfrm>
            <a:off x="4754880" y="1005840"/>
            <a:ext cx="4069080" cy="438912"/>
          </a:xfrm>
          <a:prstGeom prst="rect">
            <a:avLst/>
          </a:prstGeom>
          <a:solidFill>
            <a:srgbClr val="132030"/>
          </a:solidFill>
          <a:ln/>
        </p:spPr>
        <p:txBody>
          <a:bodyPr/>
          <a:lstStyle/>
          <a:p>
            <a:endParaRPr lang="en-US"/>
          </a:p>
        </p:txBody>
      </p:sp>
      <p:sp>
        <p:nvSpPr>
          <p:cNvPr id="18" name="Text 16"/>
          <p:cNvSpPr/>
          <p:nvPr/>
        </p:nvSpPr>
        <p:spPr>
          <a:xfrm>
            <a:off x="4828032" y="1060704"/>
            <a:ext cx="594360" cy="329184"/>
          </a:xfrm>
          <a:prstGeom prst="rect">
            <a:avLst/>
          </a:prstGeom>
          <a:noFill/>
          <a:ln/>
        </p:spPr>
        <p:txBody>
          <a:bodyPr wrap="square" lIns="0" tIns="0" rIns="0" bIns="0" rtlCol="0" anchor="ctr"/>
          <a:lstStyle/>
          <a:p>
            <a:pPr marL="0" indent="0">
              <a:buNone/>
            </a:pPr>
            <a:r>
              <a:rPr lang="en-US" sz="1300" b="1" dirty="0">
                <a:solidFill>
                  <a:srgbClr val="02C39A"/>
                </a:solidFill>
              </a:rPr>
              <a:t>SCC</a:t>
            </a:r>
            <a:endParaRPr lang="en-US" sz="1300" dirty="0"/>
          </a:p>
        </p:txBody>
      </p:sp>
      <p:sp>
        <p:nvSpPr>
          <p:cNvPr id="19" name="Text 17"/>
          <p:cNvSpPr/>
          <p:nvPr/>
        </p:nvSpPr>
        <p:spPr>
          <a:xfrm>
            <a:off x="5440680" y="1097280"/>
            <a:ext cx="2560320" cy="256032"/>
          </a:xfrm>
          <a:prstGeom prst="rect">
            <a:avLst/>
          </a:prstGeom>
          <a:noFill/>
          <a:ln/>
        </p:spPr>
        <p:txBody>
          <a:bodyPr wrap="square" lIns="0" tIns="0" rIns="0" bIns="0" rtlCol="0" anchor="ctr"/>
          <a:lstStyle/>
          <a:p>
            <a:pPr marL="0" indent="0">
              <a:buNone/>
            </a:pPr>
            <a:r>
              <a:rPr lang="en-US" sz="1100" b="1" dirty="0">
                <a:solidFill>
                  <a:srgbClr val="FFFFFF"/>
                </a:solidFill>
              </a:rPr>
              <a:t>Spectral Coherence Connectivity</a:t>
            </a:r>
            <a:endParaRPr lang="en-US" sz="1100" dirty="0"/>
          </a:p>
        </p:txBody>
      </p:sp>
      <p:sp>
        <p:nvSpPr>
          <p:cNvPr id="20" name="Shape 18"/>
          <p:cNvSpPr/>
          <p:nvPr/>
        </p:nvSpPr>
        <p:spPr>
          <a:xfrm>
            <a:off x="8046720" y="1097280"/>
            <a:ext cx="640080" cy="256032"/>
          </a:xfrm>
          <a:prstGeom prst="rect">
            <a:avLst/>
          </a:prstGeom>
          <a:solidFill>
            <a:srgbClr val="02C39A"/>
          </a:solidFill>
          <a:ln/>
        </p:spPr>
        <p:txBody>
          <a:bodyPr/>
          <a:lstStyle/>
          <a:p>
            <a:endParaRPr lang="en-US"/>
          </a:p>
        </p:txBody>
      </p:sp>
      <p:sp>
        <p:nvSpPr>
          <p:cNvPr id="21" name="Text 19"/>
          <p:cNvSpPr/>
          <p:nvPr/>
        </p:nvSpPr>
        <p:spPr>
          <a:xfrm>
            <a:off x="8046720" y="1097280"/>
            <a:ext cx="640080" cy="256032"/>
          </a:xfrm>
          <a:prstGeom prst="rect">
            <a:avLst/>
          </a:prstGeom>
          <a:noFill/>
          <a:ln/>
        </p:spPr>
        <p:txBody>
          <a:bodyPr wrap="square" lIns="0" tIns="0" rIns="0" bIns="0" rtlCol="0" anchor="ctr"/>
          <a:lstStyle/>
          <a:p>
            <a:pPr marL="0" indent="0" algn="ctr">
              <a:buNone/>
            </a:pPr>
            <a:r>
              <a:rPr lang="en-US" sz="900" b="1" dirty="0">
                <a:solidFill>
                  <a:srgbClr val="FFFFFF"/>
                </a:solidFill>
              </a:rPr>
              <a:t>95 feat</a:t>
            </a:r>
            <a:endParaRPr lang="en-US" sz="900" dirty="0"/>
          </a:p>
        </p:txBody>
      </p:sp>
      <p:sp>
        <p:nvSpPr>
          <p:cNvPr id="22" name="Text 20"/>
          <p:cNvSpPr/>
          <p:nvPr/>
        </p:nvSpPr>
        <p:spPr>
          <a:xfrm>
            <a:off x="4828032" y="1499616"/>
            <a:ext cx="3840480" cy="274320"/>
          </a:xfrm>
          <a:prstGeom prst="rect">
            <a:avLst/>
          </a:prstGeom>
          <a:noFill/>
          <a:ln/>
        </p:spPr>
        <p:txBody>
          <a:bodyPr wrap="square" lIns="0" tIns="0" rIns="0" bIns="0" rtlCol="0" anchor="ctr"/>
          <a:lstStyle/>
          <a:p>
            <a:pPr marL="0" indent="0">
              <a:buNone/>
            </a:pPr>
            <a:r>
              <a:rPr lang="en-US" sz="1000" i="1" dirty="0">
                <a:solidFill>
                  <a:srgbClr val="02C39A"/>
                </a:solidFill>
              </a:rPr>
              <a:t>SCC_x = (1/C) Σ |Sxy| / √(Sxx·Syy)</a:t>
            </a:r>
            <a:endParaRPr lang="en-US" sz="1000" dirty="0"/>
          </a:p>
        </p:txBody>
      </p:sp>
      <p:sp>
        <p:nvSpPr>
          <p:cNvPr id="23" name="Text 21"/>
          <p:cNvSpPr/>
          <p:nvPr/>
        </p:nvSpPr>
        <p:spPr>
          <a:xfrm>
            <a:off x="4828032" y="1773936"/>
            <a:ext cx="3840480" cy="502920"/>
          </a:xfrm>
          <a:prstGeom prst="rect">
            <a:avLst/>
          </a:prstGeom>
          <a:noFill/>
          <a:ln/>
        </p:spPr>
        <p:txBody>
          <a:bodyPr wrap="square" lIns="0" tIns="0" rIns="0" bIns="0" rtlCol="0" anchor="ctr"/>
          <a:lstStyle/>
          <a:p>
            <a:pPr marL="0" indent="0">
              <a:buNone/>
            </a:pPr>
            <a:r>
              <a:rPr lang="en-US" sz="1000" dirty="0">
                <a:solidFill>
                  <a:srgbClr val="CBD5E1"/>
                </a:solidFill>
              </a:rPr>
              <a:t>Captures inter-regional functional disconnection. AD shows reduced alpha/beta coherence between distal nodes.</a:t>
            </a:r>
            <a:endParaRPr lang="en-US" sz="1000" dirty="0"/>
          </a:p>
        </p:txBody>
      </p:sp>
      <p:sp>
        <p:nvSpPr>
          <p:cNvPr id="24" name="Text 22"/>
          <p:cNvSpPr/>
          <p:nvPr/>
        </p:nvSpPr>
        <p:spPr>
          <a:xfrm>
            <a:off x="4828032" y="2395728"/>
            <a:ext cx="3840480" cy="274320"/>
          </a:xfrm>
          <a:prstGeom prst="rect">
            <a:avLst/>
          </a:prstGeom>
          <a:noFill/>
          <a:ln/>
        </p:spPr>
        <p:txBody>
          <a:bodyPr wrap="square" lIns="0" tIns="0" rIns="0" bIns="0" rtlCol="0" anchor="ctr"/>
          <a:lstStyle/>
          <a:p>
            <a:pPr marL="0" indent="0">
              <a:buNone/>
            </a:pPr>
            <a:r>
              <a:rPr lang="en-US" sz="900" i="1" dirty="0">
                <a:solidFill>
                  <a:srgbClr val="64748B"/>
                </a:solidFill>
              </a:rPr>
              <a:t>STFT-based, vectorised (no nested loops). Band-averaged, 5 bands × 19 channels.</a:t>
            </a:r>
            <a:endParaRPr lang="en-US" sz="900" dirty="0"/>
          </a:p>
        </p:txBody>
      </p:sp>
      <p:sp>
        <p:nvSpPr>
          <p:cNvPr id="25" name="Shape 23"/>
          <p:cNvSpPr/>
          <p:nvPr/>
        </p:nvSpPr>
        <p:spPr>
          <a:xfrm>
            <a:off x="320040" y="2971800"/>
            <a:ext cx="4160520" cy="1783080"/>
          </a:xfrm>
          <a:prstGeom prst="rect">
            <a:avLst/>
          </a:prstGeom>
          <a:solidFill>
            <a:srgbClr val="0D1B2A"/>
          </a:solidFill>
          <a:ln/>
          <a:effectLst>
            <a:outerShdw blurRad="101600" dist="38100" dir="8100000" algn="bl" rotWithShape="0">
              <a:srgbClr val="000000">
                <a:alpha val="25000"/>
              </a:srgbClr>
            </a:outerShdw>
          </a:effectLst>
        </p:spPr>
        <p:txBody>
          <a:bodyPr/>
          <a:lstStyle/>
          <a:p>
            <a:endParaRPr lang="en-US"/>
          </a:p>
        </p:txBody>
      </p:sp>
      <p:sp>
        <p:nvSpPr>
          <p:cNvPr id="26" name="Shape 24"/>
          <p:cNvSpPr/>
          <p:nvPr/>
        </p:nvSpPr>
        <p:spPr>
          <a:xfrm>
            <a:off x="320040" y="2971800"/>
            <a:ext cx="91440" cy="1783080"/>
          </a:xfrm>
          <a:prstGeom prst="rect">
            <a:avLst/>
          </a:prstGeom>
          <a:solidFill>
            <a:srgbClr val="F59E0B"/>
          </a:solidFill>
          <a:ln/>
        </p:spPr>
        <p:txBody>
          <a:bodyPr/>
          <a:lstStyle/>
          <a:p>
            <a:endParaRPr lang="en-US"/>
          </a:p>
        </p:txBody>
      </p:sp>
      <p:sp>
        <p:nvSpPr>
          <p:cNvPr id="27" name="Shape 25"/>
          <p:cNvSpPr/>
          <p:nvPr/>
        </p:nvSpPr>
        <p:spPr>
          <a:xfrm>
            <a:off x="411480" y="2971800"/>
            <a:ext cx="4069080" cy="438912"/>
          </a:xfrm>
          <a:prstGeom prst="rect">
            <a:avLst/>
          </a:prstGeom>
          <a:solidFill>
            <a:srgbClr val="132030"/>
          </a:solidFill>
          <a:ln/>
        </p:spPr>
        <p:txBody>
          <a:bodyPr/>
          <a:lstStyle/>
          <a:p>
            <a:endParaRPr lang="en-US"/>
          </a:p>
        </p:txBody>
      </p:sp>
      <p:sp>
        <p:nvSpPr>
          <p:cNvPr id="28" name="Text 26"/>
          <p:cNvSpPr/>
          <p:nvPr/>
        </p:nvSpPr>
        <p:spPr>
          <a:xfrm>
            <a:off x="484632" y="3026664"/>
            <a:ext cx="594360" cy="329184"/>
          </a:xfrm>
          <a:prstGeom prst="rect">
            <a:avLst/>
          </a:prstGeom>
          <a:noFill/>
          <a:ln/>
        </p:spPr>
        <p:txBody>
          <a:bodyPr wrap="square" lIns="0" tIns="0" rIns="0" bIns="0" rtlCol="0" anchor="ctr"/>
          <a:lstStyle/>
          <a:p>
            <a:pPr marL="0" indent="0">
              <a:buNone/>
            </a:pPr>
            <a:r>
              <a:rPr lang="en-US" sz="1300" b="1" dirty="0">
                <a:solidFill>
                  <a:srgbClr val="F59E0B"/>
                </a:solidFill>
              </a:rPr>
              <a:t>HJO</a:t>
            </a:r>
            <a:endParaRPr lang="en-US" sz="1300" dirty="0"/>
          </a:p>
        </p:txBody>
      </p:sp>
      <p:sp>
        <p:nvSpPr>
          <p:cNvPr id="29" name="Text 27"/>
          <p:cNvSpPr/>
          <p:nvPr/>
        </p:nvSpPr>
        <p:spPr>
          <a:xfrm>
            <a:off x="1097280" y="3063240"/>
            <a:ext cx="2560320" cy="256032"/>
          </a:xfrm>
          <a:prstGeom prst="rect">
            <a:avLst/>
          </a:prstGeom>
          <a:noFill/>
          <a:ln/>
        </p:spPr>
        <p:txBody>
          <a:bodyPr wrap="square" lIns="0" tIns="0" rIns="0" bIns="0" rtlCol="0" anchor="ctr"/>
          <a:lstStyle/>
          <a:p>
            <a:pPr marL="0" indent="0">
              <a:buNone/>
            </a:pPr>
            <a:r>
              <a:rPr lang="en-US" sz="1100" b="1" dirty="0">
                <a:solidFill>
                  <a:srgbClr val="FFFFFF"/>
                </a:solidFill>
              </a:rPr>
              <a:t>Hjorth Parameters</a:t>
            </a:r>
            <a:endParaRPr lang="en-US" sz="1100" dirty="0"/>
          </a:p>
        </p:txBody>
      </p:sp>
      <p:sp>
        <p:nvSpPr>
          <p:cNvPr id="30" name="Shape 28"/>
          <p:cNvSpPr/>
          <p:nvPr/>
        </p:nvSpPr>
        <p:spPr>
          <a:xfrm>
            <a:off x="3703320" y="3063240"/>
            <a:ext cx="640080" cy="256032"/>
          </a:xfrm>
          <a:prstGeom prst="rect">
            <a:avLst/>
          </a:prstGeom>
          <a:solidFill>
            <a:srgbClr val="F59E0B"/>
          </a:solidFill>
          <a:ln/>
        </p:spPr>
        <p:txBody>
          <a:bodyPr/>
          <a:lstStyle/>
          <a:p>
            <a:endParaRPr lang="en-US"/>
          </a:p>
        </p:txBody>
      </p:sp>
      <p:sp>
        <p:nvSpPr>
          <p:cNvPr id="31" name="Text 29"/>
          <p:cNvSpPr/>
          <p:nvPr/>
        </p:nvSpPr>
        <p:spPr>
          <a:xfrm>
            <a:off x="3703320" y="3063240"/>
            <a:ext cx="640080" cy="256032"/>
          </a:xfrm>
          <a:prstGeom prst="rect">
            <a:avLst/>
          </a:prstGeom>
          <a:noFill/>
          <a:ln/>
        </p:spPr>
        <p:txBody>
          <a:bodyPr wrap="square" lIns="0" tIns="0" rIns="0" bIns="0" rtlCol="0" anchor="ctr"/>
          <a:lstStyle/>
          <a:p>
            <a:pPr marL="0" indent="0" algn="ctr">
              <a:buNone/>
            </a:pPr>
            <a:r>
              <a:rPr lang="en-US" sz="900" b="1" dirty="0">
                <a:solidFill>
                  <a:srgbClr val="FFFFFF"/>
                </a:solidFill>
              </a:rPr>
              <a:t>38 feat</a:t>
            </a:r>
            <a:endParaRPr lang="en-US" sz="900" dirty="0"/>
          </a:p>
        </p:txBody>
      </p:sp>
      <p:sp>
        <p:nvSpPr>
          <p:cNvPr id="32" name="Text 30"/>
          <p:cNvSpPr/>
          <p:nvPr/>
        </p:nvSpPr>
        <p:spPr>
          <a:xfrm>
            <a:off x="484632" y="3465576"/>
            <a:ext cx="3840480" cy="274320"/>
          </a:xfrm>
          <a:prstGeom prst="rect">
            <a:avLst/>
          </a:prstGeom>
          <a:noFill/>
          <a:ln/>
        </p:spPr>
        <p:txBody>
          <a:bodyPr wrap="square" lIns="0" tIns="0" rIns="0" bIns="0" rtlCol="0" anchor="ctr"/>
          <a:lstStyle/>
          <a:p>
            <a:pPr marL="0" indent="0">
              <a:buNone/>
            </a:pPr>
            <a:r>
              <a:rPr lang="en-US" sz="1000" i="1" dirty="0">
                <a:solidFill>
                  <a:srgbClr val="F59E0B"/>
                </a:solidFill>
              </a:rPr>
              <a:t>Mobility = √(Var(x') / Var(x))</a:t>
            </a:r>
            <a:endParaRPr lang="en-US" sz="1000" dirty="0"/>
          </a:p>
        </p:txBody>
      </p:sp>
      <p:sp>
        <p:nvSpPr>
          <p:cNvPr id="33" name="Text 31"/>
          <p:cNvSpPr/>
          <p:nvPr/>
        </p:nvSpPr>
        <p:spPr>
          <a:xfrm>
            <a:off x="484632" y="3739896"/>
            <a:ext cx="3840480" cy="502920"/>
          </a:xfrm>
          <a:prstGeom prst="rect">
            <a:avLst/>
          </a:prstGeom>
          <a:noFill/>
          <a:ln/>
        </p:spPr>
        <p:txBody>
          <a:bodyPr wrap="square" lIns="0" tIns="0" rIns="0" bIns="0" rtlCol="0" anchor="ctr"/>
          <a:lstStyle/>
          <a:p>
            <a:pPr marL="0" indent="0">
              <a:buNone/>
            </a:pPr>
            <a:r>
              <a:rPr lang="en-US" sz="1000" dirty="0">
                <a:solidFill>
                  <a:srgbClr val="CBD5E1"/>
                </a:solidFill>
              </a:rPr>
              <a:t>Time-domain signal shape without FFT. Rapid identification of bandwidth and variance shifts in AD.</a:t>
            </a:r>
            <a:endParaRPr lang="en-US" sz="1000" dirty="0"/>
          </a:p>
        </p:txBody>
      </p:sp>
      <p:sp>
        <p:nvSpPr>
          <p:cNvPr id="34" name="Text 32"/>
          <p:cNvSpPr/>
          <p:nvPr/>
        </p:nvSpPr>
        <p:spPr>
          <a:xfrm>
            <a:off x="484632" y="4361688"/>
            <a:ext cx="3840480" cy="274320"/>
          </a:xfrm>
          <a:prstGeom prst="rect">
            <a:avLst/>
          </a:prstGeom>
          <a:noFill/>
          <a:ln/>
        </p:spPr>
        <p:txBody>
          <a:bodyPr wrap="square" lIns="0" tIns="0" rIns="0" bIns="0" rtlCol="0" anchor="ctr"/>
          <a:lstStyle/>
          <a:p>
            <a:pPr marL="0" indent="0">
              <a:buNone/>
            </a:pPr>
            <a:r>
              <a:rPr lang="en-US" sz="900" i="1" dirty="0">
                <a:solidFill>
                  <a:srgbClr val="64748B"/>
                </a:solidFill>
              </a:rPr>
              <a:t>Mobility + Complexity per channel × 19 channels</a:t>
            </a:r>
            <a:endParaRPr lang="en-US" sz="900" dirty="0"/>
          </a:p>
        </p:txBody>
      </p:sp>
      <p:sp>
        <p:nvSpPr>
          <p:cNvPr id="35" name="Shape 33"/>
          <p:cNvSpPr/>
          <p:nvPr/>
        </p:nvSpPr>
        <p:spPr>
          <a:xfrm>
            <a:off x="4663440" y="2971800"/>
            <a:ext cx="4160520" cy="1783080"/>
          </a:xfrm>
          <a:prstGeom prst="rect">
            <a:avLst/>
          </a:prstGeom>
          <a:solidFill>
            <a:srgbClr val="0D1B2A"/>
          </a:solidFill>
          <a:ln/>
          <a:effectLst>
            <a:outerShdw blurRad="101600" dist="38100" dir="8100000" algn="bl" rotWithShape="0">
              <a:srgbClr val="000000">
                <a:alpha val="25000"/>
              </a:srgbClr>
            </a:outerShdw>
          </a:effectLst>
        </p:spPr>
        <p:txBody>
          <a:bodyPr/>
          <a:lstStyle/>
          <a:p>
            <a:endParaRPr lang="en-US"/>
          </a:p>
        </p:txBody>
      </p:sp>
      <p:sp>
        <p:nvSpPr>
          <p:cNvPr id="36" name="Shape 34"/>
          <p:cNvSpPr/>
          <p:nvPr/>
        </p:nvSpPr>
        <p:spPr>
          <a:xfrm>
            <a:off x="4663440" y="2971800"/>
            <a:ext cx="91440" cy="1783080"/>
          </a:xfrm>
          <a:prstGeom prst="rect">
            <a:avLst/>
          </a:prstGeom>
          <a:solidFill>
            <a:srgbClr val="A855F7"/>
          </a:solidFill>
          <a:ln/>
        </p:spPr>
        <p:txBody>
          <a:bodyPr/>
          <a:lstStyle/>
          <a:p>
            <a:endParaRPr lang="en-US"/>
          </a:p>
        </p:txBody>
      </p:sp>
      <p:sp>
        <p:nvSpPr>
          <p:cNvPr id="37" name="Shape 35"/>
          <p:cNvSpPr/>
          <p:nvPr/>
        </p:nvSpPr>
        <p:spPr>
          <a:xfrm>
            <a:off x="4754880" y="2971800"/>
            <a:ext cx="4069080" cy="438912"/>
          </a:xfrm>
          <a:prstGeom prst="rect">
            <a:avLst/>
          </a:prstGeom>
          <a:solidFill>
            <a:srgbClr val="132030"/>
          </a:solidFill>
          <a:ln/>
        </p:spPr>
        <p:txBody>
          <a:bodyPr/>
          <a:lstStyle/>
          <a:p>
            <a:endParaRPr lang="en-US"/>
          </a:p>
        </p:txBody>
      </p:sp>
      <p:sp>
        <p:nvSpPr>
          <p:cNvPr id="38" name="Text 36"/>
          <p:cNvSpPr/>
          <p:nvPr/>
        </p:nvSpPr>
        <p:spPr>
          <a:xfrm>
            <a:off x="4828032" y="3026664"/>
            <a:ext cx="594360" cy="329184"/>
          </a:xfrm>
          <a:prstGeom prst="rect">
            <a:avLst/>
          </a:prstGeom>
          <a:noFill/>
          <a:ln/>
        </p:spPr>
        <p:txBody>
          <a:bodyPr wrap="square" lIns="0" tIns="0" rIns="0" bIns="0" rtlCol="0" anchor="ctr"/>
          <a:lstStyle/>
          <a:p>
            <a:pPr marL="0" indent="0">
              <a:buNone/>
            </a:pPr>
            <a:r>
              <a:rPr lang="en-US" sz="1300" b="1" dirty="0">
                <a:solidFill>
                  <a:srgbClr val="A855F7"/>
                </a:solidFill>
              </a:rPr>
              <a:t>ENT</a:t>
            </a:r>
            <a:endParaRPr lang="en-US" sz="1300" dirty="0"/>
          </a:p>
        </p:txBody>
      </p:sp>
      <p:sp>
        <p:nvSpPr>
          <p:cNvPr id="39" name="Text 37"/>
          <p:cNvSpPr/>
          <p:nvPr/>
        </p:nvSpPr>
        <p:spPr>
          <a:xfrm>
            <a:off x="5440680" y="3063240"/>
            <a:ext cx="2560320" cy="256032"/>
          </a:xfrm>
          <a:prstGeom prst="rect">
            <a:avLst/>
          </a:prstGeom>
          <a:noFill/>
          <a:ln/>
        </p:spPr>
        <p:txBody>
          <a:bodyPr wrap="square" lIns="0" tIns="0" rIns="0" bIns="0" rtlCol="0" anchor="ctr"/>
          <a:lstStyle/>
          <a:p>
            <a:pPr marL="0" indent="0">
              <a:buNone/>
            </a:pPr>
            <a:r>
              <a:rPr lang="en-US" sz="1100" b="1" dirty="0">
                <a:solidFill>
                  <a:srgbClr val="FFFFFF"/>
                </a:solidFill>
              </a:rPr>
              <a:t>Shannon Entropy</a:t>
            </a:r>
            <a:endParaRPr lang="en-US" sz="1100" dirty="0"/>
          </a:p>
        </p:txBody>
      </p:sp>
      <p:sp>
        <p:nvSpPr>
          <p:cNvPr id="40" name="Shape 38"/>
          <p:cNvSpPr/>
          <p:nvPr/>
        </p:nvSpPr>
        <p:spPr>
          <a:xfrm>
            <a:off x="8046720" y="3063240"/>
            <a:ext cx="640080" cy="256032"/>
          </a:xfrm>
          <a:prstGeom prst="rect">
            <a:avLst/>
          </a:prstGeom>
          <a:solidFill>
            <a:srgbClr val="A855F7"/>
          </a:solidFill>
          <a:ln/>
        </p:spPr>
        <p:txBody>
          <a:bodyPr/>
          <a:lstStyle/>
          <a:p>
            <a:endParaRPr lang="en-US"/>
          </a:p>
        </p:txBody>
      </p:sp>
      <p:sp>
        <p:nvSpPr>
          <p:cNvPr id="41" name="Text 39"/>
          <p:cNvSpPr/>
          <p:nvPr/>
        </p:nvSpPr>
        <p:spPr>
          <a:xfrm>
            <a:off x="8046720" y="3063240"/>
            <a:ext cx="640080" cy="256032"/>
          </a:xfrm>
          <a:prstGeom prst="rect">
            <a:avLst/>
          </a:prstGeom>
          <a:noFill/>
          <a:ln/>
        </p:spPr>
        <p:txBody>
          <a:bodyPr wrap="square" lIns="0" tIns="0" rIns="0" bIns="0" rtlCol="0" anchor="ctr"/>
          <a:lstStyle/>
          <a:p>
            <a:pPr marL="0" indent="0" algn="ctr">
              <a:buNone/>
            </a:pPr>
            <a:r>
              <a:rPr lang="en-US" sz="900" b="1" dirty="0">
                <a:solidFill>
                  <a:srgbClr val="FFFFFF"/>
                </a:solidFill>
              </a:rPr>
              <a:t>19 feat</a:t>
            </a:r>
            <a:endParaRPr lang="en-US" sz="900" dirty="0"/>
          </a:p>
        </p:txBody>
      </p:sp>
      <p:sp>
        <p:nvSpPr>
          <p:cNvPr id="42" name="Text 40"/>
          <p:cNvSpPr/>
          <p:nvPr/>
        </p:nvSpPr>
        <p:spPr>
          <a:xfrm>
            <a:off x="4828032" y="3465576"/>
            <a:ext cx="3840480" cy="274320"/>
          </a:xfrm>
          <a:prstGeom prst="rect">
            <a:avLst/>
          </a:prstGeom>
          <a:noFill/>
          <a:ln/>
        </p:spPr>
        <p:txBody>
          <a:bodyPr wrap="square" lIns="0" tIns="0" rIns="0" bIns="0" rtlCol="0" anchor="ctr"/>
          <a:lstStyle/>
          <a:p>
            <a:pPr marL="0" indent="0">
              <a:buNone/>
            </a:pPr>
            <a:r>
              <a:rPr lang="en-US" sz="1000" i="1" dirty="0">
                <a:solidFill>
                  <a:srgbClr val="A855F7"/>
                </a:solidFill>
              </a:rPr>
              <a:t>H = -Σ p(x) log₂ p(x)</a:t>
            </a:r>
            <a:endParaRPr lang="en-US" sz="1000" dirty="0"/>
          </a:p>
        </p:txBody>
      </p:sp>
      <p:sp>
        <p:nvSpPr>
          <p:cNvPr id="43" name="Text 41"/>
          <p:cNvSpPr/>
          <p:nvPr/>
        </p:nvSpPr>
        <p:spPr>
          <a:xfrm>
            <a:off x="4828032" y="3739896"/>
            <a:ext cx="3840480" cy="502920"/>
          </a:xfrm>
          <a:prstGeom prst="rect">
            <a:avLst/>
          </a:prstGeom>
          <a:noFill/>
          <a:ln/>
        </p:spPr>
        <p:txBody>
          <a:bodyPr wrap="square" lIns="0" tIns="0" rIns="0" bIns="0" rtlCol="0" anchor="ctr"/>
          <a:lstStyle/>
          <a:p>
            <a:pPr marL="0" indent="0">
              <a:buNone/>
            </a:pPr>
            <a:r>
              <a:rPr lang="en-US" sz="1000" dirty="0">
                <a:solidFill>
                  <a:srgbClr val="CBD5E1"/>
                </a:solidFill>
              </a:rPr>
              <a:t>Reduced entropy in AD = loss of neural complexity. Signal becomes more repetitive and predictable.</a:t>
            </a:r>
            <a:endParaRPr lang="en-US" sz="1000" dirty="0"/>
          </a:p>
        </p:txBody>
      </p:sp>
      <p:sp>
        <p:nvSpPr>
          <p:cNvPr id="44" name="Text 42"/>
          <p:cNvSpPr/>
          <p:nvPr/>
        </p:nvSpPr>
        <p:spPr>
          <a:xfrm>
            <a:off x="4828032" y="4361688"/>
            <a:ext cx="3840480" cy="274320"/>
          </a:xfrm>
          <a:prstGeom prst="rect">
            <a:avLst/>
          </a:prstGeom>
          <a:noFill/>
          <a:ln/>
        </p:spPr>
        <p:txBody>
          <a:bodyPr wrap="square" lIns="0" tIns="0" rIns="0" bIns="0" rtlCol="0" anchor="ctr"/>
          <a:lstStyle/>
          <a:p>
            <a:pPr marL="0" indent="0">
              <a:buNone/>
            </a:pPr>
            <a:r>
              <a:rPr lang="en-US" sz="900" i="1" dirty="0">
                <a:solidFill>
                  <a:srgbClr val="64748B"/>
                </a:solidFill>
              </a:rPr>
              <a:t>64-bin histogram per channel × 19 channels</a:t>
            </a:r>
            <a:endParaRPr lang="en-US" sz="900" dirty="0"/>
          </a:p>
        </p:txBody>
      </p:sp>
      <p:sp>
        <p:nvSpPr>
          <p:cNvPr id="45" name="Shape 43"/>
          <p:cNvSpPr/>
          <p:nvPr/>
        </p:nvSpPr>
        <p:spPr>
          <a:xfrm>
            <a:off x="3474720" y="4663440"/>
            <a:ext cx="2194560" cy="347472"/>
          </a:xfrm>
          <a:prstGeom prst="rect">
            <a:avLst/>
          </a:prstGeom>
          <a:solidFill>
            <a:srgbClr val="0A7EA4"/>
          </a:solidFill>
          <a:ln/>
          <a:effectLst>
            <a:outerShdw blurRad="101600" dist="38100" dir="8100000" algn="bl" rotWithShape="0">
              <a:srgbClr val="000000">
                <a:alpha val="25000"/>
              </a:srgbClr>
            </a:outerShdw>
          </a:effectLst>
        </p:spPr>
        <p:txBody>
          <a:bodyPr/>
          <a:lstStyle/>
          <a:p>
            <a:endParaRPr lang="en-US"/>
          </a:p>
        </p:txBody>
      </p:sp>
      <p:sp>
        <p:nvSpPr>
          <p:cNvPr id="46" name="Text 44"/>
          <p:cNvSpPr/>
          <p:nvPr/>
        </p:nvSpPr>
        <p:spPr>
          <a:xfrm>
            <a:off x="3474720" y="4663440"/>
            <a:ext cx="2194560" cy="347472"/>
          </a:xfrm>
          <a:prstGeom prst="rect">
            <a:avLst/>
          </a:prstGeom>
          <a:noFill/>
          <a:ln/>
        </p:spPr>
        <p:txBody>
          <a:bodyPr wrap="square" lIns="0" tIns="0" rIns="0" bIns="0" rtlCol="0" anchor="ctr"/>
          <a:lstStyle/>
          <a:p>
            <a:pPr marL="0" indent="0" algn="ctr">
              <a:buNone/>
            </a:pPr>
            <a:r>
              <a:rPr lang="en-US" sz="1100" b="1" dirty="0">
                <a:solidFill>
                  <a:srgbClr val="FFFFFF"/>
                </a:solidFill>
              </a:rPr>
              <a:t>247 total features per 30-second window</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C39A"/>
          </a:solidFill>
          <a:ln/>
        </p:spPr>
        <p:txBody>
          <a:bodyPr/>
          <a:lstStyle/>
          <a:p>
            <a:endParaRPr lang="en-US"/>
          </a:p>
        </p:txBody>
      </p:sp>
      <p:sp>
        <p:nvSpPr>
          <p:cNvPr id="3" name="Text 1"/>
          <p:cNvSpPr/>
          <p:nvPr/>
        </p:nvSpPr>
        <p:spPr>
          <a:xfrm>
            <a:off x="365760" y="201168"/>
            <a:ext cx="1828800" cy="274320"/>
          </a:xfrm>
          <a:prstGeom prst="rect">
            <a:avLst/>
          </a:prstGeom>
          <a:noFill/>
          <a:ln/>
        </p:spPr>
        <p:txBody>
          <a:bodyPr wrap="square" lIns="0" tIns="0" rIns="0" bIns="0" rtlCol="0" anchor="ctr"/>
          <a:lstStyle/>
          <a:p>
            <a:pPr marL="0" indent="0">
              <a:buNone/>
            </a:pPr>
            <a:r>
              <a:rPr lang="en-US" sz="1100" b="1" dirty="0">
                <a:solidFill>
                  <a:srgbClr val="02C39A"/>
                </a:solidFill>
              </a:rPr>
              <a:t>Results</a:t>
            </a:r>
            <a:endParaRPr lang="en-US" sz="11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Subject-Level Performance (38 subjects, 5-fold CV)</a:t>
            </a:r>
            <a:endParaRPr lang="en-US" sz="2200" dirty="0"/>
          </a:p>
        </p:txBody>
      </p:sp>
      <p:sp>
        <p:nvSpPr>
          <p:cNvPr id="5" name="Shape 3"/>
          <p:cNvSpPr/>
          <p:nvPr/>
        </p:nvSpPr>
        <p:spPr>
          <a:xfrm>
            <a:off x="320040" y="1051560"/>
            <a:ext cx="8503920" cy="347472"/>
          </a:xfrm>
          <a:prstGeom prst="rect">
            <a:avLst/>
          </a:prstGeom>
          <a:solidFill>
            <a:srgbClr val="132030"/>
          </a:solidFill>
          <a:ln/>
        </p:spPr>
        <p:txBody>
          <a:bodyPr/>
          <a:lstStyle/>
          <a:p>
            <a:endParaRPr lang="en-US"/>
          </a:p>
        </p:txBody>
      </p:sp>
      <p:sp>
        <p:nvSpPr>
          <p:cNvPr id="6" name="Text 4"/>
          <p:cNvSpPr/>
          <p:nvPr/>
        </p:nvSpPr>
        <p:spPr>
          <a:xfrm>
            <a:off x="457200" y="1106424"/>
            <a:ext cx="1097280" cy="237744"/>
          </a:xfrm>
          <a:prstGeom prst="rect">
            <a:avLst/>
          </a:prstGeom>
          <a:noFill/>
          <a:ln/>
        </p:spPr>
        <p:txBody>
          <a:bodyPr wrap="square" lIns="0" tIns="0" rIns="0" bIns="0" rtlCol="0" anchor="ctr"/>
          <a:lstStyle/>
          <a:p>
            <a:pPr marL="0" indent="0">
              <a:buNone/>
            </a:pPr>
            <a:r>
              <a:rPr lang="en-US" sz="1000" b="1" dirty="0">
                <a:solidFill>
                  <a:srgbClr val="CBD5E1"/>
                </a:solidFill>
              </a:rPr>
              <a:t>Model</a:t>
            </a:r>
            <a:endParaRPr lang="en-US" sz="1000" dirty="0"/>
          </a:p>
        </p:txBody>
      </p:sp>
      <p:sp>
        <p:nvSpPr>
          <p:cNvPr id="7" name="Text 5"/>
          <p:cNvSpPr/>
          <p:nvPr/>
        </p:nvSpPr>
        <p:spPr>
          <a:xfrm>
            <a:off x="5029200" y="1106424"/>
            <a:ext cx="1097280" cy="237744"/>
          </a:xfrm>
          <a:prstGeom prst="rect">
            <a:avLst/>
          </a:prstGeom>
          <a:noFill/>
          <a:ln/>
        </p:spPr>
        <p:txBody>
          <a:bodyPr wrap="square" lIns="0" tIns="0" rIns="0" bIns="0" rtlCol="0" anchor="ctr"/>
          <a:lstStyle/>
          <a:p>
            <a:pPr marL="0" indent="0">
              <a:buNone/>
            </a:pPr>
            <a:r>
              <a:rPr lang="en-US" sz="1000" b="1" dirty="0">
                <a:solidFill>
                  <a:srgbClr val="CBD5E1"/>
                </a:solidFill>
              </a:rPr>
              <a:t>F1 ↑</a:t>
            </a:r>
            <a:endParaRPr lang="en-US" sz="1000" dirty="0"/>
          </a:p>
        </p:txBody>
      </p:sp>
      <p:sp>
        <p:nvSpPr>
          <p:cNvPr id="8" name="Text 6"/>
          <p:cNvSpPr/>
          <p:nvPr/>
        </p:nvSpPr>
        <p:spPr>
          <a:xfrm>
            <a:off x="6217920" y="1106424"/>
            <a:ext cx="1097280" cy="237744"/>
          </a:xfrm>
          <a:prstGeom prst="rect">
            <a:avLst/>
          </a:prstGeom>
          <a:noFill/>
          <a:ln/>
        </p:spPr>
        <p:txBody>
          <a:bodyPr wrap="square" lIns="0" tIns="0" rIns="0" bIns="0" rtlCol="0" anchor="ctr"/>
          <a:lstStyle/>
          <a:p>
            <a:pPr marL="0" indent="0">
              <a:buNone/>
            </a:pPr>
            <a:r>
              <a:rPr lang="en-US" sz="1000" b="1" dirty="0">
                <a:solidFill>
                  <a:srgbClr val="CBD5E1"/>
                </a:solidFill>
              </a:rPr>
              <a:t>Bal.Acc ↑</a:t>
            </a:r>
            <a:endParaRPr lang="en-US" sz="1000" dirty="0"/>
          </a:p>
        </p:txBody>
      </p:sp>
      <p:sp>
        <p:nvSpPr>
          <p:cNvPr id="9" name="Text 7"/>
          <p:cNvSpPr/>
          <p:nvPr/>
        </p:nvSpPr>
        <p:spPr>
          <a:xfrm>
            <a:off x="7223760" y="1106424"/>
            <a:ext cx="1097280" cy="237744"/>
          </a:xfrm>
          <a:prstGeom prst="rect">
            <a:avLst/>
          </a:prstGeom>
          <a:noFill/>
          <a:ln/>
        </p:spPr>
        <p:txBody>
          <a:bodyPr wrap="square" lIns="0" tIns="0" rIns="0" bIns="0" rtlCol="0" anchor="ctr"/>
          <a:lstStyle/>
          <a:p>
            <a:pPr marL="0" indent="0">
              <a:buNone/>
            </a:pPr>
            <a:r>
              <a:rPr lang="en-US" sz="1000" b="1" dirty="0">
                <a:solidFill>
                  <a:srgbClr val="CBD5E1"/>
                </a:solidFill>
              </a:rPr>
              <a:t>CN recall</a:t>
            </a:r>
            <a:endParaRPr lang="en-US" sz="1000" dirty="0"/>
          </a:p>
        </p:txBody>
      </p:sp>
      <p:sp>
        <p:nvSpPr>
          <p:cNvPr id="10" name="Text 8"/>
          <p:cNvSpPr/>
          <p:nvPr/>
        </p:nvSpPr>
        <p:spPr>
          <a:xfrm>
            <a:off x="8138160" y="1106424"/>
            <a:ext cx="1097280" cy="237744"/>
          </a:xfrm>
          <a:prstGeom prst="rect">
            <a:avLst/>
          </a:prstGeom>
          <a:noFill/>
          <a:ln/>
        </p:spPr>
        <p:txBody>
          <a:bodyPr wrap="square" lIns="0" tIns="0" rIns="0" bIns="0" rtlCol="0" anchor="ctr"/>
          <a:lstStyle/>
          <a:p>
            <a:pPr marL="0" indent="0">
              <a:buNone/>
            </a:pPr>
            <a:r>
              <a:rPr lang="en-US" sz="1000" b="1" dirty="0">
                <a:solidFill>
                  <a:srgbClr val="CBD5E1"/>
                </a:solidFill>
              </a:rPr>
              <a:t>AD recall</a:t>
            </a:r>
            <a:endParaRPr lang="en-US" sz="1000" dirty="0"/>
          </a:p>
        </p:txBody>
      </p:sp>
      <p:sp>
        <p:nvSpPr>
          <p:cNvPr id="11" name="Shape 9"/>
          <p:cNvSpPr/>
          <p:nvPr/>
        </p:nvSpPr>
        <p:spPr>
          <a:xfrm>
            <a:off x="320040" y="1463040"/>
            <a:ext cx="8503920" cy="685800"/>
          </a:xfrm>
          <a:prstGeom prst="rect">
            <a:avLst/>
          </a:prstGeom>
          <a:solidFill>
            <a:srgbClr val="132030"/>
          </a:solidFill>
          <a:ln/>
        </p:spPr>
        <p:txBody>
          <a:bodyPr/>
          <a:lstStyle/>
          <a:p>
            <a:endParaRPr lang="en-US"/>
          </a:p>
        </p:txBody>
      </p:sp>
      <p:sp>
        <p:nvSpPr>
          <p:cNvPr id="12" name="Text 10"/>
          <p:cNvSpPr/>
          <p:nvPr/>
        </p:nvSpPr>
        <p:spPr>
          <a:xfrm>
            <a:off x="502920" y="1517904"/>
            <a:ext cx="4434840" cy="576072"/>
          </a:xfrm>
          <a:prstGeom prst="rect">
            <a:avLst/>
          </a:prstGeom>
          <a:noFill/>
          <a:ln/>
        </p:spPr>
        <p:txBody>
          <a:bodyPr wrap="square" lIns="0" tIns="0" rIns="0" bIns="0" rtlCol="0" anchor="ctr"/>
          <a:lstStyle/>
          <a:p>
            <a:pPr marL="0" indent="0">
              <a:buNone/>
            </a:pPr>
            <a:r>
              <a:rPr lang="en-US" sz="1100" dirty="0">
                <a:solidFill>
                  <a:srgbClr val="CBD5E1"/>
                </a:solidFill>
              </a:rPr>
              <a:t>XGBoost (baseline)</a:t>
            </a:r>
            <a:endParaRPr lang="en-US" sz="1100" dirty="0"/>
          </a:p>
          <a:p>
            <a:pPr marL="0" indent="0">
              <a:buNone/>
            </a:pPr>
            <a:r>
              <a:rPr lang="en-US" sz="1100" dirty="0">
                <a:solidFill>
                  <a:srgbClr val="CBD5E1"/>
                </a:solidFill>
              </a:rPr>
              <a:t>247 features, thresh=0.50</a:t>
            </a:r>
            <a:endParaRPr lang="en-US" sz="1100" dirty="0"/>
          </a:p>
        </p:txBody>
      </p:sp>
      <p:sp>
        <p:nvSpPr>
          <p:cNvPr id="13" name="Text 11"/>
          <p:cNvSpPr/>
          <p:nvPr/>
        </p:nvSpPr>
        <p:spPr>
          <a:xfrm>
            <a:off x="5029200" y="1609344"/>
            <a:ext cx="914400" cy="384048"/>
          </a:xfrm>
          <a:prstGeom prst="rect">
            <a:avLst/>
          </a:prstGeom>
          <a:noFill/>
          <a:ln/>
        </p:spPr>
        <p:txBody>
          <a:bodyPr wrap="square" lIns="0" tIns="0" rIns="0" bIns="0" rtlCol="0" anchor="ctr"/>
          <a:lstStyle/>
          <a:p>
            <a:pPr marL="0" indent="0">
              <a:buNone/>
            </a:pPr>
            <a:r>
              <a:rPr lang="en-US" sz="1800" b="1" dirty="0">
                <a:solidFill>
                  <a:srgbClr val="0A7EA4"/>
                </a:solidFill>
              </a:rPr>
              <a:t>0.755</a:t>
            </a:r>
            <a:endParaRPr lang="en-US" sz="1800" dirty="0"/>
          </a:p>
        </p:txBody>
      </p:sp>
      <p:sp>
        <p:nvSpPr>
          <p:cNvPr id="14" name="Text 12"/>
          <p:cNvSpPr/>
          <p:nvPr/>
        </p:nvSpPr>
        <p:spPr>
          <a:xfrm>
            <a:off x="6217920" y="1645920"/>
            <a:ext cx="822960" cy="320040"/>
          </a:xfrm>
          <a:prstGeom prst="rect">
            <a:avLst/>
          </a:prstGeom>
          <a:noFill/>
          <a:ln/>
        </p:spPr>
        <p:txBody>
          <a:bodyPr wrap="square" lIns="0" tIns="0" rIns="0" bIns="0" rtlCol="0" anchor="ctr"/>
          <a:lstStyle/>
          <a:p>
            <a:pPr marL="0" indent="0">
              <a:buNone/>
            </a:pPr>
            <a:r>
              <a:rPr lang="en-US" sz="1400" dirty="0">
                <a:solidFill>
                  <a:srgbClr val="CBD5E1"/>
                </a:solidFill>
              </a:rPr>
              <a:t>0.592</a:t>
            </a:r>
            <a:endParaRPr lang="en-US" sz="1400" dirty="0"/>
          </a:p>
        </p:txBody>
      </p:sp>
      <p:sp>
        <p:nvSpPr>
          <p:cNvPr id="15" name="Text 13"/>
          <p:cNvSpPr/>
          <p:nvPr/>
        </p:nvSpPr>
        <p:spPr>
          <a:xfrm>
            <a:off x="7223760" y="1645920"/>
            <a:ext cx="731520" cy="320040"/>
          </a:xfrm>
          <a:prstGeom prst="rect">
            <a:avLst/>
          </a:prstGeom>
          <a:noFill/>
          <a:ln/>
        </p:spPr>
        <p:txBody>
          <a:bodyPr wrap="square" lIns="0" tIns="0" rIns="0" bIns="0" rtlCol="0" anchor="ctr"/>
          <a:lstStyle/>
          <a:p>
            <a:pPr marL="0" indent="0">
              <a:buNone/>
            </a:pPr>
            <a:r>
              <a:rPr lang="en-US" sz="1300" dirty="0">
                <a:solidFill>
                  <a:srgbClr val="CBD5E1"/>
                </a:solidFill>
              </a:rPr>
              <a:t>5/13</a:t>
            </a:r>
            <a:endParaRPr lang="en-US" sz="1300" dirty="0"/>
          </a:p>
        </p:txBody>
      </p:sp>
      <p:sp>
        <p:nvSpPr>
          <p:cNvPr id="16" name="Text 14"/>
          <p:cNvSpPr/>
          <p:nvPr/>
        </p:nvSpPr>
        <p:spPr>
          <a:xfrm>
            <a:off x="8138160" y="1645920"/>
            <a:ext cx="548640" cy="320040"/>
          </a:xfrm>
          <a:prstGeom prst="rect">
            <a:avLst/>
          </a:prstGeom>
          <a:noFill/>
          <a:ln/>
        </p:spPr>
        <p:txBody>
          <a:bodyPr wrap="square" lIns="0" tIns="0" rIns="0" bIns="0" rtlCol="0" anchor="ctr"/>
          <a:lstStyle/>
          <a:p>
            <a:pPr marL="0" indent="0">
              <a:buNone/>
            </a:pPr>
            <a:r>
              <a:rPr lang="en-US" sz="1300" dirty="0">
                <a:solidFill>
                  <a:srgbClr val="CBD5E1"/>
                </a:solidFill>
              </a:rPr>
              <a:t>20/25</a:t>
            </a:r>
            <a:endParaRPr lang="en-US" sz="1300" dirty="0"/>
          </a:p>
        </p:txBody>
      </p:sp>
      <p:sp>
        <p:nvSpPr>
          <p:cNvPr id="17" name="Shape 15"/>
          <p:cNvSpPr/>
          <p:nvPr/>
        </p:nvSpPr>
        <p:spPr>
          <a:xfrm>
            <a:off x="320040" y="2212848"/>
            <a:ext cx="8503920" cy="685800"/>
          </a:xfrm>
          <a:prstGeom prst="rect">
            <a:avLst/>
          </a:prstGeom>
          <a:solidFill>
            <a:srgbClr val="132030"/>
          </a:solidFill>
          <a:ln/>
        </p:spPr>
        <p:txBody>
          <a:bodyPr/>
          <a:lstStyle/>
          <a:p>
            <a:endParaRPr lang="en-US"/>
          </a:p>
        </p:txBody>
      </p:sp>
      <p:sp>
        <p:nvSpPr>
          <p:cNvPr id="18" name="Text 16"/>
          <p:cNvSpPr/>
          <p:nvPr/>
        </p:nvSpPr>
        <p:spPr>
          <a:xfrm>
            <a:off x="502920" y="2267712"/>
            <a:ext cx="4434840" cy="576072"/>
          </a:xfrm>
          <a:prstGeom prst="rect">
            <a:avLst/>
          </a:prstGeom>
          <a:noFill/>
          <a:ln/>
        </p:spPr>
        <p:txBody>
          <a:bodyPr wrap="square" lIns="0" tIns="0" rIns="0" bIns="0" rtlCol="0" anchor="ctr"/>
          <a:lstStyle/>
          <a:p>
            <a:pPr marL="0" indent="0">
              <a:buNone/>
            </a:pPr>
            <a:r>
              <a:rPr lang="en-US" sz="1100" dirty="0">
                <a:solidFill>
                  <a:srgbClr val="CBD5E1"/>
                </a:solidFill>
              </a:rPr>
              <a:t>XGBoost + threshold tuning</a:t>
            </a:r>
            <a:endParaRPr lang="en-US" sz="1100" dirty="0"/>
          </a:p>
          <a:p>
            <a:pPr marL="0" indent="0">
              <a:buNone/>
            </a:pPr>
            <a:r>
              <a:rPr lang="en-US" sz="1100" dirty="0">
                <a:solidFill>
                  <a:srgbClr val="CBD5E1"/>
                </a:solidFill>
              </a:rPr>
              <a:t>247 features, thresh=0.43</a:t>
            </a:r>
            <a:endParaRPr lang="en-US" sz="1100" dirty="0"/>
          </a:p>
        </p:txBody>
      </p:sp>
      <p:sp>
        <p:nvSpPr>
          <p:cNvPr id="19" name="Text 17"/>
          <p:cNvSpPr/>
          <p:nvPr/>
        </p:nvSpPr>
        <p:spPr>
          <a:xfrm>
            <a:off x="5029200" y="2359152"/>
            <a:ext cx="914400" cy="384048"/>
          </a:xfrm>
          <a:prstGeom prst="rect">
            <a:avLst/>
          </a:prstGeom>
          <a:noFill/>
          <a:ln/>
        </p:spPr>
        <p:txBody>
          <a:bodyPr wrap="square" lIns="0" tIns="0" rIns="0" bIns="0" rtlCol="0" anchor="ctr"/>
          <a:lstStyle/>
          <a:p>
            <a:pPr marL="0" indent="0">
              <a:buNone/>
            </a:pPr>
            <a:r>
              <a:rPr lang="en-US" sz="1800" b="1" dirty="0">
                <a:solidFill>
                  <a:srgbClr val="14B8D4"/>
                </a:solidFill>
              </a:rPr>
              <a:t>0.800</a:t>
            </a:r>
            <a:endParaRPr lang="en-US" sz="1800" dirty="0"/>
          </a:p>
        </p:txBody>
      </p:sp>
      <p:sp>
        <p:nvSpPr>
          <p:cNvPr id="20" name="Text 18"/>
          <p:cNvSpPr/>
          <p:nvPr/>
        </p:nvSpPr>
        <p:spPr>
          <a:xfrm>
            <a:off x="6217920" y="2395728"/>
            <a:ext cx="822960" cy="320040"/>
          </a:xfrm>
          <a:prstGeom prst="rect">
            <a:avLst/>
          </a:prstGeom>
          <a:noFill/>
          <a:ln/>
        </p:spPr>
        <p:txBody>
          <a:bodyPr wrap="square" lIns="0" tIns="0" rIns="0" bIns="0" rtlCol="0" anchor="ctr"/>
          <a:lstStyle/>
          <a:p>
            <a:pPr marL="0" indent="0">
              <a:buNone/>
            </a:pPr>
            <a:r>
              <a:rPr lang="en-US" sz="1400" dirty="0">
                <a:solidFill>
                  <a:srgbClr val="CBD5E1"/>
                </a:solidFill>
              </a:rPr>
              <a:t>0.632</a:t>
            </a:r>
            <a:endParaRPr lang="en-US" sz="1400" dirty="0"/>
          </a:p>
        </p:txBody>
      </p:sp>
      <p:sp>
        <p:nvSpPr>
          <p:cNvPr id="21" name="Text 19"/>
          <p:cNvSpPr/>
          <p:nvPr/>
        </p:nvSpPr>
        <p:spPr>
          <a:xfrm>
            <a:off x="7223760" y="2395728"/>
            <a:ext cx="731520" cy="320040"/>
          </a:xfrm>
          <a:prstGeom prst="rect">
            <a:avLst/>
          </a:prstGeom>
          <a:noFill/>
          <a:ln/>
        </p:spPr>
        <p:txBody>
          <a:bodyPr wrap="square" lIns="0" tIns="0" rIns="0" bIns="0" rtlCol="0" anchor="ctr"/>
          <a:lstStyle/>
          <a:p>
            <a:pPr marL="0" indent="0">
              <a:buNone/>
            </a:pPr>
            <a:r>
              <a:rPr lang="en-US" sz="1300" dirty="0">
                <a:solidFill>
                  <a:srgbClr val="CBD5E1"/>
                </a:solidFill>
              </a:rPr>
              <a:t>5/13</a:t>
            </a:r>
            <a:endParaRPr lang="en-US" sz="1300" dirty="0"/>
          </a:p>
        </p:txBody>
      </p:sp>
      <p:sp>
        <p:nvSpPr>
          <p:cNvPr id="22" name="Text 20"/>
          <p:cNvSpPr/>
          <p:nvPr/>
        </p:nvSpPr>
        <p:spPr>
          <a:xfrm>
            <a:off x="8138160" y="2395728"/>
            <a:ext cx="548640" cy="320040"/>
          </a:xfrm>
          <a:prstGeom prst="rect">
            <a:avLst/>
          </a:prstGeom>
          <a:noFill/>
          <a:ln/>
        </p:spPr>
        <p:txBody>
          <a:bodyPr wrap="square" lIns="0" tIns="0" rIns="0" bIns="0" rtlCol="0" anchor="ctr"/>
          <a:lstStyle/>
          <a:p>
            <a:pPr marL="0" indent="0">
              <a:buNone/>
            </a:pPr>
            <a:r>
              <a:rPr lang="en-US" sz="1300" dirty="0">
                <a:solidFill>
                  <a:srgbClr val="CBD5E1"/>
                </a:solidFill>
              </a:rPr>
              <a:t>22/25</a:t>
            </a:r>
            <a:endParaRPr lang="en-US" sz="1300" dirty="0"/>
          </a:p>
        </p:txBody>
      </p:sp>
      <p:sp>
        <p:nvSpPr>
          <p:cNvPr id="23" name="Shape 21"/>
          <p:cNvSpPr/>
          <p:nvPr/>
        </p:nvSpPr>
        <p:spPr>
          <a:xfrm>
            <a:off x="320040" y="2962656"/>
            <a:ext cx="8503920" cy="685800"/>
          </a:xfrm>
          <a:prstGeom prst="rect">
            <a:avLst/>
          </a:prstGeom>
          <a:solidFill>
            <a:srgbClr val="132030"/>
          </a:solidFill>
          <a:ln/>
        </p:spPr>
        <p:txBody>
          <a:bodyPr/>
          <a:lstStyle/>
          <a:p>
            <a:endParaRPr lang="en-US"/>
          </a:p>
        </p:txBody>
      </p:sp>
      <p:sp>
        <p:nvSpPr>
          <p:cNvPr id="24" name="Text 22"/>
          <p:cNvSpPr/>
          <p:nvPr/>
        </p:nvSpPr>
        <p:spPr>
          <a:xfrm>
            <a:off x="502920" y="3017520"/>
            <a:ext cx="4434840" cy="576072"/>
          </a:xfrm>
          <a:prstGeom prst="rect">
            <a:avLst/>
          </a:prstGeom>
          <a:noFill/>
          <a:ln/>
        </p:spPr>
        <p:txBody>
          <a:bodyPr wrap="square" lIns="0" tIns="0" rIns="0" bIns="0" rtlCol="0" anchor="ctr"/>
          <a:lstStyle/>
          <a:p>
            <a:pPr marL="0" indent="0">
              <a:buNone/>
            </a:pPr>
            <a:r>
              <a:rPr lang="en-US" sz="1100" dirty="0">
                <a:solidFill>
                  <a:srgbClr val="CBD5E1"/>
                </a:solidFill>
              </a:rPr>
              <a:t>EEGNet</a:t>
            </a:r>
            <a:endParaRPr lang="en-US" sz="1100" dirty="0"/>
          </a:p>
          <a:p>
            <a:pPr marL="0" indent="0">
              <a:buNone/>
            </a:pPr>
            <a:r>
              <a:rPr lang="en-US" sz="1100" dirty="0">
                <a:solidFill>
                  <a:srgbClr val="CBD5E1"/>
                </a:solidFill>
              </a:rPr>
              <a:t>raw windows, 20 epochs</a:t>
            </a:r>
            <a:endParaRPr lang="en-US" sz="1100" dirty="0"/>
          </a:p>
        </p:txBody>
      </p:sp>
      <p:sp>
        <p:nvSpPr>
          <p:cNvPr id="25" name="Text 23"/>
          <p:cNvSpPr/>
          <p:nvPr/>
        </p:nvSpPr>
        <p:spPr>
          <a:xfrm>
            <a:off x="5029200" y="3108960"/>
            <a:ext cx="914400" cy="384048"/>
          </a:xfrm>
          <a:prstGeom prst="rect">
            <a:avLst/>
          </a:prstGeom>
          <a:noFill/>
          <a:ln/>
        </p:spPr>
        <p:txBody>
          <a:bodyPr wrap="square" lIns="0" tIns="0" rIns="0" bIns="0" rtlCol="0" anchor="ctr"/>
          <a:lstStyle/>
          <a:p>
            <a:pPr marL="0" indent="0">
              <a:buNone/>
            </a:pPr>
            <a:r>
              <a:rPr lang="en-US" sz="1800" b="1" dirty="0">
                <a:solidFill>
                  <a:srgbClr val="A855F7"/>
                </a:solidFill>
              </a:rPr>
              <a:t>0.619</a:t>
            </a:r>
            <a:endParaRPr lang="en-US" sz="1800" dirty="0"/>
          </a:p>
        </p:txBody>
      </p:sp>
      <p:sp>
        <p:nvSpPr>
          <p:cNvPr id="26" name="Text 24"/>
          <p:cNvSpPr/>
          <p:nvPr/>
        </p:nvSpPr>
        <p:spPr>
          <a:xfrm>
            <a:off x="6217920" y="3145536"/>
            <a:ext cx="822960" cy="320040"/>
          </a:xfrm>
          <a:prstGeom prst="rect">
            <a:avLst/>
          </a:prstGeom>
          <a:noFill/>
          <a:ln/>
        </p:spPr>
        <p:txBody>
          <a:bodyPr wrap="square" lIns="0" tIns="0" rIns="0" bIns="0" rtlCol="0" anchor="ctr"/>
          <a:lstStyle/>
          <a:p>
            <a:pPr marL="0" indent="0">
              <a:buNone/>
            </a:pPr>
            <a:r>
              <a:rPr lang="en-US" sz="1400" dirty="0">
                <a:solidFill>
                  <a:srgbClr val="CBD5E1"/>
                </a:solidFill>
              </a:rPr>
              <a:t>0.606</a:t>
            </a:r>
            <a:endParaRPr lang="en-US" sz="1400" dirty="0"/>
          </a:p>
        </p:txBody>
      </p:sp>
      <p:sp>
        <p:nvSpPr>
          <p:cNvPr id="27" name="Text 25"/>
          <p:cNvSpPr/>
          <p:nvPr/>
        </p:nvSpPr>
        <p:spPr>
          <a:xfrm>
            <a:off x="7223760" y="3145536"/>
            <a:ext cx="731520" cy="320040"/>
          </a:xfrm>
          <a:prstGeom prst="rect">
            <a:avLst/>
          </a:prstGeom>
          <a:noFill/>
          <a:ln/>
        </p:spPr>
        <p:txBody>
          <a:bodyPr wrap="square" lIns="0" tIns="0" rIns="0" bIns="0" rtlCol="0" anchor="ctr"/>
          <a:lstStyle/>
          <a:p>
            <a:pPr marL="0" indent="0">
              <a:buNone/>
            </a:pPr>
            <a:r>
              <a:rPr lang="en-US" sz="1300" dirty="0">
                <a:solidFill>
                  <a:srgbClr val="CBD5E1"/>
                </a:solidFill>
              </a:rPr>
              <a:t>9/13</a:t>
            </a:r>
            <a:endParaRPr lang="en-US" sz="1300" dirty="0"/>
          </a:p>
        </p:txBody>
      </p:sp>
      <p:sp>
        <p:nvSpPr>
          <p:cNvPr id="28" name="Text 26"/>
          <p:cNvSpPr/>
          <p:nvPr/>
        </p:nvSpPr>
        <p:spPr>
          <a:xfrm>
            <a:off x="8138160" y="3145536"/>
            <a:ext cx="548640" cy="320040"/>
          </a:xfrm>
          <a:prstGeom prst="rect">
            <a:avLst/>
          </a:prstGeom>
          <a:noFill/>
          <a:ln/>
        </p:spPr>
        <p:txBody>
          <a:bodyPr wrap="square" lIns="0" tIns="0" rIns="0" bIns="0" rtlCol="0" anchor="ctr"/>
          <a:lstStyle/>
          <a:p>
            <a:pPr marL="0" indent="0">
              <a:buNone/>
            </a:pPr>
            <a:r>
              <a:rPr lang="en-US" sz="1300" dirty="0">
                <a:solidFill>
                  <a:srgbClr val="CBD5E1"/>
                </a:solidFill>
              </a:rPr>
              <a:t>13/25</a:t>
            </a:r>
            <a:endParaRPr lang="en-US" sz="1300" dirty="0"/>
          </a:p>
        </p:txBody>
      </p:sp>
      <p:sp>
        <p:nvSpPr>
          <p:cNvPr id="29" name="Shape 27"/>
          <p:cNvSpPr/>
          <p:nvPr/>
        </p:nvSpPr>
        <p:spPr>
          <a:xfrm>
            <a:off x="320040" y="3712464"/>
            <a:ext cx="8503920" cy="685800"/>
          </a:xfrm>
          <a:prstGeom prst="rect">
            <a:avLst/>
          </a:prstGeom>
          <a:solidFill>
            <a:srgbClr val="1E3347"/>
          </a:solidFill>
          <a:ln/>
          <a:effectLst>
            <a:outerShdw blurRad="101600" dist="38100" dir="8100000" algn="bl" rotWithShape="0">
              <a:srgbClr val="000000">
                <a:alpha val="25000"/>
              </a:srgbClr>
            </a:outerShdw>
          </a:effectLst>
        </p:spPr>
        <p:txBody>
          <a:bodyPr/>
          <a:lstStyle/>
          <a:p>
            <a:endParaRPr lang="en-US"/>
          </a:p>
        </p:txBody>
      </p:sp>
      <p:sp>
        <p:nvSpPr>
          <p:cNvPr id="30" name="Shape 28"/>
          <p:cNvSpPr/>
          <p:nvPr/>
        </p:nvSpPr>
        <p:spPr>
          <a:xfrm>
            <a:off x="320040" y="3712464"/>
            <a:ext cx="91440" cy="685800"/>
          </a:xfrm>
          <a:prstGeom prst="rect">
            <a:avLst/>
          </a:prstGeom>
          <a:solidFill>
            <a:srgbClr val="02C39A"/>
          </a:solidFill>
          <a:ln/>
        </p:spPr>
        <p:txBody>
          <a:bodyPr/>
          <a:lstStyle/>
          <a:p>
            <a:endParaRPr lang="en-US"/>
          </a:p>
        </p:txBody>
      </p:sp>
      <p:sp>
        <p:nvSpPr>
          <p:cNvPr id="31" name="Text 29"/>
          <p:cNvSpPr/>
          <p:nvPr/>
        </p:nvSpPr>
        <p:spPr>
          <a:xfrm>
            <a:off x="502920" y="3767328"/>
            <a:ext cx="4434840" cy="576072"/>
          </a:xfrm>
          <a:prstGeom prst="rect">
            <a:avLst/>
          </a:prstGeom>
          <a:noFill/>
          <a:ln/>
        </p:spPr>
        <p:txBody>
          <a:bodyPr wrap="square" lIns="0" tIns="0" rIns="0" bIns="0" rtlCol="0" anchor="ctr"/>
          <a:lstStyle/>
          <a:p>
            <a:pPr marL="0" indent="0">
              <a:buNone/>
            </a:pPr>
            <a:r>
              <a:rPr lang="en-US" sz="1200" b="1" dirty="0">
                <a:solidFill>
                  <a:srgbClr val="FFFFFF"/>
                </a:solidFill>
              </a:rPr>
              <a:t>Ensemble  ★ FINAL</a:t>
            </a:r>
            <a:endParaRPr lang="en-US" sz="1200" dirty="0"/>
          </a:p>
          <a:p>
            <a:pPr marL="0" indent="0">
              <a:buNone/>
            </a:pPr>
            <a:r>
              <a:rPr lang="en-US" sz="1200" b="1" dirty="0">
                <a:solidFill>
                  <a:srgbClr val="FFFFFF"/>
                </a:solidFill>
              </a:rPr>
              <a:t>XGB×0.45 + EEGNet×0.55, thresh=0.40</a:t>
            </a:r>
            <a:endParaRPr lang="en-US" sz="1200" dirty="0"/>
          </a:p>
        </p:txBody>
      </p:sp>
      <p:sp>
        <p:nvSpPr>
          <p:cNvPr id="32" name="Text 30"/>
          <p:cNvSpPr/>
          <p:nvPr/>
        </p:nvSpPr>
        <p:spPr>
          <a:xfrm>
            <a:off x="5029200" y="3858768"/>
            <a:ext cx="914400" cy="384048"/>
          </a:xfrm>
          <a:prstGeom prst="rect">
            <a:avLst/>
          </a:prstGeom>
          <a:noFill/>
          <a:ln/>
        </p:spPr>
        <p:txBody>
          <a:bodyPr wrap="square" lIns="0" tIns="0" rIns="0" bIns="0" rtlCol="0" anchor="ctr"/>
          <a:lstStyle/>
          <a:p>
            <a:pPr marL="0" indent="0">
              <a:buNone/>
            </a:pPr>
            <a:r>
              <a:rPr lang="en-US" sz="2200" b="1" dirty="0">
                <a:solidFill>
                  <a:srgbClr val="02C39A"/>
                </a:solidFill>
              </a:rPr>
              <a:t>0.821</a:t>
            </a:r>
            <a:endParaRPr lang="en-US" sz="2200" dirty="0"/>
          </a:p>
        </p:txBody>
      </p:sp>
      <p:sp>
        <p:nvSpPr>
          <p:cNvPr id="33" name="Text 31"/>
          <p:cNvSpPr/>
          <p:nvPr/>
        </p:nvSpPr>
        <p:spPr>
          <a:xfrm>
            <a:off x="6217920" y="3895344"/>
            <a:ext cx="822960" cy="320040"/>
          </a:xfrm>
          <a:prstGeom prst="rect">
            <a:avLst/>
          </a:prstGeom>
          <a:noFill/>
          <a:ln/>
        </p:spPr>
        <p:txBody>
          <a:bodyPr wrap="square" lIns="0" tIns="0" rIns="0" bIns="0" rtlCol="0" anchor="ctr"/>
          <a:lstStyle/>
          <a:p>
            <a:pPr marL="0" indent="0">
              <a:buNone/>
            </a:pPr>
            <a:r>
              <a:rPr lang="en-US" sz="1400" dirty="0">
                <a:solidFill>
                  <a:srgbClr val="CBD5E1"/>
                </a:solidFill>
              </a:rPr>
              <a:t>0.652</a:t>
            </a:r>
            <a:endParaRPr lang="en-US" sz="1400" dirty="0"/>
          </a:p>
        </p:txBody>
      </p:sp>
      <p:sp>
        <p:nvSpPr>
          <p:cNvPr id="34" name="Text 32"/>
          <p:cNvSpPr/>
          <p:nvPr/>
        </p:nvSpPr>
        <p:spPr>
          <a:xfrm>
            <a:off x="7223760" y="3895344"/>
            <a:ext cx="731520" cy="320040"/>
          </a:xfrm>
          <a:prstGeom prst="rect">
            <a:avLst/>
          </a:prstGeom>
          <a:noFill/>
          <a:ln/>
        </p:spPr>
        <p:txBody>
          <a:bodyPr wrap="square" lIns="0" tIns="0" rIns="0" bIns="0" rtlCol="0" anchor="ctr"/>
          <a:lstStyle/>
          <a:p>
            <a:pPr marL="0" indent="0">
              <a:buNone/>
            </a:pPr>
            <a:r>
              <a:rPr lang="en-US" sz="1300" dirty="0">
                <a:solidFill>
                  <a:srgbClr val="CBD5E1"/>
                </a:solidFill>
              </a:rPr>
              <a:t>5/13</a:t>
            </a:r>
            <a:endParaRPr lang="en-US" sz="1300" dirty="0"/>
          </a:p>
        </p:txBody>
      </p:sp>
      <p:sp>
        <p:nvSpPr>
          <p:cNvPr id="35" name="Text 33"/>
          <p:cNvSpPr/>
          <p:nvPr/>
        </p:nvSpPr>
        <p:spPr>
          <a:xfrm>
            <a:off x="8138160" y="3895344"/>
            <a:ext cx="548640" cy="320040"/>
          </a:xfrm>
          <a:prstGeom prst="rect">
            <a:avLst/>
          </a:prstGeom>
          <a:noFill/>
          <a:ln/>
        </p:spPr>
        <p:txBody>
          <a:bodyPr wrap="square" lIns="0" tIns="0" rIns="0" bIns="0" rtlCol="0" anchor="ctr"/>
          <a:lstStyle/>
          <a:p>
            <a:pPr marL="0" indent="0">
              <a:buNone/>
            </a:pPr>
            <a:r>
              <a:rPr lang="en-US" sz="1300" dirty="0">
                <a:solidFill>
                  <a:srgbClr val="02C39A"/>
                </a:solidFill>
              </a:rPr>
              <a:t>23/25</a:t>
            </a:r>
            <a:endParaRPr lang="en-US" sz="1300" dirty="0"/>
          </a:p>
        </p:txBody>
      </p:sp>
      <p:sp>
        <p:nvSpPr>
          <p:cNvPr id="36" name="Shape 34"/>
          <p:cNvSpPr/>
          <p:nvPr/>
        </p:nvSpPr>
        <p:spPr>
          <a:xfrm>
            <a:off x="320040" y="4480560"/>
            <a:ext cx="8503920" cy="502920"/>
          </a:xfrm>
          <a:prstGeom prst="rect">
            <a:avLst/>
          </a:prstGeom>
          <a:solidFill>
            <a:srgbClr val="1E3347"/>
          </a:solidFill>
          <a:ln/>
        </p:spPr>
        <p:txBody>
          <a:bodyPr/>
          <a:lstStyle/>
          <a:p>
            <a:endParaRPr lang="en-US"/>
          </a:p>
        </p:txBody>
      </p:sp>
      <p:sp>
        <p:nvSpPr>
          <p:cNvPr id="37" name="Text 35"/>
          <p:cNvSpPr/>
          <p:nvPr/>
        </p:nvSpPr>
        <p:spPr>
          <a:xfrm>
            <a:off x="320040" y="4480560"/>
            <a:ext cx="8503920" cy="502920"/>
          </a:xfrm>
          <a:prstGeom prst="rect">
            <a:avLst/>
          </a:prstGeom>
          <a:noFill/>
          <a:ln/>
        </p:spPr>
        <p:txBody>
          <a:bodyPr wrap="square" lIns="0" tIns="0" rIns="0" bIns="0" rtlCol="0" anchor="ctr"/>
          <a:lstStyle/>
          <a:p>
            <a:pPr marL="0" indent="0" algn="ctr">
              <a:buNone/>
            </a:pPr>
            <a:r>
              <a:rPr lang="en-US" sz="1000" i="1" dirty="0">
                <a:solidFill>
                  <a:srgbClr val="64748B"/>
                </a:solidFill>
              </a:rPr>
              <a:t>[ INSERT: baseline_results.png  — confusion matrices side by side ]</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A7EA4"/>
          </a:solidFill>
          <a:ln/>
        </p:spPr>
        <p:txBody>
          <a:bodyPr/>
          <a:lstStyle/>
          <a:p>
            <a:endParaRPr lang="en-US"/>
          </a:p>
        </p:txBody>
      </p:sp>
      <p:sp>
        <p:nvSpPr>
          <p:cNvPr id="3" name="Text 1"/>
          <p:cNvSpPr/>
          <p:nvPr/>
        </p:nvSpPr>
        <p:spPr>
          <a:xfrm>
            <a:off x="365760" y="201168"/>
            <a:ext cx="1828800" cy="274320"/>
          </a:xfrm>
          <a:prstGeom prst="rect">
            <a:avLst/>
          </a:prstGeom>
          <a:noFill/>
          <a:ln/>
        </p:spPr>
        <p:txBody>
          <a:bodyPr wrap="square" lIns="0" tIns="0" rIns="0" bIns="0" rtlCol="0" anchor="ctr"/>
          <a:lstStyle/>
          <a:p>
            <a:pPr marL="0" indent="0">
              <a:buNone/>
            </a:pPr>
            <a:r>
              <a:rPr lang="en-US" sz="1100" b="1" dirty="0">
                <a:solidFill>
                  <a:srgbClr val="0A7EA4"/>
                </a:solidFill>
              </a:rPr>
              <a:t>Findings</a:t>
            </a:r>
            <a:endParaRPr lang="en-US" sz="11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What the Model Learned About AD</a:t>
            </a:r>
            <a:endParaRPr lang="en-US" sz="2400" dirty="0"/>
          </a:p>
        </p:txBody>
      </p:sp>
      <p:sp>
        <p:nvSpPr>
          <p:cNvPr id="5" name="Shape 3"/>
          <p:cNvSpPr/>
          <p:nvPr/>
        </p:nvSpPr>
        <p:spPr>
          <a:xfrm>
            <a:off x="320040" y="1005840"/>
            <a:ext cx="4160520" cy="2194560"/>
          </a:xfrm>
          <a:prstGeom prst="rect">
            <a:avLst/>
          </a:prstGeom>
          <a:solidFill>
            <a:srgbClr val="DBEAFE"/>
          </a:solidFill>
          <a:ln/>
          <a:effectLst>
            <a:outerShdw blurRad="101600" dist="38100" dir="8100000" algn="bl" rotWithShape="0">
              <a:srgbClr val="000000">
                <a:alpha val="25000"/>
              </a:srgbClr>
            </a:outerShdw>
          </a:effectLst>
        </p:spPr>
        <p:txBody>
          <a:bodyPr/>
          <a:lstStyle/>
          <a:p>
            <a:endParaRPr lang="en-US"/>
          </a:p>
        </p:txBody>
      </p:sp>
      <p:sp>
        <p:nvSpPr>
          <p:cNvPr id="6" name="Text 4"/>
          <p:cNvSpPr/>
          <p:nvPr/>
        </p:nvSpPr>
        <p:spPr>
          <a:xfrm>
            <a:off x="320040" y="1005840"/>
            <a:ext cx="4160520" cy="2194560"/>
          </a:xfrm>
          <a:prstGeom prst="rect">
            <a:avLst/>
          </a:prstGeom>
          <a:noFill/>
          <a:ln/>
        </p:spPr>
        <p:txBody>
          <a:bodyPr wrap="square" lIns="0" tIns="0" rIns="0" bIns="0" rtlCol="0" anchor="ctr"/>
          <a:lstStyle/>
          <a:p>
            <a:pPr marL="0" indent="0" algn="ctr">
              <a:buNone/>
            </a:pPr>
            <a:r>
              <a:rPr lang="en-US" sz="1100" i="1" dirty="0">
                <a:solidFill>
                  <a:srgbClr val="64748B"/>
                </a:solidFill>
              </a:rPr>
              <a:t>[ INSERT: baseline_results.png</a:t>
            </a:r>
            <a:endParaRPr lang="en-US" sz="1100" dirty="0"/>
          </a:p>
          <a:p>
            <a:pPr marL="0" indent="0" algn="ctr">
              <a:buNone/>
            </a:pPr>
            <a:r>
              <a:rPr lang="en-US" sz="1100" i="1" dirty="0">
                <a:solidFill>
                  <a:srgbClr val="64748B"/>
                </a:solidFill>
              </a:rPr>
              <a:t>Spectral slowing bar chart</a:t>
            </a:r>
            <a:endParaRPr lang="en-US" sz="1100" dirty="0"/>
          </a:p>
          <a:p>
            <a:pPr marL="0" indent="0" algn="ctr">
              <a:buNone/>
            </a:pPr>
            <a:r>
              <a:rPr lang="en-US" sz="1100" i="1" dirty="0">
                <a:solidFill>
                  <a:srgbClr val="64748B"/>
                </a:solidFill>
              </a:rPr>
              <a:t>(AD: δ/θ higher, CN: α/β higher) ]</a:t>
            </a:r>
            <a:endParaRPr lang="en-US" sz="1100" dirty="0"/>
          </a:p>
        </p:txBody>
      </p:sp>
      <p:sp>
        <p:nvSpPr>
          <p:cNvPr id="7" name="Shape 5"/>
          <p:cNvSpPr/>
          <p:nvPr/>
        </p:nvSpPr>
        <p:spPr>
          <a:xfrm>
            <a:off x="320040" y="3337560"/>
            <a:ext cx="4160520" cy="1554480"/>
          </a:xfrm>
          <a:prstGeom prst="rect">
            <a:avLst/>
          </a:prstGeom>
          <a:solidFill>
            <a:srgbClr val="DBEAFE"/>
          </a:solidFill>
          <a:ln/>
          <a:effectLst>
            <a:outerShdw blurRad="101600" dist="38100" dir="8100000" algn="bl" rotWithShape="0">
              <a:srgbClr val="000000">
                <a:alpha val="25000"/>
              </a:srgbClr>
            </a:outerShdw>
          </a:effectLst>
        </p:spPr>
        <p:txBody>
          <a:bodyPr/>
          <a:lstStyle/>
          <a:p>
            <a:endParaRPr lang="en-US"/>
          </a:p>
        </p:txBody>
      </p:sp>
      <p:sp>
        <p:nvSpPr>
          <p:cNvPr id="8" name="Text 6"/>
          <p:cNvSpPr/>
          <p:nvPr/>
        </p:nvSpPr>
        <p:spPr>
          <a:xfrm>
            <a:off x="320040" y="3337560"/>
            <a:ext cx="4160520" cy="1554480"/>
          </a:xfrm>
          <a:prstGeom prst="rect">
            <a:avLst/>
          </a:prstGeom>
          <a:noFill/>
          <a:ln/>
        </p:spPr>
        <p:txBody>
          <a:bodyPr wrap="square" lIns="0" tIns="0" rIns="0" bIns="0" rtlCol="0" anchor="ctr"/>
          <a:lstStyle/>
          <a:p>
            <a:pPr marL="0" indent="0" algn="ctr">
              <a:buNone/>
            </a:pPr>
            <a:r>
              <a:rPr lang="en-US" sz="1100" i="1" dirty="0">
                <a:solidFill>
                  <a:srgbClr val="64748B"/>
                </a:solidFill>
              </a:rPr>
              <a:t>[ INSERT: feature_importance.png</a:t>
            </a:r>
            <a:endParaRPr lang="en-US" sz="1100" dirty="0"/>
          </a:p>
          <a:p>
            <a:pPr marL="0" indent="0" algn="ctr">
              <a:buNone/>
            </a:pPr>
            <a:r>
              <a:rPr lang="en-US" sz="1100" i="1" dirty="0">
                <a:solidFill>
                  <a:srgbClr val="64748B"/>
                </a:solidFill>
              </a:rPr>
              <a:t>Top 20 XGBoost features ]</a:t>
            </a:r>
            <a:endParaRPr lang="en-US" sz="1100" dirty="0"/>
          </a:p>
        </p:txBody>
      </p:sp>
      <p:sp>
        <p:nvSpPr>
          <p:cNvPr id="9" name="Text 7"/>
          <p:cNvSpPr/>
          <p:nvPr/>
        </p:nvSpPr>
        <p:spPr>
          <a:xfrm>
            <a:off x="4663440" y="960120"/>
            <a:ext cx="4206240" cy="320040"/>
          </a:xfrm>
          <a:prstGeom prst="rect">
            <a:avLst/>
          </a:prstGeom>
          <a:noFill/>
          <a:ln/>
        </p:spPr>
        <p:txBody>
          <a:bodyPr wrap="square" lIns="0" tIns="0" rIns="0" bIns="0" rtlCol="0" anchor="ctr"/>
          <a:lstStyle/>
          <a:p>
            <a:pPr marL="0" indent="0">
              <a:buNone/>
            </a:pPr>
            <a:r>
              <a:rPr lang="en-US" sz="1300" b="1" dirty="0">
                <a:solidFill>
                  <a:srgbClr val="0D1B2A"/>
                </a:solidFill>
              </a:rPr>
              <a:t>What the features reveal:</a:t>
            </a:r>
            <a:endParaRPr lang="en-US" sz="1300" dirty="0"/>
          </a:p>
        </p:txBody>
      </p:sp>
      <p:sp>
        <p:nvSpPr>
          <p:cNvPr id="10" name="Shape 8"/>
          <p:cNvSpPr/>
          <p:nvPr/>
        </p:nvSpPr>
        <p:spPr>
          <a:xfrm>
            <a:off x="4663440" y="1325880"/>
            <a:ext cx="4251960" cy="777240"/>
          </a:xfrm>
          <a:prstGeom prst="rect">
            <a:avLst/>
          </a:prstGeom>
          <a:solidFill>
            <a:srgbClr val="0D1B2A"/>
          </a:solidFill>
          <a:ln/>
          <a:effectLst>
            <a:outerShdw blurRad="101600" dist="38100" dir="8100000" algn="bl" rotWithShape="0">
              <a:srgbClr val="000000">
                <a:alpha val="25000"/>
              </a:srgbClr>
            </a:outerShdw>
          </a:effectLst>
        </p:spPr>
        <p:txBody>
          <a:bodyPr/>
          <a:lstStyle/>
          <a:p>
            <a:endParaRPr lang="en-US"/>
          </a:p>
        </p:txBody>
      </p:sp>
      <p:sp>
        <p:nvSpPr>
          <p:cNvPr id="11" name="Shape 9"/>
          <p:cNvSpPr/>
          <p:nvPr/>
        </p:nvSpPr>
        <p:spPr>
          <a:xfrm>
            <a:off x="4663440" y="1325880"/>
            <a:ext cx="73152" cy="777240"/>
          </a:xfrm>
          <a:prstGeom prst="rect">
            <a:avLst/>
          </a:prstGeom>
          <a:solidFill>
            <a:srgbClr val="EF4444"/>
          </a:solidFill>
          <a:ln/>
        </p:spPr>
        <p:txBody>
          <a:bodyPr/>
          <a:lstStyle/>
          <a:p>
            <a:endParaRPr lang="en-US"/>
          </a:p>
        </p:txBody>
      </p:sp>
      <p:sp>
        <p:nvSpPr>
          <p:cNvPr id="12" name="Text 10"/>
          <p:cNvSpPr/>
          <p:nvPr/>
        </p:nvSpPr>
        <p:spPr>
          <a:xfrm>
            <a:off x="4800600" y="1380744"/>
            <a:ext cx="4023360" cy="274320"/>
          </a:xfrm>
          <a:prstGeom prst="rect">
            <a:avLst/>
          </a:prstGeom>
          <a:noFill/>
          <a:ln/>
        </p:spPr>
        <p:txBody>
          <a:bodyPr wrap="square" lIns="0" tIns="0" rIns="0" bIns="0" rtlCol="0" anchor="ctr"/>
          <a:lstStyle/>
          <a:p>
            <a:pPr marL="0" indent="0">
              <a:buNone/>
            </a:pPr>
            <a:r>
              <a:rPr lang="en-US" sz="1100" b="1" dirty="0">
                <a:solidFill>
                  <a:srgbClr val="FFFFFF"/>
                </a:solidFill>
              </a:rPr>
              <a:t>↑  Spectral slowing confirmed</a:t>
            </a:r>
            <a:endParaRPr lang="en-US" sz="1100" dirty="0"/>
          </a:p>
        </p:txBody>
      </p:sp>
      <p:sp>
        <p:nvSpPr>
          <p:cNvPr id="13" name="Text 11"/>
          <p:cNvSpPr/>
          <p:nvPr/>
        </p:nvSpPr>
        <p:spPr>
          <a:xfrm>
            <a:off x="4800600" y="1655064"/>
            <a:ext cx="4023360" cy="402336"/>
          </a:xfrm>
          <a:prstGeom prst="rect">
            <a:avLst/>
          </a:prstGeom>
          <a:noFill/>
          <a:ln/>
        </p:spPr>
        <p:txBody>
          <a:bodyPr wrap="square" lIns="0" tIns="0" rIns="0" bIns="0" rtlCol="0" anchor="ctr"/>
          <a:lstStyle/>
          <a:p>
            <a:pPr marL="0" indent="0">
              <a:buNone/>
            </a:pPr>
            <a:r>
              <a:rPr lang="en-US" sz="1000" dirty="0">
                <a:solidFill>
                  <a:srgbClr val="CBD5E1"/>
                </a:solidFill>
              </a:rPr>
              <a:t>Delta and theta RBP consistently higher in AD. Alpha and beta RBP lower. Matches established clinical literature on AD EEG biomarkers.</a:t>
            </a:r>
            <a:endParaRPr lang="en-US" sz="1000" dirty="0"/>
          </a:p>
        </p:txBody>
      </p:sp>
      <p:sp>
        <p:nvSpPr>
          <p:cNvPr id="14" name="Shape 12"/>
          <p:cNvSpPr/>
          <p:nvPr/>
        </p:nvSpPr>
        <p:spPr>
          <a:xfrm>
            <a:off x="4663440" y="2194560"/>
            <a:ext cx="4251960" cy="777240"/>
          </a:xfrm>
          <a:prstGeom prst="rect">
            <a:avLst/>
          </a:prstGeom>
          <a:solidFill>
            <a:srgbClr val="0D1B2A"/>
          </a:solidFill>
          <a:ln/>
          <a:effectLst>
            <a:outerShdw blurRad="101600" dist="38100" dir="8100000" algn="bl" rotWithShape="0">
              <a:srgbClr val="000000">
                <a:alpha val="25000"/>
              </a:srgbClr>
            </a:outerShdw>
          </a:effectLst>
        </p:spPr>
        <p:txBody>
          <a:bodyPr/>
          <a:lstStyle/>
          <a:p>
            <a:endParaRPr lang="en-US"/>
          </a:p>
        </p:txBody>
      </p:sp>
      <p:sp>
        <p:nvSpPr>
          <p:cNvPr id="15" name="Shape 13"/>
          <p:cNvSpPr/>
          <p:nvPr/>
        </p:nvSpPr>
        <p:spPr>
          <a:xfrm>
            <a:off x="4663440" y="2194560"/>
            <a:ext cx="73152" cy="777240"/>
          </a:xfrm>
          <a:prstGeom prst="rect">
            <a:avLst/>
          </a:prstGeom>
          <a:solidFill>
            <a:srgbClr val="F59E0B"/>
          </a:solidFill>
          <a:ln/>
        </p:spPr>
        <p:txBody>
          <a:bodyPr/>
          <a:lstStyle/>
          <a:p>
            <a:endParaRPr lang="en-US"/>
          </a:p>
        </p:txBody>
      </p:sp>
      <p:sp>
        <p:nvSpPr>
          <p:cNvPr id="16" name="Text 14"/>
          <p:cNvSpPr/>
          <p:nvPr/>
        </p:nvSpPr>
        <p:spPr>
          <a:xfrm>
            <a:off x="4800600" y="2249424"/>
            <a:ext cx="4023360" cy="274320"/>
          </a:xfrm>
          <a:prstGeom prst="rect">
            <a:avLst/>
          </a:prstGeom>
          <a:noFill/>
          <a:ln/>
        </p:spPr>
        <p:txBody>
          <a:bodyPr wrap="square" lIns="0" tIns="0" rIns="0" bIns="0" rtlCol="0" anchor="ctr"/>
          <a:lstStyle/>
          <a:p>
            <a:pPr marL="0" indent="0">
              <a:buNone/>
            </a:pPr>
            <a:r>
              <a:rPr lang="en-US" sz="1100" b="1" dirty="0">
                <a:solidFill>
                  <a:srgbClr val="FFFFFF"/>
                </a:solidFill>
              </a:rPr>
              <a:t>⚡  Connectivity breakdown</a:t>
            </a:r>
            <a:endParaRPr lang="en-US" sz="1100" dirty="0"/>
          </a:p>
        </p:txBody>
      </p:sp>
      <p:sp>
        <p:nvSpPr>
          <p:cNvPr id="17" name="Text 15"/>
          <p:cNvSpPr/>
          <p:nvPr/>
        </p:nvSpPr>
        <p:spPr>
          <a:xfrm>
            <a:off x="4800600" y="2523744"/>
            <a:ext cx="4023360" cy="402336"/>
          </a:xfrm>
          <a:prstGeom prst="rect">
            <a:avLst/>
          </a:prstGeom>
          <a:noFill/>
          <a:ln/>
        </p:spPr>
        <p:txBody>
          <a:bodyPr wrap="square" lIns="0" tIns="0" rIns="0" bIns="0" rtlCol="0" anchor="ctr"/>
          <a:lstStyle/>
          <a:p>
            <a:pPr marL="0" indent="0">
              <a:buNone/>
            </a:pPr>
            <a:r>
              <a:rPr lang="en-US" sz="1000" dirty="0">
                <a:solidFill>
                  <a:srgbClr val="CBD5E1"/>
                </a:solidFill>
              </a:rPr>
              <a:t>SCC features (especially alpha band) rank highly in XGBoost importance. Reduced inter-electrode coherence reflects the 'disconnection syndrome' of AD.</a:t>
            </a:r>
            <a:endParaRPr lang="en-US" sz="1000" dirty="0"/>
          </a:p>
        </p:txBody>
      </p:sp>
      <p:sp>
        <p:nvSpPr>
          <p:cNvPr id="18" name="Shape 16"/>
          <p:cNvSpPr/>
          <p:nvPr/>
        </p:nvSpPr>
        <p:spPr>
          <a:xfrm>
            <a:off x="4663440" y="3063240"/>
            <a:ext cx="4251960" cy="777240"/>
          </a:xfrm>
          <a:prstGeom prst="rect">
            <a:avLst/>
          </a:prstGeom>
          <a:solidFill>
            <a:srgbClr val="0D1B2A"/>
          </a:solidFill>
          <a:ln/>
          <a:effectLst>
            <a:outerShdw blurRad="101600" dist="38100" dir="8100000" algn="bl" rotWithShape="0">
              <a:srgbClr val="000000">
                <a:alpha val="25000"/>
              </a:srgbClr>
            </a:outerShdw>
          </a:effectLst>
        </p:spPr>
        <p:txBody>
          <a:bodyPr/>
          <a:lstStyle/>
          <a:p>
            <a:endParaRPr lang="en-US"/>
          </a:p>
        </p:txBody>
      </p:sp>
      <p:sp>
        <p:nvSpPr>
          <p:cNvPr id="19" name="Shape 17"/>
          <p:cNvSpPr/>
          <p:nvPr/>
        </p:nvSpPr>
        <p:spPr>
          <a:xfrm>
            <a:off x="4663440" y="3063240"/>
            <a:ext cx="73152" cy="777240"/>
          </a:xfrm>
          <a:prstGeom prst="rect">
            <a:avLst/>
          </a:prstGeom>
          <a:solidFill>
            <a:srgbClr val="0A7EA4"/>
          </a:solidFill>
          <a:ln/>
        </p:spPr>
        <p:txBody>
          <a:bodyPr/>
          <a:lstStyle/>
          <a:p>
            <a:endParaRPr lang="en-US"/>
          </a:p>
        </p:txBody>
      </p:sp>
      <p:sp>
        <p:nvSpPr>
          <p:cNvPr id="20" name="Text 18"/>
          <p:cNvSpPr/>
          <p:nvPr/>
        </p:nvSpPr>
        <p:spPr>
          <a:xfrm>
            <a:off x="4800600" y="3118104"/>
            <a:ext cx="4023360" cy="274320"/>
          </a:xfrm>
          <a:prstGeom prst="rect">
            <a:avLst/>
          </a:prstGeom>
          <a:noFill/>
          <a:ln/>
        </p:spPr>
        <p:txBody>
          <a:bodyPr wrap="square" lIns="0" tIns="0" rIns="0" bIns="0" rtlCol="0" anchor="ctr"/>
          <a:lstStyle/>
          <a:p>
            <a:pPr marL="0" indent="0">
              <a:buNone/>
            </a:pPr>
            <a:r>
              <a:rPr lang="en-US" sz="1100" b="1" dirty="0">
                <a:solidFill>
                  <a:srgbClr val="FFFFFF"/>
                </a:solidFill>
              </a:rPr>
              <a:t>📍  Temporal electrode dominance</a:t>
            </a:r>
            <a:endParaRPr lang="en-US" sz="1100" dirty="0"/>
          </a:p>
        </p:txBody>
      </p:sp>
      <p:sp>
        <p:nvSpPr>
          <p:cNvPr id="21" name="Text 19"/>
          <p:cNvSpPr/>
          <p:nvPr/>
        </p:nvSpPr>
        <p:spPr>
          <a:xfrm>
            <a:off x="4800600" y="3392424"/>
            <a:ext cx="4023360" cy="402336"/>
          </a:xfrm>
          <a:prstGeom prst="rect">
            <a:avLst/>
          </a:prstGeom>
          <a:noFill/>
          <a:ln/>
        </p:spPr>
        <p:txBody>
          <a:bodyPr wrap="square" lIns="0" tIns="0" rIns="0" bIns="0" rtlCol="0" anchor="ctr"/>
          <a:lstStyle/>
          <a:p>
            <a:pPr marL="0" indent="0">
              <a:buNone/>
            </a:pPr>
            <a:r>
              <a:rPr lang="en-US" sz="1000" dirty="0">
                <a:solidFill>
                  <a:srgbClr val="CBD5E1"/>
                </a:solidFill>
              </a:rPr>
              <a:t>T5, T4, and T3 features consistently appear in top-20 importance. Aligns with known hippocampal/temporal origin of AD neurodegeneration.</a:t>
            </a:r>
            <a:endParaRPr lang="en-US" sz="1000" dirty="0"/>
          </a:p>
        </p:txBody>
      </p:sp>
      <p:sp>
        <p:nvSpPr>
          <p:cNvPr id="22" name="Shape 20"/>
          <p:cNvSpPr/>
          <p:nvPr/>
        </p:nvSpPr>
        <p:spPr>
          <a:xfrm>
            <a:off x="4663440" y="3931920"/>
            <a:ext cx="4251960" cy="777240"/>
          </a:xfrm>
          <a:prstGeom prst="rect">
            <a:avLst/>
          </a:prstGeom>
          <a:solidFill>
            <a:srgbClr val="0D1B2A"/>
          </a:solidFill>
          <a:ln/>
          <a:effectLst>
            <a:outerShdw blurRad="101600" dist="38100" dir="8100000" algn="bl" rotWithShape="0">
              <a:srgbClr val="000000">
                <a:alpha val="25000"/>
              </a:srgbClr>
            </a:outerShdw>
          </a:effectLst>
        </p:spPr>
        <p:txBody>
          <a:bodyPr/>
          <a:lstStyle/>
          <a:p>
            <a:endParaRPr lang="en-US"/>
          </a:p>
        </p:txBody>
      </p:sp>
      <p:sp>
        <p:nvSpPr>
          <p:cNvPr id="23" name="Shape 21"/>
          <p:cNvSpPr/>
          <p:nvPr/>
        </p:nvSpPr>
        <p:spPr>
          <a:xfrm>
            <a:off x="4663440" y="3931920"/>
            <a:ext cx="73152" cy="777240"/>
          </a:xfrm>
          <a:prstGeom prst="rect">
            <a:avLst/>
          </a:prstGeom>
          <a:solidFill>
            <a:srgbClr val="02C39A"/>
          </a:solidFill>
          <a:ln/>
        </p:spPr>
        <p:txBody>
          <a:bodyPr/>
          <a:lstStyle/>
          <a:p>
            <a:endParaRPr lang="en-US"/>
          </a:p>
        </p:txBody>
      </p:sp>
      <p:sp>
        <p:nvSpPr>
          <p:cNvPr id="24" name="Text 22"/>
          <p:cNvSpPr/>
          <p:nvPr/>
        </p:nvSpPr>
        <p:spPr>
          <a:xfrm>
            <a:off x="4800600" y="3986784"/>
            <a:ext cx="4023360" cy="274320"/>
          </a:xfrm>
          <a:prstGeom prst="rect">
            <a:avLst/>
          </a:prstGeom>
          <a:noFill/>
          <a:ln/>
        </p:spPr>
        <p:txBody>
          <a:bodyPr wrap="square" lIns="0" tIns="0" rIns="0" bIns="0" rtlCol="0" anchor="ctr"/>
          <a:lstStyle/>
          <a:p>
            <a:pPr marL="0" indent="0">
              <a:buNone/>
            </a:pPr>
            <a:r>
              <a:rPr lang="en-US" sz="1100" b="1" dirty="0">
                <a:solidFill>
                  <a:srgbClr val="FFFFFF"/>
                </a:solidFill>
              </a:rPr>
              <a:t>🤝  Ensemble captures complementarity</a:t>
            </a:r>
            <a:endParaRPr lang="en-US" sz="1100" dirty="0"/>
          </a:p>
        </p:txBody>
      </p:sp>
      <p:sp>
        <p:nvSpPr>
          <p:cNvPr id="25" name="Text 23"/>
          <p:cNvSpPr/>
          <p:nvPr/>
        </p:nvSpPr>
        <p:spPr>
          <a:xfrm>
            <a:off x="4800600" y="4261104"/>
            <a:ext cx="4023360" cy="402336"/>
          </a:xfrm>
          <a:prstGeom prst="rect">
            <a:avLst/>
          </a:prstGeom>
          <a:noFill/>
          <a:ln/>
        </p:spPr>
        <p:txBody>
          <a:bodyPr wrap="square" lIns="0" tIns="0" rIns="0" bIns="0" rtlCol="0" anchor="ctr"/>
          <a:lstStyle/>
          <a:p>
            <a:pPr marL="0" indent="0">
              <a:buNone/>
            </a:pPr>
            <a:r>
              <a:rPr lang="en-US" sz="1000" dirty="0">
                <a:solidFill>
                  <a:srgbClr val="CBD5E1"/>
                </a:solidFill>
              </a:rPr>
              <a:t>XGBoost excels at AD recall (sensitivity). EEGNet excels at CN recall (specificity). Combining them raised both simultaneously.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59E0B"/>
          </a:solidFill>
          <a:ln/>
        </p:spPr>
        <p:txBody>
          <a:bodyPr/>
          <a:lstStyle/>
          <a:p>
            <a:endParaRPr lang="en-US"/>
          </a:p>
        </p:txBody>
      </p:sp>
      <p:sp>
        <p:nvSpPr>
          <p:cNvPr id="3" name="Text 1"/>
          <p:cNvSpPr/>
          <p:nvPr/>
        </p:nvSpPr>
        <p:spPr>
          <a:xfrm>
            <a:off x="365760" y="201168"/>
            <a:ext cx="3657600" cy="274320"/>
          </a:xfrm>
          <a:prstGeom prst="rect">
            <a:avLst/>
          </a:prstGeom>
          <a:noFill/>
          <a:ln/>
        </p:spPr>
        <p:txBody>
          <a:bodyPr wrap="square" lIns="0" tIns="0" rIns="0" bIns="0" rtlCol="0" anchor="ctr"/>
          <a:lstStyle/>
          <a:p>
            <a:pPr marL="0" indent="0">
              <a:buNone/>
            </a:pPr>
            <a:r>
              <a:rPr lang="en-US" sz="1100" b="1" dirty="0">
                <a:solidFill>
                  <a:srgbClr val="F59E0B"/>
                </a:solidFill>
              </a:rPr>
              <a:t>Honest Reflection</a:t>
            </a:r>
            <a:endParaRPr lang="en-US" sz="11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Limitations  ·  What We'd Do Next</a:t>
            </a:r>
            <a:endParaRPr lang="en-US" sz="2400" dirty="0"/>
          </a:p>
        </p:txBody>
      </p:sp>
      <p:sp>
        <p:nvSpPr>
          <p:cNvPr id="5" name="Shape 3"/>
          <p:cNvSpPr/>
          <p:nvPr/>
        </p:nvSpPr>
        <p:spPr>
          <a:xfrm>
            <a:off x="320040" y="1005840"/>
            <a:ext cx="4160520" cy="3858768"/>
          </a:xfrm>
          <a:prstGeom prst="rect">
            <a:avLst/>
          </a:prstGeom>
          <a:solidFill>
            <a:srgbClr val="1E3347"/>
          </a:solidFill>
          <a:ln/>
          <a:effectLst>
            <a:outerShdw blurRad="101600" dist="38100" dir="8100000" algn="bl" rotWithShape="0">
              <a:srgbClr val="000000">
                <a:alpha val="25000"/>
              </a:srgbClr>
            </a:outerShdw>
          </a:effectLst>
        </p:spPr>
        <p:txBody>
          <a:bodyPr/>
          <a:lstStyle/>
          <a:p>
            <a:endParaRPr lang="en-US"/>
          </a:p>
        </p:txBody>
      </p:sp>
      <p:sp>
        <p:nvSpPr>
          <p:cNvPr id="6" name="Shape 4"/>
          <p:cNvSpPr/>
          <p:nvPr/>
        </p:nvSpPr>
        <p:spPr>
          <a:xfrm>
            <a:off x="320040" y="1005840"/>
            <a:ext cx="4160520" cy="91440"/>
          </a:xfrm>
          <a:prstGeom prst="rect">
            <a:avLst/>
          </a:prstGeom>
          <a:solidFill>
            <a:srgbClr val="F59E0B"/>
          </a:solidFill>
          <a:ln/>
        </p:spPr>
        <p:txBody>
          <a:bodyPr/>
          <a:lstStyle/>
          <a:p>
            <a:endParaRPr lang="en-US"/>
          </a:p>
        </p:txBody>
      </p:sp>
      <p:sp>
        <p:nvSpPr>
          <p:cNvPr id="7" name="Text 5"/>
          <p:cNvSpPr/>
          <p:nvPr/>
        </p:nvSpPr>
        <p:spPr>
          <a:xfrm>
            <a:off x="457200" y="1078992"/>
            <a:ext cx="3931920" cy="320040"/>
          </a:xfrm>
          <a:prstGeom prst="rect">
            <a:avLst/>
          </a:prstGeom>
          <a:noFill/>
          <a:ln/>
        </p:spPr>
        <p:txBody>
          <a:bodyPr wrap="square" lIns="0" tIns="0" rIns="0" bIns="0" rtlCol="0" anchor="ctr"/>
          <a:lstStyle/>
          <a:p>
            <a:pPr marL="0" indent="0">
              <a:buNone/>
            </a:pPr>
            <a:r>
              <a:rPr lang="en-US" sz="1300" b="1" dirty="0">
                <a:solidFill>
                  <a:srgbClr val="F59E0B"/>
                </a:solidFill>
              </a:rPr>
              <a:t>⚠  Limitations</a:t>
            </a:r>
            <a:endParaRPr lang="en-US" sz="1300" dirty="0"/>
          </a:p>
        </p:txBody>
      </p:sp>
      <p:sp>
        <p:nvSpPr>
          <p:cNvPr id="8" name="Shape 6"/>
          <p:cNvSpPr/>
          <p:nvPr/>
        </p:nvSpPr>
        <p:spPr>
          <a:xfrm>
            <a:off x="457200" y="1508760"/>
            <a:ext cx="73152" cy="658368"/>
          </a:xfrm>
          <a:prstGeom prst="rect">
            <a:avLst/>
          </a:prstGeom>
          <a:solidFill>
            <a:srgbClr val="F59E0B"/>
          </a:solidFill>
          <a:ln/>
        </p:spPr>
        <p:txBody>
          <a:bodyPr/>
          <a:lstStyle/>
          <a:p>
            <a:endParaRPr lang="en-US"/>
          </a:p>
        </p:txBody>
      </p:sp>
      <p:sp>
        <p:nvSpPr>
          <p:cNvPr id="9" name="Text 7"/>
          <p:cNvSpPr/>
          <p:nvPr/>
        </p:nvSpPr>
        <p:spPr>
          <a:xfrm>
            <a:off x="640080" y="1527048"/>
            <a:ext cx="3657600" cy="228600"/>
          </a:xfrm>
          <a:prstGeom prst="rect">
            <a:avLst/>
          </a:prstGeom>
          <a:noFill/>
          <a:ln/>
        </p:spPr>
        <p:txBody>
          <a:bodyPr wrap="square" lIns="0" tIns="0" rIns="0" bIns="0" rtlCol="0" anchor="ctr"/>
          <a:lstStyle/>
          <a:p>
            <a:pPr marL="0" indent="0">
              <a:buNone/>
            </a:pPr>
            <a:r>
              <a:rPr lang="en-US" sz="1100" b="1" dirty="0">
                <a:solidFill>
                  <a:srgbClr val="FFFFFF"/>
                </a:solidFill>
              </a:rPr>
              <a:t>Small N (38 subjects)</a:t>
            </a:r>
            <a:endParaRPr lang="en-US" sz="1100" dirty="0"/>
          </a:p>
        </p:txBody>
      </p:sp>
      <p:sp>
        <p:nvSpPr>
          <p:cNvPr id="10" name="Text 8"/>
          <p:cNvSpPr/>
          <p:nvPr/>
        </p:nvSpPr>
        <p:spPr>
          <a:xfrm>
            <a:off x="640080" y="1764792"/>
            <a:ext cx="3657600" cy="384048"/>
          </a:xfrm>
          <a:prstGeom prst="rect">
            <a:avLst/>
          </a:prstGeom>
          <a:noFill/>
          <a:ln/>
        </p:spPr>
        <p:txBody>
          <a:bodyPr wrap="square" lIns="0" tIns="0" rIns="0" bIns="0" rtlCol="0" anchor="ctr"/>
          <a:lstStyle/>
          <a:p>
            <a:pPr marL="0" indent="0">
              <a:buNone/>
            </a:pPr>
            <a:r>
              <a:rPr lang="en-US" sz="1000" dirty="0">
                <a:solidFill>
                  <a:srgbClr val="CBD5E1"/>
                </a:solidFill>
              </a:rPr>
              <a:t>5-fold CV F1 has wide confidence intervals. One subject flip changes score by ~0.03. Results are promising but not yet statistically robust for clinical deployment.</a:t>
            </a:r>
            <a:endParaRPr lang="en-US" sz="1000" dirty="0"/>
          </a:p>
        </p:txBody>
      </p:sp>
      <p:sp>
        <p:nvSpPr>
          <p:cNvPr id="11" name="Shape 9"/>
          <p:cNvSpPr/>
          <p:nvPr/>
        </p:nvSpPr>
        <p:spPr>
          <a:xfrm>
            <a:off x="457200" y="2313432"/>
            <a:ext cx="73152" cy="658368"/>
          </a:xfrm>
          <a:prstGeom prst="rect">
            <a:avLst/>
          </a:prstGeom>
          <a:solidFill>
            <a:srgbClr val="F59E0B"/>
          </a:solidFill>
          <a:ln/>
        </p:spPr>
        <p:txBody>
          <a:bodyPr/>
          <a:lstStyle/>
          <a:p>
            <a:endParaRPr lang="en-US"/>
          </a:p>
        </p:txBody>
      </p:sp>
      <p:sp>
        <p:nvSpPr>
          <p:cNvPr id="12" name="Text 10"/>
          <p:cNvSpPr/>
          <p:nvPr/>
        </p:nvSpPr>
        <p:spPr>
          <a:xfrm>
            <a:off x="640080" y="2331720"/>
            <a:ext cx="3657600" cy="228600"/>
          </a:xfrm>
          <a:prstGeom prst="rect">
            <a:avLst/>
          </a:prstGeom>
          <a:noFill/>
          <a:ln/>
        </p:spPr>
        <p:txBody>
          <a:bodyPr wrap="square" lIns="0" tIns="0" rIns="0" bIns="0" rtlCol="0" anchor="ctr"/>
          <a:lstStyle/>
          <a:p>
            <a:pPr marL="0" indent="0">
              <a:buNone/>
            </a:pPr>
            <a:r>
              <a:rPr lang="en-US" sz="1100" b="1" dirty="0">
                <a:solidFill>
                  <a:srgbClr val="FFFFFF"/>
                </a:solidFill>
              </a:rPr>
              <a:t>CN recall is our weakness</a:t>
            </a:r>
            <a:endParaRPr lang="en-US" sz="1100" dirty="0"/>
          </a:p>
        </p:txBody>
      </p:sp>
      <p:sp>
        <p:nvSpPr>
          <p:cNvPr id="13" name="Text 11"/>
          <p:cNvSpPr/>
          <p:nvPr/>
        </p:nvSpPr>
        <p:spPr>
          <a:xfrm>
            <a:off x="640080" y="2569464"/>
            <a:ext cx="3657600" cy="384048"/>
          </a:xfrm>
          <a:prstGeom prst="rect">
            <a:avLst/>
          </a:prstGeom>
          <a:noFill/>
          <a:ln/>
        </p:spPr>
        <p:txBody>
          <a:bodyPr wrap="square" lIns="0" tIns="0" rIns="0" bIns="0" rtlCol="0" anchor="ctr"/>
          <a:lstStyle/>
          <a:p>
            <a:pPr marL="0" indent="0">
              <a:buNone/>
            </a:pPr>
            <a:r>
              <a:rPr lang="en-US" sz="1000" dirty="0">
                <a:solidFill>
                  <a:srgbClr val="CBD5E1"/>
                </a:solidFill>
              </a:rPr>
              <a:t>5/13 CN subjects correctly identified in final model. The model is biased toward predicting AD — clinically this means false positives for healthy patients.</a:t>
            </a:r>
            <a:endParaRPr lang="en-US" sz="1000" dirty="0"/>
          </a:p>
        </p:txBody>
      </p:sp>
      <p:sp>
        <p:nvSpPr>
          <p:cNvPr id="14" name="Shape 12"/>
          <p:cNvSpPr/>
          <p:nvPr/>
        </p:nvSpPr>
        <p:spPr>
          <a:xfrm>
            <a:off x="457200" y="3118104"/>
            <a:ext cx="73152" cy="658368"/>
          </a:xfrm>
          <a:prstGeom prst="rect">
            <a:avLst/>
          </a:prstGeom>
          <a:solidFill>
            <a:srgbClr val="F59E0B"/>
          </a:solidFill>
          <a:ln/>
        </p:spPr>
        <p:txBody>
          <a:bodyPr/>
          <a:lstStyle/>
          <a:p>
            <a:endParaRPr lang="en-US"/>
          </a:p>
        </p:txBody>
      </p:sp>
      <p:sp>
        <p:nvSpPr>
          <p:cNvPr id="15" name="Text 13"/>
          <p:cNvSpPr/>
          <p:nvPr/>
        </p:nvSpPr>
        <p:spPr>
          <a:xfrm>
            <a:off x="640080" y="3136392"/>
            <a:ext cx="3657600" cy="228600"/>
          </a:xfrm>
          <a:prstGeom prst="rect">
            <a:avLst/>
          </a:prstGeom>
          <a:noFill/>
          <a:ln/>
        </p:spPr>
        <p:txBody>
          <a:bodyPr wrap="square" lIns="0" tIns="0" rIns="0" bIns="0" rtlCol="0" anchor="ctr"/>
          <a:lstStyle/>
          <a:p>
            <a:pPr marL="0" indent="0">
              <a:buNone/>
            </a:pPr>
            <a:r>
              <a:rPr lang="en-US" sz="1100" b="1" dirty="0">
                <a:solidFill>
                  <a:srgbClr val="FFFFFF"/>
                </a:solidFill>
              </a:rPr>
              <a:t>No artifact removal (ICA)</a:t>
            </a:r>
            <a:endParaRPr lang="en-US" sz="1100" dirty="0"/>
          </a:p>
        </p:txBody>
      </p:sp>
      <p:sp>
        <p:nvSpPr>
          <p:cNvPr id="16" name="Text 14"/>
          <p:cNvSpPr/>
          <p:nvPr/>
        </p:nvSpPr>
        <p:spPr>
          <a:xfrm>
            <a:off x="640080" y="3374136"/>
            <a:ext cx="3657600" cy="384048"/>
          </a:xfrm>
          <a:prstGeom prst="rect">
            <a:avLst/>
          </a:prstGeom>
          <a:noFill/>
          <a:ln/>
        </p:spPr>
        <p:txBody>
          <a:bodyPr wrap="square" lIns="0" tIns="0" rIns="0" bIns="0" rtlCol="0" anchor="ctr"/>
          <a:lstStyle/>
          <a:p>
            <a:pPr marL="0" indent="0">
              <a:buNone/>
            </a:pPr>
            <a:r>
              <a:rPr lang="en-US" sz="1000" dirty="0">
                <a:solidFill>
                  <a:srgbClr val="CBD5E1"/>
                </a:solidFill>
              </a:rPr>
              <a:t>We applied bandpass filtering but not full ICA-based artifact rejection. EOG and EMG contamination may affect temporal and frontal electrodes.</a:t>
            </a:r>
            <a:endParaRPr lang="en-US" sz="1000" dirty="0"/>
          </a:p>
        </p:txBody>
      </p:sp>
      <p:sp>
        <p:nvSpPr>
          <p:cNvPr id="17" name="Shape 15"/>
          <p:cNvSpPr/>
          <p:nvPr/>
        </p:nvSpPr>
        <p:spPr>
          <a:xfrm>
            <a:off x="457200" y="3922776"/>
            <a:ext cx="73152" cy="658368"/>
          </a:xfrm>
          <a:prstGeom prst="rect">
            <a:avLst/>
          </a:prstGeom>
          <a:solidFill>
            <a:srgbClr val="F59E0B"/>
          </a:solidFill>
          <a:ln/>
        </p:spPr>
        <p:txBody>
          <a:bodyPr/>
          <a:lstStyle/>
          <a:p>
            <a:endParaRPr lang="en-US"/>
          </a:p>
        </p:txBody>
      </p:sp>
      <p:sp>
        <p:nvSpPr>
          <p:cNvPr id="18" name="Text 16"/>
          <p:cNvSpPr/>
          <p:nvPr/>
        </p:nvSpPr>
        <p:spPr>
          <a:xfrm>
            <a:off x="640080" y="3941064"/>
            <a:ext cx="3657600" cy="228600"/>
          </a:xfrm>
          <a:prstGeom prst="rect">
            <a:avLst/>
          </a:prstGeom>
          <a:noFill/>
          <a:ln/>
        </p:spPr>
        <p:txBody>
          <a:bodyPr wrap="square" lIns="0" tIns="0" rIns="0" bIns="0" rtlCol="0" anchor="ctr"/>
          <a:lstStyle/>
          <a:p>
            <a:pPr marL="0" indent="0">
              <a:buNone/>
            </a:pPr>
            <a:r>
              <a:rPr lang="en-US" sz="1100" b="1" dirty="0">
                <a:solidFill>
                  <a:srgbClr val="FFFFFF"/>
                </a:solidFill>
              </a:rPr>
              <a:t>OOF threshold tuning</a:t>
            </a:r>
            <a:endParaRPr lang="en-US" sz="1100" dirty="0"/>
          </a:p>
        </p:txBody>
      </p:sp>
      <p:sp>
        <p:nvSpPr>
          <p:cNvPr id="19" name="Text 17"/>
          <p:cNvSpPr/>
          <p:nvPr/>
        </p:nvSpPr>
        <p:spPr>
          <a:xfrm>
            <a:off x="640080" y="4178808"/>
            <a:ext cx="3657600" cy="384048"/>
          </a:xfrm>
          <a:prstGeom prst="rect">
            <a:avLst/>
          </a:prstGeom>
          <a:noFill/>
          <a:ln/>
        </p:spPr>
        <p:txBody>
          <a:bodyPr wrap="square" lIns="0" tIns="0" rIns="0" bIns="0" rtlCol="0" anchor="ctr"/>
          <a:lstStyle/>
          <a:p>
            <a:pPr marL="0" indent="0">
              <a:buNone/>
            </a:pPr>
            <a:r>
              <a:rPr lang="en-US" sz="1000" dirty="0">
                <a:solidFill>
                  <a:srgbClr val="CBD5E1"/>
                </a:solidFill>
              </a:rPr>
              <a:t>Optimising the threshold on out-of-fold data is leakage-safe, but it's still optimistic — a held-out test set is the true arbiter.</a:t>
            </a:r>
            <a:endParaRPr lang="en-US" sz="1000" dirty="0"/>
          </a:p>
        </p:txBody>
      </p:sp>
      <p:sp>
        <p:nvSpPr>
          <p:cNvPr id="20" name="Shape 18"/>
          <p:cNvSpPr/>
          <p:nvPr/>
        </p:nvSpPr>
        <p:spPr>
          <a:xfrm>
            <a:off x="4663440" y="1005840"/>
            <a:ext cx="4251960" cy="3858768"/>
          </a:xfrm>
          <a:prstGeom prst="rect">
            <a:avLst/>
          </a:prstGeom>
          <a:solidFill>
            <a:srgbClr val="1E3347"/>
          </a:solidFill>
          <a:ln/>
          <a:effectLst>
            <a:outerShdw blurRad="101600" dist="38100" dir="8100000" algn="bl" rotWithShape="0">
              <a:srgbClr val="000000">
                <a:alpha val="25000"/>
              </a:srgbClr>
            </a:outerShdw>
          </a:effectLst>
        </p:spPr>
        <p:txBody>
          <a:bodyPr/>
          <a:lstStyle/>
          <a:p>
            <a:endParaRPr lang="en-US"/>
          </a:p>
        </p:txBody>
      </p:sp>
      <p:sp>
        <p:nvSpPr>
          <p:cNvPr id="21" name="Shape 19"/>
          <p:cNvSpPr/>
          <p:nvPr/>
        </p:nvSpPr>
        <p:spPr>
          <a:xfrm>
            <a:off x="4663440" y="1005840"/>
            <a:ext cx="4251960" cy="91440"/>
          </a:xfrm>
          <a:prstGeom prst="rect">
            <a:avLst/>
          </a:prstGeom>
          <a:solidFill>
            <a:srgbClr val="02C39A"/>
          </a:solidFill>
          <a:ln/>
        </p:spPr>
        <p:txBody>
          <a:bodyPr/>
          <a:lstStyle/>
          <a:p>
            <a:endParaRPr lang="en-US"/>
          </a:p>
        </p:txBody>
      </p:sp>
      <p:sp>
        <p:nvSpPr>
          <p:cNvPr id="22" name="Text 20"/>
          <p:cNvSpPr/>
          <p:nvPr/>
        </p:nvSpPr>
        <p:spPr>
          <a:xfrm>
            <a:off x="4800600" y="1078992"/>
            <a:ext cx="4023360" cy="320040"/>
          </a:xfrm>
          <a:prstGeom prst="rect">
            <a:avLst/>
          </a:prstGeom>
          <a:noFill/>
          <a:ln/>
        </p:spPr>
        <p:txBody>
          <a:bodyPr wrap="square" lIns="0" tIns="0" rIns="0" bIns="0" rtlCol="0" anchor="ctr"/>
          <a:lstStyle/>
          <a:p>
            <a:pPr marL="0" indent="0">
              <a:buNone/>
            </a:pPr>
            <a:r>
              <a:rPr lang="en-US" sz="1300" b="1" dirty="0">
                <a:solidFill>
                  <a:srgbClr val="02C39A"/>
                </a:solidFill>
              </a:rPr>
              <a:t>→  What We'd Do Next</a:t>
            </a:r>
            <a:endParaRPr lang="en-US" sz="1300" dirty="0"/>
          </a:p>
        </p:txBody>
      </p:sp>
      <p:sp>
        <p:nvSpPr>
          <p:cNvPr id="23" name="Shape 21"/>
          <p:cNvSpPr/>
          <p:nvPr/>
        </p:nvSpPr>
        <p:spPr>
          <a:xfrm>
            <a:off x="4800600" y="1508760"/>
            <a:ext cx="73152" cy="658368"/>
          </a:xfrm>
          <a:prstGeom prst="rect">
            <a:avLst/>
          </a:prstGeom>
          <a:solidFill>
            <a:srgbClr val="02C39A"/>
          </a:solidFill>
          <a:ln/>
        </p:spPr>
        <p:txBody>
          <a:bodyPr/>
          <a:lstStyle/>
          <a:p>
            <a:endParaRPr lang="en-US"/>
          </a:p>
        </p:txBody>
      </p:sp>
      <p:sp>
        <p:nvSpPr>
          <p:cNvPr id="24" name="Text 22"/>
          <p:cNvSpPr/>
          <p:nvPr/>
        </p:nvSpPr>
        <p:spPr>
          <a:xfrm>
            <a:off x="4983480" y="1527048"/>
            <a:ext cx="3840480" cy="228600"/>
          </a:xfrm>
          <a:prstGeom prst="rect">
            <a:avLst/>
          </a:prstGeom>
          <a:noFill/>
          <a:ln/>
        </p:spPr>
        <p:txBody>
          <a:bodyPr wrap="square" lIns="0" tIns="0" rIns="0" bIns="0" rtlCol="0" anchor="ctr"/>
          <a:lstStyle/>
          <a:p>
            <a:pPr marL="0" indent="0">
              <a:buNone/>
            </a:pPr>
            <a:r>
              <a:rPr lang="en-US" sz="1100" b="1" dirty="0">
                <a:solidFill>
                  <a:srgbClr val="FFFFFF"/>
                </a:solidFill>
              </a:rPr>
              <a:t>Full ICA artifact rejection</a:t>
            </a:r>
            <a:endParaRPr lang="en-US" sz="1100" dirty="0"/>
          </a:p>
        </p:txBody>
      </p:sp>
      <p:sp>
        <p:nvSpPr>
          <p:cNvPr id="25" name="Text 23"/>
          <p:cNvSpPr/>
          <p:nvPr/>
        </p:nvSpPr>
        <p:spPr>
          <a:xfrm>
            <a:off x="4983480" y="1764792"/>
            <a:ext cx="3840480" cy="384048"/>
          </a:xfrm>
          <a:prstGeom prst="rect">
            <a:avLst/>
          </a:prstGeom>
          <a:noFill/>
          <a:ln/>
        </p:spPr>
        <p:txBody>
          <a:bodyPr wrap="square" lIns="0" tIns="0" rIns="0" bIns="0" rtlCol="0" anchor="ctr"/>
          <a:lstStyle/>
          <a:p>
            <a:pPr marL="0" indent="0">
              <a:buNone/>
            </a:pPr>
            <a:r>
              <a:rPr lang="en-US" sz="1000" dirty="0">
                <a:solidFill>
                  <a:srgbClr val="CBD5E1"/>
                </a:solidFill>
              </a:rPr>
              <a:t>Automated ICLabel classification to remove ocular and myogenic components — estimated 21% SNR improvement per Miltiadous et al.</a:t>
            </a:r>
            <a:endParaRPr lang="en-US" sz="1000" dirty="0"/>
          </a:p>
        </p:txBody>
      </p:sp>
      <p:sp>
        <p:nvSpPr>
          <p:cNvPr id="26" name="Shape 24"/>
          <p:cNvSpPr/>
          <p:nvPr/>
        </p:nvSpPr>
        <p:spPr>
          <a:xfrm>
            <a:off x="4800600" y="2313432"/>
            <a:ext cx="73152" cy="658368"/>
          </a:xfrm>
          <a:prstGeom prst="rect">
            <a:avLst/>
          </a:prstGeom>
          <a:solidFill>
            <a:srgbClr val="02C39A"/>
          </a:solidFill>
          <a:ln/>
        </p:spPr>
        <p:txBody>
          <a:bodyPr/>
          <a:lstStyle/>
          <a:p>
            <a:endParaRPr lang="en-US"/>
          </a:p>
        </p:txBody>
      </p:sp>
      <p:sp>
        <p:nvSpPr>
          <p:cNvPr id="27" name="Text 25"/>
          <p:cNvSpPr/>
          <p:nvPr/>
        </p:nvSpPr>
        <p:spPr>
          <a:xfrm>
            <a:off x="4983480" y="2331720"/>
            <a:ext cx="3840480" cy="228600"/>
          </a:xfrm>
          <a:prstGeom prst="rect">
            <a:avLst/>
          </a:prstGeom>
          <a:noFill/>
          <a:ln/>
        </p:spPr>
        <p:txBody>
          <a:bodyPr wrap="square" lIns="0" tIns="0" rIns="0" bIns="0" rtlCol="0" anchor="ctr"/>
          <a:lstStyle/>
          <a:p>
            <a:pPr marL="0" indent="0">
              <a:buNone/>
            </a:pPr>
            <a:r>
              <a:rPr lang="en-US" sz="1100" b="1" dirty="0">
                <a:solidFill>
                  <a:srgbClr val="FFFFFF"/>
                </a:solidFill>
              </a:rPr>
              <a:t>DICE-Net architecture</a:t>
            </a:r>
            <a:endParaRPr lang="en-US" sz="1100" dirty="0"/>
          </a:p>
        </p:txBody>
      </p:sp>
      <p:sp>
        <p:nvSpPr>
          <p:cNvPr id="28" name="Text 26"/>
          <p:cNvSpPr/>
          <p:nvPr/>
        </p:nvSpPr>
        <p:spPr>
          <a:xfrm>
            <a:off x="4983480" y="2569464"/>
            <a:ext cx="3840480" cy="384048"/>
          </a:xfrm>
          <a:prstGeom prst="rect">
            <a:avLst/>
          </a:prstGeom>
          <a:noFill/>
          <a:ln/>
        </p:spPr>
        <p:txBody>
          <a:bodyPr wrap="square" lIns="0" tIns="0" rIns="0" bIns="0" rtlCol="0" anchor="ctr"/>
          <a:lstStyle/>
          <a:p>
            <a:pPr marL="0" indent="0">
              <a:buNone/>
            </a:pPr>
            <a:r>
              <a:rPr lang="en-US" sz="1000" dirty="0">
                <a:solidFill>
                  <a:srgbClr val="CBD5E1"/>
                </a:solidFill>
              </a:rPr>
              <a:t>Convolution-Transformer hybrid specifically designed for this dataset — reported 83.3% accuracy. Would add as experimental model with same subject-wise CV.</a:t>
            </a:r>
            <a:endParaRPr lang="en-US" sz="1000" dirty="0"/>
          </a:p>
        </p:txBody>
      </p:sp>
      <p:sp>
        <p:nvSpPr>
          <p:cNvPr id="29" name="Shape 27"/>
          <p:cNvSpPr/>
          <p:nvPr/>
        </p:nvSpPr>
        <p:spPr>
          <a:xfrm>
            <a:off x="4800600" y="3118104"/>
            <a:ext cx="73152" cy="658368"/>
          </a:xfrm>
          <a:prstGeom prst="rect">
            <a:avLst/>
          </a:prstGeom>
          <a:solidFill>
            <a:srgbClr val="02C39A"/>
          </a:solidFill>
          <a:ln/>
        </p:spPr>
        <p:txBody>
          <a:bodyPr/>
          <a:lstStyle/>
          <a:p>
            <a:endParaRPr lang="en-US"/>
          </a:p>
        </p:txBody>
      </p:sp>
      <p:sp>
        <p:nvSpPr>
          <p:cNvPr id="30" name="Text 28"/>
          <p:cNvSpPr/>
          <p:nvPr/>
        </p:nvSpPr>
        <p:spPr>
          <a:xfrm>
            <a:off x="4983480" y="3136392"/>
            <a:ext cx="3840480" cy="228600"/>
          </a:xfrm>
          <a:prstGeom prst="rect">
            <a:avLst/>
          </a:prstGeom>
          <a:noFill/>
          <a:ln/>
        </p:spPr>
        <p:txBody>
          <a:bodyPr wrap="square" lIns="0" tIns="0" rIns="0" bIns="0" rtlCol="0" anchor="ctr"/>
          <a:lstStyle/>
          <a:p>
            <a:pPr marL="0" indent="0">
              <a:buNone/>
            </a:pPr>
            <a:r>
              <a:rPr lang="en-US" sz="1100" b="1" dirty="0">
                <a:solidFill>
                  <a:srgbClr val="FFFFFF"/>
                </a:solidFill>
              </a:rPr>
              <a:t>Confidence-based triage</a:t>
            </a:r>
            <a:endParaRPr lang="en-US" sz="1100" dirty="0"/>
          </a:p>
        </p:txBody>
      </p:sp>
      <p:sp>
        <p:nvSpPr>
          <p:cNvPr id="31" name="Text 29"/>
          <p:cNvSpPr/>
          <p:nvPr/>
        </p:nvSpPr>
        <p:spPr>
          <a:xfrm>
            <a:off x="4983480" y="3374136"/>
            <a:ext cx="3840480" cy="384048"/>
          </a:xfrm>
          <a:prstGeom prst="rect">
            <a:avLst/>
          </a:prstGeom>
          <a:noFill/>
          <a:ln/>
        </p:spPr>
        <p:txBody>
          <a:bodyPr wrap="square" lIns="0" tIns="0" rIns="0" bIns="0" rtlCol="0" anchor="ctr"/>
          <a:lstStyle/>
          <a:p>
            <a:pPr marL="0" indent="0">
              <a:buNone/>
            </a:pPr>
            <a:r>
              <a:rPr lang="en-US" sz="1000" dirty="0">
                <a:solidFill>
                  <a:srgbClr val="CBD5E1"/>
                </a:solidFill>
              </a:rPr>
              <a:t>Rather than binary labels, output 'Inconclusive' for subjects near the decision boundary (0.35–0.55 prob range). Clinically safer than a forced prediction.</a:t>
            </a:r>
            <a:endParaRPr lang="en-US" sz="1000" dirty="0"/>
          </a:p>
        </p:txBody>
      </p:sp>
      <p:sp>
        <p:nvSpPr>
          <p:cNvPr id="32" name="Shape 30"/>
          <p:cNvSpPr/>
          <p:nvPr/>
        </p:nvSpPr>
        <p:spPr>
          <a:xfrm>
            <a:off x="4800600" y="3922776"/>
            <a:ext cx="73152" cy="658368"/>
          </a:xfrm>
          <a:prstGeom prst="rect">
            <a:avLst/>
          </a:prstGeom>
          <a:solidFill>
            <a:srgbClr val="02C39A"/>
          </a:solidFill>
          <a:ln/>
        </p:spPr>
        <p:txBody>
          <a:bodyPr/>
          <a:lstStyle/>
          <a:p>
            <a:endParaRPr lang="en-US"/>
          </a:p>
        </p:txBody>
      </p:sp>
      <p:sp>
        <p:nvSpPr>
          <p:cNvPr id="33" name="Text 31"/>
          <p:cNvSpPr/>
          <p:nvPr/>
        </p:nvSpPr>
        <p:spPr>
          <a:xfrm>
            <a:off x="4983480" y="3941064"/>
            <a:ext cx="3840480" cy="228600"/>
          </a:xfrm>
          <a:prstGeom prst="rect">
            <a:avLst/>
          </a:prstGeom>
          <a:noFill/>
          <a:ln/>
        </p:spPr>
        <p:txBody>
          <a:bodyPr wrap="square" lIns="0" tIns="0" rIns="0" bIns="0" rtlCol="0" anchor="ctr"/>
          <a:lstStyle/>
          <a:p>
            <a:pPr marL="0" indent="0">
              <a:buNone/>
            </a:pPr>
            <a:r>
              <a:rPr lang="en-US" sz="1100" b="1" dirty="0">
                <a:solidFill>
                  <a:srgbClr val="FFFFFF"/>
                </a:solidFill>
              </a:rPr>
              <a:t>FTD vs CN extension</a:t>
            </a:r>
            <a:endParaRPr lang="en-US" sz="1100" dirty="0"/>
          </a:p>
        </p:txBody>
      </p:sp>
      <p:sp>
        <p:nvSpPr>
          <p:cNvPr id="34" name="Text 32"/>
          <p:cNvSpPr/>
          <p:nvPr/>
        </p:nvSpPr>
        <p:spPr>
          <a:xfrm>
            <a:off x="4983480" y="4178808"/>
            <a:ext cx="3840480" cy="384048"/>
          </a:xfrm>
          <a:prstGeom prst="rect">
            <a:avLst/>
          </a:prstGeom>
          <a:noFill/>
          <a:ln/>
        </p:spPr>
        <p:txBody>
          <a:bodyPr wrap="square" lIns="0" tIns="0" rIns="0" bIns="0" rtlCol="0" anchor="ctr"/>
          <a:lstStyle/>
          <a:p>
            <a:pPr marL="0" indent="0">
              <a:buNone/>
            </a:pPr>
            <a:r>
              <a:rPr lang="en-US" sz="1000" dirty="0">
                <a:solidFill>
                  <a:srgbClr val="CBD5E1"/>
                </a:solidFill>
              </a:rPr>
              <a:t>Clean pipeline is already in place. Adding FTD would only require label filtering and retraining — estimated 1 hour of additional work.</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B2A"/>
          </a:solidFill>
          <a:ln/>
        </p:spPr>
        <p:txBody>
          <a:bodyPr/>
          <a:lstStyle/>
          <a:p>
            <a:endParaRPr lang="en-US"/>
          </a:p>
        </p:txBody>
      </p:sp>
      <p:sp>
        <p:nvSpPr>
          <p:cNvPr id="3" name="Shape 1"/>
          <p:cNvSpPr/>
          <p:nvPr/>
        </p:nvSpPr>
        <p:spPr>
          <a:xfrm>
            <a:off x="0" y="0"/>
            <a:ext cx="164592" cy="5143500"/>
          </a:xfrm>
          <a:prstGeom prst="rect">
            <a:avLst/>
          </a:prstGeom>
          <a:solidFill>
            <a:srgbClr val="0A7EA4"/>
          </a:solidFill>
          <a:ln/>
        </p:spPr>
        <p:txBody>
          <a:bodyPr/>
          <a:lstStyle/>
          <a:p>
            <a:endParaRPr lang="en-US"/>
          </a:p>
        </p:txBody>
      </p:sp>
      <p:sp>
        <p:nvSpPr>
          <p:cNvPr id="4" name="Shape 2"/>
          <p:cNvSpPr/>
          <p:nvPr/>
        </p:nvSpPr>
        <p:spPr>
          <a:xfrm>
            <a:off x="320040" y="365760"/>
            <a:ext cx="5303520" cy="3291840"/>
          </a:xfrm>
          <a:prstGeom prst="rect">
            <a:avLst/>
          </a:prstGeom>
          <a:solidFill>
            <a:srgbClr val="1E3347"/>
          </a:solidFill>
          <a:ln/>
          <a:effectLst>
            <a:outerShdw blurRad="101600" dist="38100" dir="8100000" algn="bl" rotWithShape="0">
              <a:srgbClr val="000000">
                <a:alpha val="25000"/>
              </a:srgbClr>
            </a:outerShdw>
          </a:effectLst>
        </p:spPr>
        <p:txBody>
          <a:bodyPr/>
          <a:lstStyle/>
          <a:p>
            <a:endParaRPr lang="en-US"/>
          </a:p>
        </p:txBody>
      </p:sp>
      <p:sp>
        <p:nvSpPr>
          <p:cNvPr id="5" name="Shape 3"/>
          <p:cNvSpPr/>
          <p:nvPr/>
        </p:nvSpPr>
        <p:spPr>
          <a:xfrm>
            <a:off x="320040" y="201168"/>
            <a:ext cx="5303520" cy="91440"/>
          </a:xfrm>
          <a:prstGeom prst="rect">
            <a:avLst/>
          </a:prstGeom>
          <a:solidFill>
            <a:srgbClr val="0A7EA4"/>
          </a:solidFill>
          <a:ln/>
        </p:spPr>
        <p:txBody>
          <a:bodyPr/>
          <a:lstStyle/>
          <a:p>
            <a:endParaRPr lang="en-US"/>
          </a:p>
        </p:txBody>
      </p:sp>
      <p:sp>
        <p:nvSpPr>
          <p:cNvPr id="6" name="Text 4"/>
          <p:cNvSpPr/>
          <p:nvPr/>
        </p:nvSpPr>
        <p:spPr>
          <a:xfrm>
            <a:off x="457200" y="274320"/>
            <a:ext cx="5029200" cy="320040"/>
          </a:xfrm>
          <a:prstGeom prst="rect">
            <a:avLst/>
          </a:prstGeom>
          <a:noFill/>
          <a:ln/>
        </p:spPr>
        <p:txBody>
          <a:bodyPr wrap="square" lIns="0" tIns="0" rIns="0" bIns="0" rtlCol="0" anchor="ctr"/>
          <a:lstStyle/>
          <a:p>
            <a:pPr marL="0" indent="0">
              <a:buNone/>
            </a:pPr>
            <a:r>
              <a:rPr lang="en-US" sz="1300" b="1" dirty="0">
                <a:solidFill>
                  <a:srgbClr val="14B8D4"/>
                </a:solidFill>
              </a:rPr>
              <a:t>What we built</a:t>
            </a:r>
            <a:endParaRPr lang="en-US" sz="1300" dirty="0"/>
          </a:p>
        </p:txBody>
      </p:sp>
      <p:sp>
        <p:nvSpPr>
          <p:cNvPr id="7" name="Text 5"/>
          <p:cNvSpPr/>
          <p:nvPr/>
        </p:nvSpPr>
        <p:spPr>
          <a:xfrm>
            <a:off x="457200" y="685800"/>
            <a:ext cx="5074920" cy="329184"/>
          </a:xfrm>
          <a:prstGeom prst="rect">
            <a:avLst/>
          </a:prstGeom>
          <a:noFill/>
          <a:ln/>
        </p:spPr>
        <p:txBody>
          <a:bodyPr wrap="square" lIns="0" tIns="0" rIns="0" bIns="0" rtlCol="0" anchor="ctr"/>
          <a:lstStyle/>
          <a:p>
            <a:pPr marL="0" indent="0">
              <a:buNone/>
            </a:pPr>
            <a:r>
              <a:rPr lang="en-US" sz="1100" dirty="0">
                <a:solidFill>
                  <a:srgbClr val="CBD5E1"/>
                </a:solidFill>
              </a:rPr>
              <a:t>✓  Bandpass filter + polyphase downsample (500→128 Hz)</a:t>
            </a:r>
            <a:endParaRPr lang="en-US" sz="1100" dirty="0"/>
          </a:p>
        </p:txBody>
      </p:sp>
      <p:sp>
        <p:nvSpPr>
          <p:cNvPr id="8" name="Text 6"/>
          <p:cNvSpPr/>
          <p:nvPr/>
        </p:nvSpPr>
        <p:spPr>
          <a:xfrm>
            <a:off x="457200" y="1033272"/>
            <a:ext cx="5074920" cy="329184"/>
          </a:xfrm>
          <a:prstGeom prst="rect">
            <a:avLst/>
          </a:prstGeom>
          <a:noFill/>
          <a:ln/>
        </p:spPr>
        <p:txBody>
          <a:bodyPr wrap="square" lIns="0" tIns="0" rIns="0" bIns="0" rtlCol="0" anchor="ctr"/>
          <a:lstStyle/>
          <a:p>
            <a:pPr marL="0" indent="0">
              <a:buNone/>
            </a:pPr>
            <a:r>
              <a:rPr lang="en-US" sz="1100" dirty="0">
                <a:solidFill>
                  <a:srgbClr val="CBD5E1"/>
                </a:solidFill>
              </a:rPr>
              <a:t>✓  30s windows, 15s overlap → 475 training samples</a:t>
            </a:r>
            <a:endParaRPr lang="en-US" sz="1100" dirty="0"/>
          </a:p>
        </p:txBody>
      </p:sp>
      <p:sp>
        <p:nvSpPr>
          <p:cNvPr id="9" name="Text 7"/>
          <p:cNvSpPr/>
          <p:nvPr/>
        </p:nvSpPr>
        <p:spPr>
          <a:xfrm>
            <a:off x="457200" y="1380744"/>
            <a:ext cx="5074920" cy="329184"/>
          </a:xfrm>
          <a:prstGeom prst="rect">
            <a:avLst/>
          </a:prstGeom>
          <a:noFill/>
          <a:ln/>
        </p:spPr>
        <p:txBody>
          <a:bodyPr wrap="square" lIns="0" tIns="0" rIns="0" bIns="0" rtlCol="0" anchor="ctr"/>
          <a:lstStyle/>
          <a:p>
            <a:pPr marL="0" indent="0">
              <a:buNone/>
            </a:pPr>
            <a:r>
              <a:rPr lang="en-US" sz="1100" dirty="0">
                <a:solidFill>
                  <a:srgbClr val="CBD5E1"/>
                </a:solidFill>
              </a:rPr>
              <a:t>✓  247 features: RBP · SCC · Hjorth · Shannon entropy</a:t>
            </a:r>
            <a:endParaRPr lang="en-US" sz="1100" dirty="0"/>
          </a:p>
        </p:txBody>
      </p:sp>
      <p:sp>
        <p:nvSpPr>
          <p:cNvPr id="10" name="Text 8"/>
          <p:cNvSpPr/>
          <p:nvPr/>
        </p:nvSpPr>
        <p:spPr>
          <a:xfrm>
            <a:off x="457200" y="1728216"/>
            <a:ext cx="5074920" cy="329184"/>
          </a:xfrm>
          <a:prstGeom prst="rect">
            <a:avLst/>
          </a:prstGeom>
          <a:noFill/>
          <a:ln/>
        </p:spPr>
        <p:txBody>
          <a:bodyPr wrap="square" lIns="0" tIns="0" rIns="0" bIns="0" rtlCol="0" anchor="ctr"/>
          <a:lstStyle/>
          <a:p>
            <a:pPr marL="0" indent="0">
              <a:buNone/>
            </a:pPr>
            <a:r>
              <a:rPr lang="en-US" sz="1100" dirty="0">
                <a:solidFill>
                  <a:srgbClr val="CBD5E1"/>
                </a:solidFill>
              </a:rPr>
              <a:t>✓  StratifiedGroupKFold — strictly subject-wise, zero leakage</a:t>
            </a:r>
            <a:endParaRPr lang="en-US" sz="1100" dirty="0"/>
          </a:p>
        </p:txBody>
      </p:sp>
      <p:sp>
        <p:nvSpPr>
          <p:cNvPr id="11" name="Text 9"/>
          <p:cNvSpPr/>
          <p:nvPr/>
        </p:nvSpPr>
        <p:spPr>
          <a:xfrm>
            <a:off x="457200" y="2075688"/>
            <a:ext cx="5074920" cy="329184"/>
          </a:xfrm>
          <a:prstGeom prst="rect">
            <a:avLst/>
          </a:prstGeom>
          <a:noFill/>
          <a:ln/>
        </p:spPr>
        <p:txBody>
          <a:bodyPr wrap="square" lIns="0" tIns="0" rIns="0" bIns="0" rtlCol="0" anchor="ctr"/>
          <a:lstStyle/>
          <a:p>
            <a:pPr marL="0" indent="0">
              <a:buNone/>
            </a:pPr>
            <a:r>
              <a:rPr lang="en-US" sz="1100" dirty="0">
                <a:solidFill>
                  <a:srgbClr val="CBD5E1"/>
                </a:solidFill>
              </a:rPr>
              <a:t>✓  XGBoost + threshold tuning → F1 = 0.800</a:t>
            </a:r>
            <a:endParaRPr lang="en-US" sz="1100" dirty="0"/>
          </a:p>
        </p:txBody>
      </p:sp>
      <p:sp>
        <p:nvSpPr>
          <p:cNvPr id="12" name="Text 10"/>
          <p:cNvSpPr/>
          <p:nvPr/>
        </p:nvSpPr>
        <p:spPr>
          <a:xfrm>
            <a:off x="457200" y="2423160"/>
            <a:ext cx="5074920" cy="329184"/>
          </a:xfrm>
          <a:prstGeom prst="rect">
            <a:avLst/>
          </a:prstGeom>
          <a:noFill/>
          <a:ln/>
        </p:spPr>
        <p:txBody>
          <a:bodyPr wrap="square" lIns="0" tIns="0" rIns="0" bIns="0" rtlCol="0" anchor="ctr"/>
          <a:lstStyle/>
          <a:p>
            <a:pPr marL="0" indent="0">
              <a:buNone/>
            </a:pPr>
            <a:r>
              <a:rPr lang="en-US" sz="1100" dirty="0">
                <a:solidFill>
                  <a:srgbClr val="CBD5E1"/>
                </a:solidFill>
              </a:rPr>
              <a:t>✓  EEGNet (GPU) → complementary CN recall strength</a:t>
            </a:r>
            <a:endParaRPr lang="en-US" sz="1100" dirty="0"/>
          </a:p>
        </p:txBody>
      </p:sp>
      <p:sp>
        <p:nvSpPr>
          <p:cNvPr id="13" name="Text 11"/>
          <p:cNvSpPr/>
          <p:nvPr/>
        </p:nvSpPr>
        <p:spPr>
          <a:xfrm>
            <a:off x="457200" y="2770632"/>
            <a:ext cx="5074920" cy="329184"/>
          </a:xfrm>
          <a:prstGeom prst="rect">
            <a:avLst/>
          </a:prstGeom>
          <a:noFill/>
          <a:ln/>
        </p:spPr>
        <p:txBody>
          <a:bodyPr wrap="square" lIns="0" tIns="0" rIns="0" bIns="0" rtlCol="0" anchor="ctr"/>
          <a:lstStyle/>
          <a:p>
            <a:pPr marL="0" indent="0">
              <a:buNone/>
            </a:pPr>
            <a:r>
              <a:rPr lang="en-US" sz="1200" b="1" dirty="0">
                <a:solidFill>
                  <a:srgbClr val="02C39A"/>
                </a:solidFill>
              </a:rPr>
              <a:t>✓  Ensemble → Subject-level F1 = 0.821</a:t>
            </a:r>
            <a:endParaRPr lang="en-US" sz="1200" dirty="0"/>
          </a:p>
        </p:txBody>
      </p:sp>
      <p:sp>
        <p:nvSpPr>
          <p:cNvPr id="14" name="Shape 12"/>
          <p:cNvSpPr/>
          <p:nvPr/>
        </p:nvSpPr>
        <p:spPr>
          <a:xfrm>
            <a:off x="320040" y="3584448"/>
            <a:ext cx="5303520" cy="1298448"/>
          </a:xfrm>
          <a:prstGeom prst="rect">
            <a:avLst/>
          </a:prstGeom>
          <a:solidFill>
            <a:srgbClr val="0A7EA4"/>
          </a:solidFill>
          <a:ln/>
          <a:effectLst>
            <a:outerShdw blurRad="101600" dist="38100" dir="8100000" algn="bl" rotWithShape="0">
              <a:srgbClr val="000000">
                <a:alpha val="25000"/>
              </a:srgbClr>
            </a:outerShdw>
          </a:effectLst>
        </p:spPr>
        <p:txBody>
          <a:bodyPr/>
          <a:lstStyle/>
          <a:p>
            <a:endParaRPr lang="en-US"/>
          </a:p>
        </p:txBody>
      </p:sp>
      <p:sp>
        <p:nvSpPr>
          <p:cNvPr id="15" name="Text 13"/>
          <p:cNvSpPr/>
          <p:nvPr/>
        </p:nvSpPr>
        <p:spPr>
          <a:xfrm>
            <a:off x="457200" y="3657600"/>
            <a:ext cx="5074920" cy="274320"/>
          </a:xfrm>
          <a:prstGeom prst="rect">
            <a:avLst/>
          </a:prstGeom>
          <a:noFill/>
          <a:ln/>
        </p:spPr>
        <p:txBody>
          <a:bodyPr wrap="square" lIns="0" tIns="0" rIns="0" bIns="0" rtlCol="0" anchor="ctr"/>
          <a:lstStyle/>
          <a:p>
            <a:pPr marL="0" indent="0">
              <a:buNone/>
            </a:pPr>
            <a:r>
              <a:rPr lang="en-US" sz="1000" b="1" dirty="0">
                <a:solidFill>
                  <a:srgbClr val="BFDBFE"/>
                </a:solidFill>
              </a:rPr>
              <a:t>Key takeaway</a:t>
            </a:r>
            <a:endParaRPr lang="en-US" sz="1000" dirty="0"/>
          </a:p>
        </p:txBody>
      </p:sp>
      <p:sp>
        <p:nvSpPr>
          <p:cNvPr id="16" name="Text 14"/>
          <p:cNvSpPr/>
          <p:nvPr/>
        </p:nvSpPr>
        <p:spPr>
          <a:xfrm>
            <a:off x="457200" y="3931920"/>
            <a:ext cx="5074920" cy="841248"/>
          </a:xfrm>
          <a:prstGeom prst="rect">
            <a:avLst/>
          </a:prstGeom>
          <a:noFill/>
          <a:ln/>
        </p:spPr>
        <p:txBody>
          <a:bodyPr wrap="square" lIns="0" tIns="0" rIns="0" bIns="0" rtlCol="0" anchor="ctr"/>
          <a:lstStyle/>
          <a:p>
            <a:pPr marL="0" indent="0">
              <a:buNone/>
            </a:pPr>
            <a:r>
              <a:rPr lang="en-US" sz="1300" b="1" dirty="0">
                <a:solidFill>
                  <a:srgbClr val="FFFFFF"/>
                </a:solidFill>
              </a:rPr>
              <a:t>On small clinical EEG datasets, an interpretable,</a:t>
            </a:r>
            <a:endParaRPr lang="en-US" sz="1300" dirty="0"/>
          </a:p>
          <a:p>
            <a:pPr marL="0" indent="0">
              <a:buNone/>
            </a:pPr>
            <a:r>
              <a:rPr lang="en-US" sz="1300" b="1" dirty="0">
                <a:solidFill>
                  <a:srgbClr val="FFFFFF"/>
                </a:solidFill>
              </a:rPr>
              <a:t>leakage-safe classical ML pipeline can match or outperform</a:t>
            </a:r>
            <a:endParaRPr lang="en-US" sz="1300" dirty="0"/>
          </a:p>
          <a:p>
            <a:pPr marL="0" indent="0">
              <a:buNone/>
            </a:pPr>
            <a:r>
              <a:rPr lang="en-US" sz="1300" b="1" dirty="0">
                <a:solidFill>
                  <a:srgbClr val="FFFFFF"/>
                </a:solidFill>
              </a:rPr>
              <a:t>end-to-end deep learning.</a:t>
            </a:r>
            <a:endParaRPr lang="en-US" sz="1300" dirty="0"/>
          </a:p>
        </p:txBody>
      </p:sp>
      <p:sp>
        <p:nvSpPr>
          <p:cNvPr id="17" name="Shape 15"/>
          <p:cNvSpPr/>
          <p:nvPr/>
        </p:nvSpPr>
        <p:spPr>
          <a:xfrm>
            <a:off x="5806440" y="201168"/>
            <a:ext cx="3154680" cy="4681728"/>
          </a:xfrm>
          <a:prstGeom prst="rect">
            <a:avLst/>
          </a:prstGeom>
          <a:solidFill>
            <a:srgbClr val="132030"/>
          </a:solidFill>
          <a:ln/>
          <a:effectLst>
            <a:outerShdw blurRad="101600" dist="38100" dir="8100000" algn="bl" rotWithShape="0">
              <a:srgbClr val="000000">
                <a:alpha val="25000"/>
              </a:srgbClr>
            </a:outerShdw>
          </a:effectLst>
        </p:spPr>
        <p:txBody>
          <a:bodyPr/>
          <a:lstStyle/>
          <a:p>
            <a:endParaRPr lang="en-US"/>
          </a:p>
        </p:txBody>
      </p:sp>
      <p:sp>
        <p:nvSpPr>
          <p:cNvPr id="18" name="Text 16"/>
          <p:cNvSpPr/>
          <p:nvPr/>
        </p:nvSpPr>
        <p:spPr>
          <a:xfrm>
            <a:off x="5943600" y="274320"/>
            <a:ext cx="2926080" cy="292608"/>
          </a:xfrm>
          <a:prstGeom prst="rect">
            <a:avLst/>
          </a:prstGeom>
          <a:noFill/>
          <a:ln/>
        </p:spPr>
        <p:txBody>
          <a:bodyPr wrap="square" lIns="0" tIns="0" rIns="0" bIns="0" rtlCol="0" anchor="ctr"/>
          <a:lstStyle/>
          <a:p>
            <a:pPr marL="0" indent="0">
              <a:buNone/>
            </a:pPr>
            <a:r>
              <a:rPr lang="en-US" sz="1100" b="1" dirty="0">
                <a:solidFill>
                  <a:srgbClr val="14B8D4"/>
                </a:solidFill>
              </a:rPr>
              <a:t>References</a:t>
            </a:r>
            <a:endParaRPr lang="en-US" sz="1100" dirty="0"/>
          </a:p>
        </p:txBody>
      </p:sp>
      <p:sp>
        <p:nvSpPr>
          <p:cNvPr id="19" name="Text 17"/>
          <p:cNvSpPr/>
          <p:nvPr/>
        </p:nvSpPr>
        <p:spPr>
          <a:xfrm>
            <a:off x="5943600" y="658368"/>
            <a:ext cx="2880360" cy="521208"/>
          </a:xfrm>
          <a:prstGeom prst="rect">
            <a:avLst/>
          </a:prstGeom>
          <a:noFill/>
          <a:ln/>
        </p:spPr>
        <p:txBody>
          <a:bodyPr wrap="square" lIns="0" tIns="0" rIns="0" bIns="0" rtlCol="0" anchor="ctr"/>
          <a:lstStyle/>
          <a:p>
            <a:pPr marL="0" indent="0">
              <a:buNone/>
            </a:pPr>
            <a:r>
              <a:rPr lang="en-US" sz="850" dirty="0">
                <a:solidFill>
                  <a:srgbClr val="CBD5E1"/>
                </a:solidFill>
              </a:rPr>
              <a:t>[1] Miltiadous et al. (2023). A Dataset of Scalp EEG Recordings. Data, 8(6), 95. doi:10.3390/data8060095</a:t>
            </a:r>
            <a:endParaRPr lang="en-US" sz="850" dirty="0"/>
          </a:p>
        </p:txBody>
      </p:sp>
      <p:sp>
        <p:nvSpPr>
          <p:cNvPr id="20" name="Shape 18"/>
          <p:cNvSpPr/>
          <p:nvPr/>
        </p:nvSpPr>
        <p:spPr>
          <a:xfrm>
            <a:off x="5943600" y="1197864"/>
            <a:ext cx="2834640" cy="18288"/>
          </a:xfrm>
          <a:prstGeom prst="rect">
            <a:avLst/>
          </a:prstGeom>
          <a:solidFill>
            <a:srgbClr val="1E3347"/>
          </a:solidFill>
          <a:ln/>
        </p:spPr>
        <p:txBody>
          <a:bodyPr/>
          <a:lstStyle/>
          <a:p>
            <a:endParaRPr lang="en-US"/>
          </a:p>
        </p:txBody>
      </p:sp>
      <p:sp>
        <p:nvSpPr>
          <p:cNvPr id="21" name="Text 19"/>
          <p:cNvSpPr/>
          <p:nvPr/>
        </p:nvSpPr>
        <p:spPr>
          <a:xfrm>
            <a:off x="5943600" y="1234440"/>
            <a:ext cx="2880360" cy="521208"/>
          </a:xfrm>
          <a:prstGeom prst="rect">
            <a:avLst/>
          </a:prstGeom>
          <a:noFill/>
          <a:ln/>
        </p:spPr>
        <p:txBody>
          <a:bodyPr wrap="square" lIns="0" tIns="0" rIns="0" bIns="0" rtlCol="0" anchor="ctr"/>
          <a:lstStyle/>
          <a:p>
            <a:pPr marL="0" indent="0">
              <a:buNone/>
            </a:pPr>
            <a:r>
              <a:rPr lang="en-US" sz="850" dirty="0">
                <a:solidFill>
                  <a:srgbClr val="CBD5E1"/>
                </a:solidFill>
              </a:rPr>
              <a:t>[2] Miltiadous &amp; Tzimourta et al. (2023). DICE-Net. IEEE Access 11, 71840–71858. doi:10.1109/ACCESS.2023.3294618</a:t>
            </a:r>
            <a:endParaRPr lang="en-US" sz="850" dirty="0"/>
          </a:p>
        </p:txBody>
      </p:sp>
      <p:sp>
        <p:nvSpPr>
          <p:cNvPr id="22" name="Shape 20"/>
          <p:cNvSpPr/>
          <p:nvPr/>
        </p:nvSpPr>
        <p:spPr>
          <a:xfrm>
            <a:off x="5943600" y="1773936"/>
            <a:ext cx="2834640" cy="18288"/>
          </a:xfrm>
          <a:prstGeom prst="rect">
            <a:avLst/>
          </a:prstGeom>
          <a:solidFill>
            <a:srgbClr val="1E3347"/>
          </a:solidFill>
          <a:ln/>
        </p:spPr>
        <p:txBody>
          <a:bodyPr/>
          <a:lstStyle/>
          <a:p>
            <a:endParaRPr lang="en-US"/>
          </a:p>
        </p:txBody>
      </p:sp>
      <p:sp>
        <p:nvSpPr>
          <p:cNvPr id="23" name="Text 21"/>
          <p:cNvSpPr/>
          <p:nvPr/>
        </p:nvSpPr>
        <p:spPr>
          <a:xfrm>
            <a:off x="5943600" y="1810512"/>
            <a:ext cx="2880360" cy="521208"/>
          </a:xfrm>
          <a:prstGeom prst="rect">
            <a:avLst/>
          </a:prstGeom>
          <a:noFill/>
          <a:ln/>
        </p:spPr>
        <p:txBody>
          <a:bodyPr wrap="square" lIns="0" tIns="0" rIns="0" bIns="0" rtlCol="0" anchor="ctr"/>
          <a:lstStyle/>
          <a:p>
            <a:pPr marL="0" indent="0">
              <a:buNone/>
            </a:pPr>
            <a:r>
              <a:rPr lang="en-US" sz="850" dirty="0">
                <a:solidFill>
                  <a:srgbClr val="CBD5E1"/>
                </a:solidFill>
              </a:rPr>
              <a:t>[3] Tzimourta et al. (2023). Diagnosis of AD and FTD from EEG. IEEE Xplore. doi:10.1109/JBHI.2024.3503337</a:t>
            </a:r>
            <a:endParaRPr lang="en-US" sz="850" dirty="0"/>
          </a:p>
        </p:txBody>
      </p:sp>
      <p:sp>
        <p:nvSpPr>
          <p:cNvPr id="24" name="Shape 22"/>
          <p:cNvSpPr/>
          <p:nvPr/>
        </p:nvSpPr>
        <p:spPr>
          <a:xfrm>
            <a:off x="5943600" y="2350008"/>
            <a:ext cx="2834640" cy="18288"/>
          </a:xfrm>
          <a:prstGeom prst="rect">
            <a:avLst/>
          </a:prstGeom>
          <a:solidFill>
            <a:srgbClr val="1E3347"/>
          </a:solidFill>
          <a:ln/>
        </p:spPr>
        <p:txBody>
          <a:bodyPr/>
          <a:lstStyle/>
          <a:p>
            <a:endParaRPr lang="en-US"/>
          </a:p>
        </p:txBody>
      </p:sp>
      <p:sp>
        <p:nvSpPr>
          <p:cNvPr id="25" name="Text 23"/>
          <p:cNvSpPr/>
          <p:nvPr/>
        </p:nvSpPr>
        <p:spPr>
          <a:xfrm>
            <a:off x="5943600" y="2386584"/>
            <a:ext cx="2880360" cy="521208"/>
          </a:xfrm>
          <a:prstGeom prst="rect">
            <a:avLst/>
          </a:prstGeom>
          <a:noFill/>
          <a:ln/>
        </p:spPr>
        <p:txBody>
          <a:bodyPr wrap="square" lIns="0" tIns="0" rIns="0" bIns="0" rtlCol="0" anchor="ctr"/>
          <a:lstStyle/>
          <a:p>
            <a:pPr marL="0" indent="0">
              <a:buNone/>
            </a:pPr>
            <a:r>
              <a:rPr lang="en-US" sz="850" dirty="0">
                <a:solidFill>
                  <a:srgbClr val="CBD5E1"/>
                </a:solidFill>
              </a:rPr>
              <a:t>[4] MDPI Diagnostics (2025). CNN-based AD detection. doi:10.3390/diagnostics15010027</a:t>
            </a:r>
            <a:endParaRPr lang="en-US" sz="850" dirty="0"/>
          </a:p>
        </p:txBody>
      </p:sp>
      <p:sp>
        <p:nvSpPr>
          <p:cNvPr id="26" name="Shape 24"/>
          <p:cNvSpPr/>
          <p:nvPr/>
        </p:nvSpPr>
        <p:spPr>
          <a:xfrm>
            <a:off x="5943600" y="2926080"/>
            <a:ext cx="2834640" cy="18288"/>
          </a:xfrm>
          <a:prstGeom prst="rect">
            <a:avLst/>
          </a:prstGeom>
          <a:solidFill>
            <a:srgbClr val="1E3347"/>
          </a:solidFill>
          <a:ln/>
        </p:spPr>
        <p:txBody>
          <a:bodyPr/>
          <a:lstStyle/>
          <a:p>
            <a:endParaRPr lang="en-US"/>
          </a:p>
        </p:txBody>
      </p:sp>
      <p:sp>
        <p:nvSpPr>
          <p:cNvPr id="27" name="Text 25"/>
          <p:cNvSpPr/>
          <p:nvPr/>
        </p:nvSpPr>
        <p:spPr>
          <a:xfrm>
            <a:off x="5943600" y="2962656"/>
            <a:ext cx="2880360" cy="521208"/>
          </a:xfrm>
          <a:prstGeom prst="rect">
            <a:avLst/>
          </a:prstGeom>
          <a:noFill/>
          <a:ln/>
        </p:spPr>
        <p:txBody>
          <a:bodyPr wrap="square" lIns="0" tIns="0" rIns="0" bIns="0" rtlCol="0" anchor="ctr"/>
          <a:lstStyle/>
          <a:p>
            <a:pPr marL="0" indent="0">
              <a:buNone/>
            </a:pPr>
            <a:r>
              <a:rPr lang="en-US" sz="850" dirty="0">
                <a:solidFill>
                  <a:srgbClr val="CBD5E1"/>
                </a:solidFill>
              </a:rPr>
              <a:t>[5] Mehrabi et al. (2024). Data leakage in translational EEG. ResearchGate #380636750</a:t>
            </a:r>
            <a:endParaRPr lang="en-US" sz="850" dirty="0"/>
          </a:p>
        </p:txBody>
      </p:sp>
      <p:sp>
        <p:nvSpPr>
          <p:cNvPr id="28" name="Shape 26"/>
          <p:cNvSpPr/>
          <p:nvPr/>
        </p:nvSpPr>
        <p:spPr>
          <a:xfrm>
            <a:off x="5943600" y="3502152"/>
            <a:ext cx="2834640" cy="18288"/>
          </a:xfrm>
          <a:prstGeom prst="rect">
            <a:avLst/>
          </a:prstGeom>
          <a:solidFill>
            <a:srgbClr val="1E3347"/>
          </a:solidFill>
          <a:ln/>
        </p:spPr>
        <p:txBody>
          <a:bodyPr/>
          <a:lstStyle/>
          <a:p>
            <a:endParaRPr lang="en-US"/>
          </a:p>
        </p:txBody>
      </p:sp>
      <p:sp>
        <p:nvSpPr>
          <p:cNvPr id="29" name="Text 27"/>
          <p:cNvSpPr/>
          <p:nvPr/>
        </p:nvSpPr>
        <p:spPr>
          <a:xfrm>
            <a:off x="5943600" y="3538728"/>
            <a:ext cx="2880360" cy="521208"/>
          </a:xfrm>
          <a:prstGeom prst="rect">
            <a:avLst/>
          </a:prstGeom>
          <a:noFill/>
          <a:ln/>
        </p:spPr>
        <p:txBody>
          <a:bodyPr wrap="square" lIns="0" tIns="0" rIns="0" bIns="0" rtlCol="0" anchor="ctr"/>
          <a:lstStyle/>
          <a:p>
            <a:pPr marL="0" indent="0">
              <a:buNone/>
            </a:pPr>
            <a:r>
              <a:rPr lang="en-US" sz="850" dirty="0">
                <a:solidFill>
                  <a:srgbClr val="CBD5E1"/>
                </a:solidFill>
              </a:rPr>
              <a:t>[6] PMC 8185302 — Resting-state EEG biomarkers of Alzheimer's disease (2021)</a:t>
            </a:r>
            <a:endParaRPr lang="en-US" sz="850" dirty="0"/>
          </a:p>
        </p:txBody>
      </p:sp>
      <p:sp>
        <p:nvSpPr>
          <p:cNvPr id="30" name="Shape 28"/>
          <p:cNvSpPr/>
          <p:nvPr/>
        </p:nvSpPr>
        <p:spPr>
          <a:xfrm>
            <a:off x="5943600" y="4078224"/>
            <a:ext cx="2834640" cy="18288"/>
          </a:xfrm>
          <a:prstGeom prst="rect">
            <a:avLst/>
          </a:prstGeom>
          <a:solidFill>
            <a:srgbClr val="1E3347"/>
          </a:solidFill>
          <a:ln/>
        </p:spPr>
        <p:txBody>
          <a:bodyPr/>
          <a:lstStyle/>
          <a:p>
            <a:endParaRPr lang="en-US"/>
          </a:p>
        </p:txBody>
      </p:sp>
      <p:sp>
        <p:nvSpPr>
          <p:cNvPr id="31" name="Text 29"/>
          <p:cNvSpPr/>
          <p:nvPr/>
        </p:nvSpPr>
        <p:spPr>
          <a:xfrm>
            <a:off x="5943600" y="4114800"/>
            <a:ext cx="2880360" cy="521208"/>
          </a:xfrm>
          <a:prstGeom prst="rect">
            <a:avLst/>
          </a:prstGeom>
          <a:noFill/>
          <a:ln/>
        </p:spPr>
        <p:txBody>
          <a:bodyPr wrap="square" lIns="0" tIns="0" rIns="0" bIns="0" rtlCol="0" anchor="ctr"/>
          <a:lstStyle/>
          <a:p>
            <a:pPr marL="0" indent="0">
              <a:buNone/>
            </a:pPr>
            <a:r>
              <a:rPr lang="en-US" sz="850" dirty="0">
                <a:solidFill>
                  <a:srgbClr val="CBD5E1"/>
                </a:solidFill>
              </a:rPr>
              <a:t>[7] PharmaHacks 2026 Challenge PDF — Challenge 3 specification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614</TotalTime>
  <Words>5146</Words>
  <Application>Microsoft Macintosh PowerPoint</Application>
  <PresentationFormat>On-screen Show (16:9)</PresentationFormat>
  <Paragraphs>244</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Detecting Alzheimer's Disease from EEG — PharmaHacks 2026</dc:title>
  <dc:subject>PptxGenJS Presentation</dc:subject>
  <dc:creator>PharmaHacks 2026 Team</dc:creator>
  <cp:lastModifiedBy>Mankush Gandhi</cp:lastModifiedBy>
  <cp:revision>2</cp:revision>
  <dcterms:created xsi:type="dcterms:W3CDTF">2026-03-22T07:07:03Z</dcterms:created>
  <dcterms:modified xsi:type="dcterms:W3CDTF">2026-03-22T17:26:07Z</dcterms:modified>
</cp:coreProperties>
</file>